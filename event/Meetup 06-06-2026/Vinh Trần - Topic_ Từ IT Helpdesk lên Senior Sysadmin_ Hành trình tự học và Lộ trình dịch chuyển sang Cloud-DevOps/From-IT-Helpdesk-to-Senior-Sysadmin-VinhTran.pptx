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5" r:id="rId1"/>
  </p:sldMasterIdLst>
  <p:notesMasterIdLst>
    <p:notesMasterId r:id="rId12"/>
  </p:notes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</p:sldIdLst>
  <p:sldSz cx="12192000" cy="6858000"/>
  <p:notesSz cx="6858000" cy="9144000"/>
  <p:defaultTextStyle>
    <a:defPPr>
      <a:defRPr lang="en-V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CA019"/>
    <a:srgbClr val="08041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10" autoAdjust="0"/>
    <p:restoredTop sz="94678"/>
  </p:normalViewPr>
  <p:slideViewPr>
    <p:cSldViewPr snapToGrid="0">
      <p:cViewPr varScale="1">
        <p:scale>
          <a:sx n="107" d="100"/>
          <a:sy n="107" d="100"/>
        </p:scale>
        <p:origin x="636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vi-V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6BD63C4-0799-4A2C-AD48-BC1ED3A02247}" type="datetimeFigureOut">
              <a:rPr lang="vi-VN" smtClean="0"/>
              <a:t>05/06/2026</a:t>
            </a:fld>
            <a:endParaRPr lang="vi-V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vi-V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vi-V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vi-V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AC2BE50-8498-4475-931F-7BE761A788CB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42683307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solidFill>
          <a:srgbClr val="0804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oogle Shape;15;p66">
            <a:extLst>
              <a:ext uri="{FF2B5EF4-FFF2-40B4-BE49-F238E27FC236}">
                <a16:creationId xmlns:a16="http://schemas.microsoft.com/office/drawing/2014/main" id="{64DCE6E7-812F-42A0-6F71-EEFA7D1FEEA0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78782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Google Shape;19;p66">
            <a:extLst>
              <a:ext uri="{FF2B5EF4-FFF2-40B4-BE49-F238E27FC236}">
                <a16:creationId xmlns:a16="http://schemas.microsoft.com/office/drawing/2014/main" id="{896180DA-1E13-B450-0AFF-6B03106FB5AA}"/>
              </a:ext>
            </a:extLst>
          </p:cNvPr>
          <p:cNvSpPr txBox="1"/>
          <p:nvPr userDrawn="1"/>
        </p:nvSpPr>
        <p:spPr>
          <a:xfrm>
            <a:off x="2164556" y="6315964"/>
            <a:ext cx="2834926" cy="1435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120"/>
              <a:buFont typeface="Arial"/>
              <a:buNone/>
            </a:pPr>
            <a:r>
              <a:rPr lang="en-US" sz="933" b="0" i="0" u="none" strike="noStrike" cap="none" dirty="0">
                <a:solidFill>
                  <a:srgbClr val="7F7F7F"/>
                </a:solidFill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  <a:sym typeface="Arial"/>
              </a:rPr>
              <a:t>Amazon Web Services, Inc. or its Affiliates. </a:t>
            </a:r>
            <a:endParaRPr sz="1500" dirty="0">
              <a:latin typeface="Amazon Ember" panose="020B0603020204020204" pitchFamily="34" charset="0"/>
              <a:ea typeface="Amazon Ember" panose="020B0603020204020204" pitchFamily="34" charset="0"/>
              <a:cs typeface="Amazon Ember" panose="020B0603020204020204" pitchFamily="34" charset="0"/>
            </a:endParaRPr>
          </a:p>
        </p:txBody>
      </p:sp>
      <p:sp>
        <p:nvSpPr>
          <p:cNvPr id="9" name="Text Placeholder 16">
            <a:extLst>
              <a:ext uri="{FF2B5EF4-FFF2-40B4-BE49-F238E27FC236}">
                <a16:creationId xmlns:a16="http://schemas.microsoft.com/office/drawing/2014/main" id="{AB2EC284-19D1-B707-7327-DDDC101D55A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4170358"/>
            <a:ext cx="3414713" cy="369332"/>
          </a:xfrm>
        </p:spPr>
        <p:txBody>
          <a:bodyPr/>
          <a:lstStyle>
            <a:lvl1pPr>
              <a:buNone/>
              <a:defRPr sz="2000">
                <a:solidFill>
                  <a:srgbClr val="FCA019"/>
                </a:solidFill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defRPr>
            </a:lvl1pPr>
          </a:lstStyle>
          <a:p>
            <a:pPr lvl="0"/>
            <a:r>
              <a:rPr lang="en-VN"/>
              <a:t>Speaker name</a:t>
            </a:r>
          </a:p>
        </p:txBody>
      </p:sp>
      <p:sp>
        <p:nvSpPr>
          <p:cNvPr id="10" name="Text Placeholder 16">
            <a:extLst>
              <a:ext uri="{FF2B5EF4-FFF2-40B4-BE49-F238E27FC236}">
                <a16:creationId xmlns:a16="http://schemas.microsoft.com/office/drawing/2014/main" id="{B34CEF89-D289-4DCE-277E-BC0B4266047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57200" y="4535573"/>
            <a:ext cx="3414713" cy="313932"/>
          </a:xfrm>
        </p:spPr>
        <p:txBody>
          <a:bodyPr/>
          <a:lstStyle>
            <a:lvl1pPr>
              <a:buNone/>
              <a:defRPr sz="1600">
                <a:solidFill>
                  <a:schemeClr val="bg1"/>
                </a:solidFill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defRPr>
            </a:lvl1pPr>
          </a:lstStyle>
          <a:p>
            <a:pPr lvl="0"/>
            <a:r>
              <a:rPr lang="en-VN"/>
              <a:t>Job title</a:t>
            </a:r>
          </a:p>
        </p:txBody>
      </p:sp>
      <p:pic>
        <p:nvPicPr>
          <p:cNvPr id="11" name="Picture 10" descr="A black and white sign with white text&#10;&#10;AI-generated content may be incorrect.">
            <a:extLst>
              <a:ext uri="{FF2B5EF4-FFF2-40B4-BE49-F238E27FC236}">
                <a16:creationId xmlns:a16="http://schemas.microsoft.com/office/drawing/2014/main" id="{01CA924C-5765-E9EA-F404-A026068E5630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6269029"/>
            <a:ext cx="1555750" cy="381000"/>
          </a:xfrm>
          <a:prstGeom prst="rect">
            <a:avLst/>
          </a:prstGeom>
        </p:spPr>
      </p:pic>
      <p:sp>
        <p:nvSpPr>
          <p:cNvPr id="12" name="Text Placeholder 20">
            <a:extLst>
              <a:ext uri="{FF2B5EF4-FFF2-40B4-BE49-F238E27FC236}">
                <a16:creationId xmlns:a16="http://schemas.microsoft.com/office/drawing/2014/main" id="{1202BE2D-3C38-4219-E07B-F011AC806B48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7200" y="2042742"/>
            <a:ext cx="8401792" cy="840230"/>
          </a:xfrm>
        </p:spPr>
        <p:txBody>
          <a:bodyPr>
            <a:normAutofit/>
          </a:bodyPr>
          <a:lstStyle>
            <a:lvl1pPr>
              <a:buNone/>
              <a:defRPr sz="4800" b="1">
                <a:solidFill>
                  <a:srgbClr val="FCA019"/>
                </a:solidFill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defRPr>
            </a:lvl1pPr>
          </a:lstStyle>
          <a:p>
            <a:pPr lvl="0"/>
            <a:r>
              <a:rPr lang="en-US"/>
              <a:t>Walk in slide</a:t>
            </a:r>
            <a:endParaRPr lang="en-VN"/>
          </a:p>
        </p:txBody>
      </p:sp>
      <p:sp>
        <p:nvSpPr>
          <p:cNvPr id="13" name="Text Placeholder 20">
            <a:extLst>
              <a:ext uri="{FF2B5EF4-FFF2-40B4-BE49-F238E27FC236}">
                <a16:creationId xmlns:a16="http://schemas.microsoft.com/office/drawing/2014/main" id="{B06E23E3-17D4-FAAA-7737-9C9DE782126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57200" y="2905489"/>
            <a:ext cx="2143496" cy="424732"/>
          </a:xfrm>
        </p:spPr>
        <p:txBody>
          <a:bodyPr/>
          <a:lstStyle>
            <a:lvl1pPr>
              <a:buNone/>
              <a:defRPr sz="2400" b="0">
                <a:solidFill>
                  <a:schemeClr val="bg1"/>
                </a:solidFill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defRPr>
            </a:lvl1pPr>
          </a:lstStyle>
          <a:p>
            <a:pPr lvl="0"/>
            <a:r>
              <a:rPr lang="en-US"/>
              <a:t>Week number</a:t>
            </a:r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18574919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s">
    <p:bg>
      <p:bgPr>
        <a:solidFill>
          <a:srgbClr val="0804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31F1304-0D4C-4A06-CBE7-119A785AE423}"/>
              </a:ext>
            </a:extLst>
          </p:cNvPr>
          <p:cNvSpPr/>
          <p:nvPr userDrawn="1"/>
        </p:nvSpPr>
        <p:spPr>
          <a:xfrm>
            <a:off x="0" y="0"/>
            <a:ext cx="12100956" cy="6858000"/>
          </a:xfrm>
          <a:prstGeom prst="rect">
            <a:avLst/>
          </a:prstGeom>
          <a:solidFill>
            <a:srgbClr val="08041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 dirty="0" err="1"/>
          </a:p>
        </p:txBody>
      </p:sp>
      <p:sp>
        <p:nvSpPr>
          <p:cNvPr id="3" name="Google Shape;19;p66">
            <a:extLst>
              <a:ext uri="{FF2B5EF4-FFF2-40B4-BE49-F238E27FC236}">
                <a16:creationId xmlns:a16="http://schemas.microsoft.com/office/drawing/2014/main" id="{33A3DACA-925C-11D4-B418-DE25DAB9EE9F}"/>
              </a:ext>
            </a:extLst>
          </p:cNvPr>
          <p:cNvSpPr txBox="1"/>
          <p:nvPr userDrawn="1"/>
        </p:nvSpPr>
        <p:spPr>
          <a:xfrm>
            <a:off x="2164556" y="6315964"/>
            <a:ext cx="2834926" cy="1435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120"/>
              <a:buFont typeface="Arial"/>
              <a:buNone/>
            </a:pPr>
            <a:r>
              <a:rPr lang="en-US" sz="933" b="0" i="0" u="none" strike="noStrike" cap="none" dirty="0">
                <a:solidFill>
                  <a:srgbClr val="7F7F7F"/>
                </a:solidFill>
                <a:latin typeface="+mj-lt"/>
                <a:ea typeface="Arial"/>
                <a:cs typeface="Arial"/>
                <a:sym typeface="Arial"/>
              </a:rPr>
              <a:t>Amazon Web Services, Inc. or its Affiliates. </a:t>
            </a:r>
            <a:endParaRPr sz="1500" dirty="0">
              <a:latin typeface="+mj-lt"/>
            </a:endParaRPr>
          </a:p>
        </p:txBody>
      </p:sp>
      <p:pic>
        <p:nvPicPr>
          <p:cNvPr id="4" name="Picture 3" descr="A black and white sign with white text&#10;&#10;AI-generated content may be incorrect.">
            <a:extLst>
              <a:ext uri="{FF2B5EF4-FFF2-40B4-BE49-F238E27FC236}">
                <a16:creationId xmlns:a16="http://schemas.microsoft.com/office/drawing/2014/main" id="{1A08F034-728C-83A4-E19E-83590BD4B5D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6269029"/>
            <a:ext cx="1555750" cy="381000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5038F82F-7674-A892-F955-817697585A8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60800" y="172800"/>
            <a:ext cx="11258550" cy="827827"/>
          </a:xfrm>
        </p:spPr>
        <p:txBody>
          <a:bodyPr>
            <a:noAutofit/>
          </a:bodyPr>
          <a:lstStyle>
            <a:lvl1pPr>
              <a:defRPr sz="2800" b="1" i="0">
                <a:solidFill>
                  <a:srgbClr val="FCA019"/>
                </a:solidFill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defRPr>
            </a:lvl1pPr>
          </a:lstStyle>
          <a:p>
            <a:r>
              <a:rPr lang="en-US"/>
              <a:t>Slide title / Section name</a:t>
            </a:r>
            <a:endParaRPr lang="en-US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79787B56-D088-BF53-D4DB-56B8A0AEDAA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60800" y="1252800"/>
            <a:ext cx="11258550" cy="4927600"/>
          </a:xfrm>
        </p:spPr>
        <p:txBody>
          <a:bodyPr>
            <a:noAutofit/>
          </a:bodyPr>
          <a:lstStyle>
            <a:lvl1pPr>
              <a:defRPr sz="1800">
                <a:solidFill>
                  <a:schemeClr val="bg1"/>
                </a:solidFill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defRPr>
            </a:lvl1pPr>
            <a:lvl2pPr>
              <a:defRPr sz="1800">
                <a:solidFill>
                  <a:schemeClr val="bg1"/>
                </a:solidFill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defRPr>
            </a:lvl2pPr>
            <a:lvl3pPr>
              <a:defRPr sz="1800">
                <a:solidFill>
                  <a:schemeClr val="bg1"/>
                </a:solidFill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defRPr>
            </a:lvl3pPr>
            <a:lvl4pPr>
              <a:defRPr sz="1800">
                <a:solidFill>
                  <a:schemeClr val="bg1"/>
                </a:solidFill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defRPr>
            </a:lvl4pPr>
            <a:lvl5pPr>
              <a:defRPr sz="1800">
                <a:solidFill>
                  <a:schemeClr val="bg1"/>
                </a:solidFill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11585549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slide">
    <p:bg>
      <p:bgPr>
        <a:solidFill>
          <a:srgbClr val="0804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oogle Shape;58;p76">
            <a:extLst>
              <a:ext uri="{FF2B5EF4-FFF2-40B4-BE49-F238E27FC236}">
                <a16:creationId xmlns:a16="http://schemas.microsoft.com/office/drawing/2014/main" id="{E001CE48-199D-56A0-69D1-556D578CE700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1999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Google Shape;19;p66">
            <a:extLst>
              <a:ext uri="{FF2B5EF4-FFF2-40B4-BE49-F238E27FC236}">
                <a16:creationId xmlns:a16="http://schemas.microsoft.com/office/drawing/2014/main" id="{3F333B57-27F9-22F1-23EA-39219270A4DF}"/>
              </a:ext>
            </a:extLst>
          </p:cNvPr>
          <p:cNvSpPr txBox="1"/>
          <p:nvPr userDrawn="1"/>
        </p:nvSpPr>
        <p:spPr>
          <a:xfrm>
            <a:off x="2164556" y="6315964"/>
            <a:ext cx="2834926" cy="1435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120"/>
              <a:buFont typeface="Arial"/>
              <a:buNone/>
            </a:pPr>
            <a:r>
              <a:rPr lang="en-US" sz="933" b="0" i="0" u="none" strike="noStrike" cap="none" dirty="0">
                <a:solidFill>
                  <a:srgbClr val="7F7F7F"/>
                </a:solidFill>
                <a:latin typeface="+mj-lt"/>
                <a:ea typeface="Arial"/>
                <a:cs typeface="Arial"/>
                <a:sym typeface="Arial"/>
              </a:rPr>
              <a:t>Amazon Web Services, Inc. or its Affiliates. </a:t>
            </a:r>
            <a:endParaRPr sz="1500" dirty="0">
              <a:latin typeface="+mj-lt"/>
            </a:endParaRPr>
          </a:p>
        </p:txBody>
      </p:sp>
      <p:pic>
        <p:nvPicPr>
          <p:cNvPr id="10" name="Picture 9" descr="A black and white sign with white text&#10;&#10;AI-generated content may be incorrect.">
            <a:extLst>
              <a:ext uri="{FF2B5EF4-FFF2-40B4-BE49-F238E27FC236}">
                <a16:creationId xmlns:a16="http://schemas.microsoft.com/office/drawing/2014/main" id="{129093AB-1582-1E20-7653-0463076482AE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6269029"/>
            <a:ext cx="1555750" cy="381000"/>
          </a:xfrm>
          <a:prstGeom prst="rect">
            <a:avLst/>
          </a:prstGeom>
        </p:spPr>
      </p:pic>
      <p:sp>
        <p:nvSpPr>
          <p:cNvPr id="11" name="Google Shape;59;p76">
            <a:extLst>
              <a:ext uri="{FF2B5EF4-FFF2-40B4-BE49-F238E27FC236}">
                <a16:creationId xmlns:a16="http://schemas.microsoft.com/office/drawing/2014/main" id="{D491E884-C6E6-A451-C0C1-40CE734A4627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460800" y="2836800"/>
            <a:ext cx="7819901" cy="83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600"/>
              <a:buFont typeface="Arial"/>
              <a:buNone/>
              <a:defRPr sz="3800" b="1" cap="none">
                <a:solidFill>
                  <a:srgbClr val="FCA019"/>
                </a:solidFill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Section name</a:t>
            </a:r>
            <a:endParaRPr/>
          </a:p>
        </p:txBody>
      </p:sp>
      <p:sp>
        <p:nvSpPr>
          <p:cNvPr id="12" name="Google Shape;60;p76">
            <a:extLst>
              <a:ext uri="{FF2B5EF4-FFF2-40B4-BE49-F238E27FC236}">
                <a16:creationId xmlns:a16="http://schemas.microsoft.com/office/drawing/2014/main" id="{A15B343D-3356-673C-478B-D285C7C60A9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457200" y="3583375"/>
            <a:ext cx="6849533" cy="6525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380985" lvl="0" indent="-190492" algn="l">
              <a:spcBef>
                <a:spcPts val="483"/>
              </a:spcBef>
              <a:spcAft>
                <a:spcPts val="0"/>
              </a:spcAft>
              <a:buClr>
                <a:schemeClr val="lt1"/>
              </a:buClr>
              <a:buSzPts val="2900"/>
              <a:buFont typeface="Arial"/>
              <a:buNone/>
              <a:defRPr sz="2417">
                <a:solidFill>
                  <a:schemeClr val="bg1"/>
                </a:solidFill>
              </a:defRPr>
            </a:lvl1pPr>
            <a:lvl2pPr marL="761970" lvl="1" indent="-190492" algn="l">
              <a:spcBef>
                <a:spcPts val="483"/>
              </a:spcBef>
              <a:spcAft>
                <a:spcPts val="0"/>
              </a:spcAft>
              <a:buClr>
                <a:schemeClr val="lt1"/>
              </a:buClr>
              <a:buSzPts val="2900"/>
              <a:buNone/>
              <a:defRPr/>
            </a:lvl2pPr>
            <a:lvl3pPr marL="1142954" lvl="2" indent="-285739" algn="l">
              <a:spcBef>
                <a:spcPts val="3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marL="1523939" lvl="3" indent="-285739" algn="l">
              <a:spcBef>
                <a:spcPts val="300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/>
            </a:lvl4pPr>
            <a:lvl5pPr marL="1904924" lvl="4" indent="-285739" algn="l">
              <a:spcBef>
                <a:spcPts val="300"/>
              </a:spcBef>
              <a:spcAft>
                <a:spcPts val="0"/>
              </a:spcAft>
              <a:buClr>
                <a:schemeClr val="lt1"/>
              </a:buClr>
              <a:buSzPts val="1800"/>
              <a:buChar char="»"/>
              <a:defRPr/>
            </a:lvl5pPr>
            <a:lvl6pPr marL="2285909" lvl="5" indent="-285739" algn="l">
              <a:spcBef>
                <a:spcPts val="3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2666893" lvl="6" indent="-285739" algn="l">
              <a:spcBef>
                <a:spcPts val="3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047878" lvl="7" indent="-285739" algn="l">
              <a:spcBef>
                <a:spcPts val="3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3428863" lvl="8" indent="-285739" algn="l">
              <a:spcBef>
                <a:spcPts val="3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4890791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95C3174-11D6-305C-16B3-9FE6251FE0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V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8AAF2E4-A524-E5CC-E6BF-2494A73A84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V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724A8B-4B1C-CF7F-DACB-BCF8E9A612E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A9409C2-61C9-8D49-96BE-171968F58CAA}" type="datetimeFigureOut">
              <a:t>6/5/2026</a:t>
            </a:fld>
            <a:endParaRPr lang="en-V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550F0A-28EC-1CFD-3A4A-EE4CC5954FE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V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3D96A7-3B40-4EA5-804B-6583774AE90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16A5951-7675-3946-A94E-47A019A45A31}" type="slidenum">
              <a:t>‹#›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35675697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6" r:id="rId1"/>
    <p:sldLayoutId id="2147483668" r:id="rId2"/>
    <p:sldLayoutId id="2147483667" r:id="rId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V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jpe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image" Target="../media/image16.svg"/><Relationship Id="rId7" Type="http://schemas.openxmlformats.org/officeDocument/2006/relationships/image" Target="../media/image20.sv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png"/><Relationship Id="rId5" Type="http://schemas.openxmlformats.org/officeDocument/2006/relationships/image" Target="../media/image18.svg"/><Relationship Id="rId10" Type="http://schemas.openxmlformats.org/officeDocument/2006/relationships/image" Target="../media/image23.png"/><Relationship Id="rId4" Type="http://schemas.openxmlformats.org/officeDocument/2006/relationships/image" Target="../media/image17.png"/><Relationship Id="rId9" Type="http://schemas.openxmlformats.org/officeDocument/2006/relationships/image" Target="../media/image22.sv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7.jpeg"/><Relationship Id="rId4" Type="http://schemas.openxmlformats.org/officeDocument/2006/relationships/image" Target="../media/image26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1EA62CE0-1D3C-61B1-94C0-D9E4F2701BC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57197" y="3878264"/>
            <a:ext cx="3414713" cy="369332"/>
          </a:xfrm>
        </p:spPr>
        <p:txBody>
          <a:bodyPr/>
          <a:lstStyle/>
          <a:p>
            <a:r>
              <a:rPr lang="en-US" dirty="0"/>
              <a:t>Tran Trung Vinh</a:t>
            </a:r>
            <a:endParaRPr lang="vi-V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7EAC980-5F37-EA89-A3CC-F9673454E18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57198" y="4238690"/>
            <a:ext cx="3912921" cy="313932"/>
          </a:xfrm>
        </p:spPr>
        <p:txBody>
          <a:bodyPr>
            <a:normAutofit/>
          </a:bodyPr>
          <a:lstStyle/>
          <a:p>
            <a:r>
              <a:rPr lang="en-US" dirty="0"/>
              <a:t>System Administrator at Central Retail Group</a:t>
            </a:r>
            <a:endParaRPr lang="vi-VN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696C870-E730-C4F2-5629-85A7D7053C8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57197" y="1720401"/>
            <a:ext cx="9233066" cy="852362"/>
          </a:xfrm>
        </p:spPr>
        <p:txBody>
          <a:bodyPr>
            <a:no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600" dirty="0">
                <a:solidFill>
                  <a:srgbClr val="FFC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From IT Helpdesk to Senior Sysadmin</a:t>
            </a:r>
            <a:endParaRPr lang="en-US" sz="3600" dirty="0">
              <a:solidFill>
                <a:srgbClr val="FFC000"/>
              </a:solidFill>
            </a:endParaRPr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037E4133-0C9E-8B5E-A220-0AB92C76BE8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0" y="2905489"/>
            <a:ext cx="7262037" cy="667749"/>
          </a:xfrm>
        </p:spPr>
        <p:txBody>
          <a:bodyPr>
            <a:normAutofit/>
          </a:bodyPr>
          <a:lstStyle/>
          <a:p>
            <a:pPr marL="457200" lvl="1" indent="0">
              <a:buNone/>
            </a:pPr>
            <a:r>
              <a:rPr lang="en-US" sz="18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A practical career journey from IT Helpdesk to Senior Sysadmin  and the first steps toward Cloud and DevOps.</a:t>
            </a:r>
            <a:endParaRPr lang="en-US" sz="1800" dirty="0"/>
          </a:p>
          <a:p>
            <a:pPr marL="457200" lvl="1" indent="0">
              <a:buNone/>
            </a:pP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27939415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pct5">
          <a:fgClr>
            <a:srgbClr val="08041B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0EE1C21B-32CD-A3E3-9EDA-1363EBF821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This is not a story about extraordinary success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FC2F2D2-0CDB-E665-5BD6-25DF30E6DC6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60800" y="1252800"/>
            <a:ext cx="4926363" cy="4927600"/>
          </a:xfrm>
        </p:spPr>
        <p:txBody>
          <a:bodyPr/>
          <a:lstStyle/>
          <a:p>
            <a:endParaRPr lang="en-US" dirty="0"/>
          </a:p>
        </p:txBody>
      </p:sp>
      <p:pic>
        <p:nvPicPr>
          <p:cNvPr id="2" name="Image 0" descr="preencoded.png">
            <a:extLst>
              <a:ext uri="{FF2B5EF4-FFF2-40B4-BE49-F238E27FC236}">
                <a16:creationId xmlns:a16="http://schemas.microsoft.com/office/drawing/2014/main" id="{2F72777B-4EE4-AD1E-E1AA-6CDFDD5087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6063" y="1359733"/>
            <a:ext cx="4555836" cy="4555836"/>
          </a:xfrm>
          <a:prstGeom prst="rect">
            <a:avLst/>
          </a:prstGeom>
        </p:spPr>
      </p:pic>
      <p:sp>
        <p:nvSpPr>
          <p:cNvPr id="8" name="Text 2">
            <a:extLst>
              <a:ext uri="{FF2B5EF4-FFF2-40B4-BE49-F238E27FC236}">
                <a16:creationId xmlns:a16="http://schemas.microsoft.com/office/drawing/2014/main" id="{3C45DFA3-D5BF-4E9B-1ACE-526F5862ED10}"/>
              </a:ext>
            </a:extLst>
          </p:cNvPr>
          <p:cNvSpPr/>
          <p:nvPr/>
        </p:nvSpPr>
        <p:spPr>
          <a:xfrm>
            <a:off x="5819253" y="1382233"/>
            <a:ext cx="5281138" cy="15807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6000"/>
              </a:lnSpc>
              <a:spcAft>
                <a:spcPts val="500"/>
              </a:spcAft>
              <a:buNone/>
            </a:pPr>
            <a:r>
              <a:rPr lang="en-US" sz="14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I started my career in IT Helpdesk without a degree from a top university or any special advantages. Like many young professionals, I was once unsure about my career path.</a:t>
            </a:r>
            <a:br>
              <a:rPr lang="en-US" sz="14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</a:br>
            <a:endParaRPr lang="en-US" sz="1400" dirty="0"/>
          </a:p>
          <a:p>
            <a:pPr marL="0" indent="0" algn="l">
              <a:lnSpc>
                <a:spcPct val="116000"/>
              </a:lnSpc>
              <a:buNone/>
            </a:pPr>
            <a:r>
              <a:rPr lang="en-US" sz="14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This talk shares real experiences, challenges, self-learning efforts, and practical lessons from working in IT infrastructure.</a:t>
            </a:r>
            <a:endParaRPr lang="en-US" sz="1400" dirty="0"/>
          </a:p>
        </p:txBody>
      </p:sp>
      <p:sp>
        <p:nvSpPr>
          <p:cNvPr id="9" name="Shape 3">
            <a:extLst>
              <a:ext uri="{FF2B5EF4-FFF2-40B4-BE49-F238E27FC236}">
                <a16:creationId xmlns:a16="http://schemas.microsoft.com/office/drawing/2014/main" id="{0F95E457-E5F6-8EE2-1BA5-5AD2ED6D0029}"/>
              </a:ext>
            </a:extLst>
          </p:cNvPr>
          <p:cNvSpPr/>
          <p:nvPr/>
        </p:nvSpPr>
        <p:spPr>
          <a:xfrm>
            <a:off x="5819254" y="3553907"/>
            <a:ext cx="5224430" cy="540798"/>
          </a:xfrm>
          <a:prstGeom prst="roundRect">
            <a:avLst>
              <a:gd name="adj" fmla="val 8540"/>
            </a:avLst>
          </a:prstGeom>
          <a:solidFill>
            <a:srgbClr val="022349"/>
          </a:solidFill>
          <a:ln/>
        </p:spPr>
      </p:sp>
      <p:pic>
        <p:nvPicPr>
          <p:cNvPr id="10" name="Image 1" descr="preencoded.png">
            <a:extLst>
              <a:ext uri="{FF2B5EF4-FFF2-40B4-BE49-F238E27FC236}">
                <a16:creationId xmlns:a16="http://schemas.microsoft.com/office/drawing/2014/main" id="{F04B6121-DEC8-C1C5-DAE5-70161108C74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43756" y="3663537"/>
            <a:ext cx="289282" cy="231524"/>
          </a:xfrm>
          <a:prstGeom prst="rect">
            <a:avLst/>
          </a:prstGeom>
        </p:spPr>
      </p:pic>
      <p:sp>
        <p:nvSpPr>
          <p:cNvPr id="11" name="Text 4">
            <a:extLst>
              <a:ext uri="{FF2B5EF4-FFF2-40B4-BE49-F238E27FC236}">
                <a16:creationId xmlns:a16="http://schemas.microsoft.com/office/drawing/2014/main" id="{E719F04E-1506-5B53-4385-BB3018A9B0D3}"/>
              </a:ext>
            </a:extLst>
          </p:cNvPr>
          <p:cNvSpPr/>
          <p:nvPr/>
        </p:nvSpPr>
        <p:spPr>
          <a:xfrm>
            <a:off x="6157539" y="3656300"/>
            <a:ext cx="4886145" cy="4384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For: Students, Freshers, Helpdesk &amp; Junior Sysadmins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394767189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9849CD-BCC4-B674-2B45-9A5A21B6D3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>
                <a:latin typeface="Montserrat" pitchFamily="34" charset="0"/>
                <a:ea typeface="Montserrat" pitchFamily="34" charset="-122"/>
                <a:cs typeface="Montserrat" pitchFamily="34" charset="-120"/>
              </a:rPr>
              <a:t>Agenda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9BE6EA4-4A03-CBF0-7D9D-D6715B9759E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0" name="Shape 2">
            <a:extLst>
              <a:ext uri="{FF2B5EF4-FFF2-40B4-BE49-F238E27FC236}">
                <a16:creationId xmlns:a16="http://schemas.microsoft.com/office/drawing/2014/main" id="{DDA0B8B6-BEFC-22B0-FD36-3C73D82BCB67}"/>
              </a:ext>
            </a:extLst>
          </p:cNvPr>
          <p:cNvSpPr/>
          <p:nvPr/>
        </p:nvSpPr>
        <p:spPr>
          <a:xfrm>
            <a:off x="1270946" y="1756335"/>
            <a:ext cx="4776844" cy="903568"/>
          </a:xfrm>
          <a:prstGeom prst="roundRect">
            <a:avLst>
              <a:gd name="adj" fmla="val 2922"/>
            </a:avLst>
          </a:prstGeom>
          <a:solidFill>
            <a:srgbClr val="31136C"/>
          </a:solidFill>
          <a:ln w="4763">
            <a:solidFill>
              <a:srgbClr val="4A2C85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41" name="Text 2">
            <a:extLst>
              <a:ext uri="{FF2B5EF4-FFF2-40B4-BE49-F238E27FC236}">
                <a16:creationId xmlns:a16="http://schemas.microsoft.com/office/drawing/2014/main" id="{5286600C-C573-B518-7ABA-D946E94FA1DD}"/>
              </a:ext>
            </a:extLst>
          </p:cNvPr>
          <p:cNvSpPr/>
          <p:nvPr/>
        </p:nvSpPr>
        <p:spPr>
          <a:xfrm>
            <a:off x="1315209" y="1489412"/>
            <a:ext cx="270197" cy="16884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00" dirty="0">
                <a:solidFill>
                  <a:srgbClr val="DCD7E5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01</a:t>
            </a:r>
            <a:endParaRPr lang="en-US" sz="1400" dirty="0"/>
          </a:p>
        </p:txBody>
      </p:sp>
      <p:pic>
        <p:nvPicPr>
          <p:cNvPr id="42" name="Image 0" descr="preencoded.png">
            <a:extLst>
              <a:ext uri="{FF2B5EF4-FFF2-40B4-BE49-F238E27FC236}">
                <a16:creationId xmlns:a16="http://schemas.microsoft.com/office/drawing/2014/main" id="{FCD0B998-0D65-FB0A-FABC-E37DC61979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5209" y="1775433"/>
            <a:ext cx="4034730" cy="19050"/>
          </a:xfrm>
          <a:prstGeom prst="rect">
            <a:avLst/>
          </a:prstGeom>
        </p:spPr>
      </p:pic>
      <p:sp>
        <p:nvSpPr>
          <p:cNvPr id="43" name="Text 3">
            <a:extLst>
              <a:ext uri="{FF2B5EF4-FFF2-40B4-BE49-F238E27FC236}">
                <a16:creationId xmlns:a16="http://schemas.microsoft.com/office/drawing/2014/main" id="{6F10399B-E4DD-1AE6-E38F-F0E3589DC92F}"/>
              </a:ext>
            </a:extLst>
          </p:cNvPr>
          <p:cNvSpPr/>
          <p:nvPr/>
        </p:nvSpPr>
        <p:spPr>
          <a:xfrm>
            <a:off x="1315209" y="1822388"/>
            <a:ext cx="2580308" cy="211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b="1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From IT Helpdesk to Sysadmin</a:t>
            </a:r>
            <a:endParaRPr lang="en-US" sz="1400" b="1" dirty="0"/>
          </a:p>
        </p:txBody>
      </p:sp>
      <p:sp>
        <p:nvSpPr>
          <p:cNvPr id="44" name="Text 4">
            <a:extLst>
              <a:ext uri="{FF2B5EF4-FFF2-40B4-BE49-F238E27FC236}">
                <a16:creationId xmlns:a16="http://schemas.microsoft.com/office/drawing/2014/main" id="{0849A626-5DBA-A789-7CD9-186B5F0D39B9}"/>
              </a:ext>
            </a:extLst>
          </p:cNvPr>
          <p:cNvSpPr/>
          <p:nvPr/>
        </p:nvSpPr>
        <p:spPr>
          <a:xfrm>
            <a:off x="1315209" y="2061406"/>
            <a:ext cx="3815564" cy="255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2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Starting point, key skills, and career milestones</a:t>
            </a:r>
            <a:endParaRPr lang="en-US" sz="1200" dirty="0"/>
          </a:p>
        </p:txBody>
      </p:sp>
      <p:sp>
        <p:nvSpPr>
          <p:cNvPr id="45" name="Shape 2">
            <a:extLst>
              <a:ext uri="{FF2B5EF4-FFF2-40B4-BE49-F238E27FC236}">
                <a16:creationId xmlns:a16="http://schemas.microsoft.com/office/drawing/2014/main" id="{317DACE6-ECDE-42E7-C7E7-CDA11E1730CB}"/>
              </a:ext>
            </a:extLst>
          </p:cNvPr>
          <p:cNvSpPr/>
          <p:nvPr/>
        </p:nvSpPr>
        <p:spPr>
          <a:xfrm>
            <a:off x="1270945" y="3188424"/>
            <a:ext cx="4776844" cy="903568"/>
          </a:xfrm>
          <a:prstGeom prst="roundRect">
            <a:avLst>
              <a:gd name="adj" fmla="val 2922"/>
            </a:avLst>
          </a:prstGeom>
          <a:solidFill>
            <a:srgbClr val="31136C"/>
          </a:solidFill>
          <a:ln w="4763">
            <a:solidFill>
              <a:srgbClr val="4A2C85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46" name="Text 2">
            <a:extLst>
              <a:ext uri="{FF2B5EF4-FFF2-40B4-BE49-F238E27FC236}">
                <a16:creationId xmlns:a16="http://schemas.microsoft.com/office/drawing/2014/main" id="{B5EB125F-1193-7F4B-F3C8-7034CFE42D3D}"/>
              </a:ext>
            </a:extLst>
          </p:cNvPr>
          <p:cNvSpPr/>
          <p:nvPr/>
        </p:nvSpPr>
        <p:spPr>
          <a:xfrm>
            <a:off x="1315209" y="2921501"/>
            <a:ext cx="270197" cy="16884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00" dirty="0">
                <a:solidFill>
                  <a:srgbClr val="DCD7E5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03</a:t>
            </a:r>
            <a:endParaRPr lang="en-US" sz="1400" dirty="0"/>
          </a:p>
        </p:txBody>
      </p:sp>
      <p:pic>
        <p:nvPicPr>
          <p:cNvPr id="47" name="Image 0" descr="preencoded.png">
            <a:extLst>
              <a:ext uri="{FF2B5EF4-FFF2-40B4-BE49-F238E27FC236}">
                <a16:creationId xmlns:a16="http://schemas.microsoft.com/office/drawing/2014/main" id="{72E66F5C-919F-BF11-293C-766356F4F5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5209" y="3207522"/>
            <a:ext cx="4034730" cy="19050"/>
          </a:xfrm>
          <a:prstGeom prst="rect">
            <a:avLst/>
          </a:prstGeom>
        </p:spPr>
      </p:pic>
      <p:sp>
        <p:nvSpPr>
          <p:cNvPr id="48" name="Text 3">
            <a:extLst>
              <a:ext uri="{FF2B5EF4-FFF2-40B4-BE49-F238E27FC236}">
                <a16:creationId xmlns:a16="http://schemas.microsoft.com/office/drawing/2014/main" id="{271A9FA9-1BDF-CA7C-B6EB-93EC0CDC670D}"/>
              </a:ext>
            </a:extLst>
          </p:cNvPr>
          <p:cNvSpPr/>
          <p:nvPr/>
        </p:nvSpPr>
        <p:spPr>
          <a:xfrm>
            <a:off x="1315209" y="3254477"/>
            <a:ext cx="2580308" cy="211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b="1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My First Cloud Journey &amp; Transition to DevOps</a:t>
            </a:r>
            <a:endParaRPr lang="en-US" sz="1400" b="1" dirty="0"/>
          </a:p>
        </p:txBody>
      </p:sp>
      <p:sp>
        <p:nvSpPr>
          <p:cNvPr id="49" name="Text 4">
            <a:extLst>
              <a:ext uri="{FF2B5EF4-FFF2-40B4-BE49-F238E27FC236}">
                <a16:creationId xmlns:a16="http://schemas.microsoft.com/office/drawing/2014/main" id="{A6616F94-3863-6658-E41E-1AC230DCB3DE}"/>
              </a:ext>
            </a:extLst>
          </p:cNvPr>
          <p:cNvSpPr/>
          <p:nvPr/>
        </p:nvSpPr>
        <p:spPr>
          <a:xfrm>
            <a:off x="1315208" y="3493494"/>
            <a:ext cx="3547416" cy="2907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2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Cloud wasn't just a new technology. It was a new way of thinking.</a:t>
            </a:r>
            <a:endParaRPr lang="en-US" sz="1200" dirty="0"/>
          </a:p>
        </p:txBody>
      </p:sp>
      <p:sp>
        <p:nvSpPr>
          <p:cNvPr id="50" name="Shape 2">
            <a:extLst>
              <a:ext uri="{FF2B5EF4-FFF2-40B4-BE49-F238E27FC236}">
                <a16:creationId xmlns:a16="http://schemas.microsoft.com/office/drawing/2014/main" id="{E22DCCA4-21F2-F0A5-9E1B-9FFBF76D7945}"/>
              </a:ext>
            </a:extLst>
          </p:cNvPr>
          <p:cNvSpPr/>
          <p:nvPr/>
        </p:nvSpPr>
        <p:spPr>
          <a:xfrm>
            <a:off x="1270945" y="4630592"/>
            <a:ext cx="4776844" cy="903568"/>
          </a:xfrm>
          <a:prstGeom prst="roundRect">
            <a:avLst>
              <a:gd name="adj" fmla="val 2922"/>
            </a:avLst>
          </a:prstGeom>
          <a:solidFill>
            <a:srgbClr val="31136C"/>
          </a:solidFill>
          <a:ln w="4763">
            <a:solidFill>
              <a:srgbClr val="4A2C85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51" name="Text 2">
            <a:extLst>
              <a:ext uri="{FF2B5EF4-FFF2-40B4-BE49-F238E27FC236}">
                <a16:creationId xmlns:a16="http://schemas.microsoft.com/office/drawing/2014/main" id="{6B6A7312-A0EF-ACBD-1706-856EE4DD3851}"/>
              </a:ext>
            </a:extLst>
          </p:cNvPr>
          <p:cNvSpPr/>
          <p:nvPr/>
        </p:nvSpPr>
        <p:spPr>
          <a:xfrm>
            <a:off x="1315209" y="4363669"/>
            <a:ext cx="270197" cy="16884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00" dirty="0">
                <a:solidFill>
                  <a:srgbClr val="DCD7E5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05</a:t>
            </a:r>
            <a:endParaRPr lang="en-US" sz="1400" dirty="0"/>
          </a:p>
        </p:txBody>
      </p:sp>
      <p:pic>
        <p:nvPicPr>
          <p:cNvPr id="52" name="Image 0" descr="preencoded.png">
            <a:extLst>
              <a:ext uri="{FF2B5EF4-FFF2-40B4-BE49-F238E27FC236}">
                <a16:creationId xmlns:a16="http://schemas.microsoft.com/office/drawing/2014/main" id="{DAD80292-06F8-E05A-34F9-A437B7C177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5209" y="4649690"/>
            <a:ext cx="4034730" cy="19050"/>
          </a:xfrm>
          <a:prstGeom prst="rect">
            <a:avLst/>
          </a:prstGeom>
        </p:spPr>
      </p:pic>
      <p:sp>
        <p:nvSpPr>
          <p:cNvPr id="53" name="Text 3">
            <a:extLst>
              <a:ext uri="{FF2B5EF4-FFF2-40B4-BE49-F238E27FC236}">
                <a16:creationId xmlns:a16="http://schemas.microsoft.com/office/drawing/2014/main" id="{6FCA4A9D-4AFF-8BAD-9A63-0094F9BB1EEA}"/>
              </a:ext>
            </a:extLst>
          </p:cNvPr>
          <p:cNvSpPr/>
          <p:nvPr/>
        </p:nvSpPr>
        <p:spPr>
          <a:xfrm>
            <a:off x="1315209" y="4696645"/>
            <a:ext cx="2580308" cy="211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b="1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Lessons &amp; Advice</a:t>
            </a:r>
            <a:endParaRPr lang="en-US" sz="1400" b="1" dirty="0"/>
          </a:p>
        </p:txBody>
      </p:sp>
      <p:sp>
        <p:nvSpPr>
          <p:cNvPr id="54" name="Text 4">
            <a:extLst>
              <a:ext uri="{FF2B5EF4-FFF2-40B4-BE49-F238E27FC236}">
                <a16:creationId xmlns:a16="http://schemas.microsoft.com/office/drawing/2014/main" id="{F43900B0-AD74-B678-CFB5-694AF69BAF70}"/>
              </a:ext>
            </a:extLst>
          </p:cNvPr>
          <p:cNvSpPr/>
          <p:nvPr/>
        </p:nvSpPr>
        <p:spPr>
          <a:xfrm>
            <a:off x="1315209" y="4935663"/>
            <a:ext cx="3815564" cy="255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2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Common mistakes, growth strategies, and practical recommendations</a:t>
            </a:r>
            <a:endParaRPr lang="en-US" sz="1200" dirty="0"/>
          </a:p>
        </p:txBody>
      </p:sp>
      <p:sp>
        <p:nvSpPr>
          <p:cNvPr id="55" name="Shape 2">
            <a:extLst>
              <a:ext uri="{FF2B5EF4-FFF2-40B4-BE49-F238E27FC236}">
                <a16:creationId xmlns:a16="http://schemas.microsoft.com/office/drawing/2014/main" id="{4A42A33D-ECF0-AF71-27C7-DC94EACCD0BD}"/>
              </a:ext>
            </a:extLst>
          </p:cNvPr>
          <p:cNvSpPr/>
          <p:nvPr/>
        </p:nvSpPr>
        <p:spPr>
          <a:xfrm>
            <a:off x="6882600" y="1756335"/>
            <a:ext cx="4123258" cy="903568"/>
          </a:xfrm>
          <a:prstGeom prst="roundRect">
            <a:avLst>
              <a:gd name="adj" fmla="val 2922"/>
            </a:avLst>
          </a:prstGeom>
          <a:solidFill>
            <a:srgbClr val="31136C"/>
          </a:solidFill>
          <a:ln w="4763">
            <a:solidFill>
              <a:srgbClr val="4A2C85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56" name="Text 2">
            <a:extLst>
              <a:ext uri="{FF2B5EF4-FFF2-40B4-BE49-F238E27FC236}">
                <a16:creationId xmlns:a16="http://schemas.microsoft.com/office/drawing/2014/main" id="{988F458D-E2F4-02A4-09C3-EDBA10F9C014}"/>
              </a:ext>
            </a:extLst>
          </p:cNvPr>
          <p:cNvSpPr/>
          <p:nvPr/>
        </p:nvSpPr>
        <p:spPr>
          <a:xfrm>
            <a:off x="6926864" y="1489412"/>
            <a:ext cx="270197" cy="16884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00" dirty="0">
                <a:solidFill>
                  <a:srgbClr val="DCD7E5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02</a:t>
            </a:r>
            <a:endParaRPr lang="en-US" sz="1400" dirty="0"/>
          </a:p>
        </p:txBody>
      </p:sp>
      <p:pic>
        <p:nvPicPr>
          <p:cNvPr id="57" name="Image 0" descr="preencoded.png">
            <a:extLst>
              <a:ext uri="{FF2B5EF4-FFF2-40B4-BE49-F238E27FC236}">
                <a16:creationId xmlns:a16="http://schemas.microsoft.com/office/drawing/2014/main" id="{F6246ECA-A093-934D-2A01-4CDB91CF78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26864" y="1775433"/>
            <a:ext cx="4034730" cy="19050"/>
          </a:xfrm>
          <a:prstGeom prst="rect">
            <a:avLst/>
          </a:prstGeom>
        </p:spPr>
      </p:pic>
      <p:sp>
        <p:nvSpPr>
          <p:cNvPr id="58" name="Text 3">
            <a:extLst>
              <a:ext uri="{FF2B5EF4-FFF2-40B4-BE49-F238E27FC236}">
                <a16:creationId xmlns:a16="http://schemas.microsoft.com/office/drawing/2014/main" id="{5B63D616-1374-384B-D845-18E39E0A5481}"/>
              </a:ext>
            </a:extLst>
          </p:cNvPr>
          <p:cNvSpPr/>
          <p:nvPr/>
        </p:nvSpPr>
        <p:spPr>
          <a:xfrm>
            <a:off x="6926864" y="1822388"/>
            <a:ext cx="2580308" cy="211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b="1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Life as a System Administrator</a:t>
            </a:r>
            <a:endParaRPr lang="en-US" sz="1400" b="1" dirty="0"/>
          </a:p>
        </p:txBody>
      </p:sp>
      <p:sp>
        <p:nvSpPr>
          <p:cNvPr id="59" name="Text 4">
            <a:extLst>
              <a:ext uri="{FF2B5EF4-FFF2-40B4-BE49-F238E27FC236}">
                <a16:creationId xmlns:a16="http://schemas.microsoft.com/office/drawing/2014/main" id="{D8FBED97-9648-BAFC-E50E-0E9173797811}"/>
              </a:ext>
            </a:extLst>
          </p:cNvPr>
          <p:cNvSpPr/>
          <p:nvPr/>
        </p:nvSpPr>
        <p:spPr>
          <a:xfrm>
            <a:off x="6926864" y="2061406"/>
            <a:ext cx="3815564" cy="255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2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Daily responsibilities, operational mindset and lessons</a:t>
            </a:r>
            <a:br>
              <a:rPr lang="en-US" sz="12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</a:br>
            <a:r>
              <a:rPr lang="en-US" sz="12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 learned from incidents</a:t>
            </a:r>
            <a:endParaRPr lang="en-US" sz="1200" dirty="0"/>
          </a:p>
        </p:txBody>
      </p:sp>
      <p:sp>
        <p:nvSpPr>
          <p:cNvPr id="60" name="Shape 2">
            <a:extLst>
              <a:ext uri="{FF2B5EF4-FFF2-40B4-BE49-F238E27FC236}">
                <a16:creationId xmlns:a16="http://schemas.microsoft.com/office/drawing/2014/main" id="{116D5227-EE6C-9CD2-8C9D-5AFD07C981FA}"/>
              </a:ext>
            </a:extLst>
          </p:cNvPr>
          <p:cNvSpPr/>
          <p:nvPr/>
        </p:nvSpPr>
        <p:spPr>
          <a:xfrm>
            <a:off x="6882600" y="3163438"/>
            <a:ext cx="4123258" cy="903568"/>
          </a:xfrm>
          <a:prstGeom prst="roundRect">
            <a:avLst>
              <a:gd name="adj" fmla="val 2922"/>
            </a:avLst>
          </a:prstGeom>
          <a:solidFill>
            <a:srgbClr val="31136C"/>
          </a:solidFill>
          <a:ln w="4763">
            <a:solidFill>
              <a:srgbClr val="4A2C85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61" name="Text 2">
            <a:extLst>
              <a:ext uri="{FF2B5EF4-FFF2-40B4-BE49-F238E27FC236}">
                <a16:creationId xmlns:a16="http://schemas.microsoft.com/office/drawing/2014/main" id="{802B61C3-3F18-96C7-13D2-EF077DEDFC7C}"/>
              </a:ext>
            </a:extLst>
          </p:cNvPr>
          <p:cNvSpPr/>
          <p:nvPr/>
        </p:nvSpPr>
        <p:spPr>
          <a:xfrm>
            <a:off x="6926864" y="2896515"/>
            <a:ext cx="270197" cy="16884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00" dirty="0">
                <a:solidFill>
                  <a:srgbClr val="DCD7E5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04</a:t>
            </a:r>
            <a:endParaRPr lang="en-US" sz="1400" dirty="0"/>
          </a:p>
        </p:txBody>
      </p:sp>
      <p:pic>
        <p:nvPicPr>
          <p:cNvPr id="62" name="Image 0" descr="preencoded.png">
            <a:extLst>
              <a:ext uri="{FF2B5EF4-FFF2-40B4-BE49-F238E27FC236}">
                <a16:creationId xmlns:a16="http://schemas.microsoft.com/office/drawing/2014/main" id="{4DE512E2-D8C7-3A25-F101-D1462AFB43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26864" y="3182536"/>
            <a:ext cx="4034730" cy="19050"/>
          </a:xfrm>
          <a:prstGeom prst="rect">
            <a:avLst/>
          </a:prstGeom>
        </p:spPr>
      </p:pic>
      <p:sp>
        <p:nvSpPr>
          <p:cNvPr id="63" name="Text 3">
            <a:extLst>
              <a:ext uri="{FF2B5EF4-FFF2-40B4-BE49-F238E27FC236}">
                <a16:creationId xmlns:a16="http://schemas.microsoft.com/office/drawing/2014/main" id="{0C65E618-8E18-F8D0-34C0-72C0897F67FE}"/>
              </a:ext>
            </a:extLst>
          </p:cNvPr>
          <p:cNvSpPr/>
          <p:nvPr/>
        </p:nvSpPr>
        <p:spPr>
          <a:xfrm>
            <a:off x="6926864" y="3229491"/>
            <a:ext cx="2580308" cy="211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b="1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My Central Retail Group Interview Journey</a:t>
            </a:r>
            <a:endParaRPr lang="en-US" sz="1400" b="1" dirty="0"/>
          </a:p>
        </p:txBody>
      </p:sp>
      <p:sp>
        <p:nvSpPr>
          <p:cNvPr id="64" name="Text 4">
            <a:extLst>
              <a:ext uri="{FF2B5EF4-FFF2-40B4-BE49-F238E27FC236}">
                <a16:creationId xmlns:a16="http://schemas.microsoft.com/office/drawing/2014/main" id="{CCDDE61E-8152-F442-9C36-4619860D07EE}"/>
              </a:ext>
            </a:extLst>
          </p:cNvPr>
          <p:cNvSpPr/>
          <p:nvPr/>
        </p:nvSpPr>
        <p:spPr>
          <a:xfrm>
            <a:off x="6926864" y="3468509"/>
            <a:ext cx="3815564" cy="255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2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Application process, interviews, and lessons learned</a:t>
            </a:r>
            <a:endParaRPr lang="en-US" sz="1200" dirty="0"/>
          </a:p>
        </p:txBody>
      </p:sp>
      <p:sp>
        <p:nvSpPr>
          <p:cNvPr id="65" name="Shape 2">
            <a:extLst>
              <a:ext uri="{FF2B5EF4-FFF2-40B4-BE49-F238E27FC236}">
                <a16:creationId xmlns:a16="http://schemas.microsoft.com/office/drawing/2014/main" id="{DD6FC14A-FCE2-1439-F12A-BD8B2D7A449D}"/>
              </a:ext>
            </a:extLst>
          </p:cNvPr>
          <p:cNvSpPr/>
          <p:nvPr/>
        </p:nvSpPr>
        <p:spPr>
          <a:xfrm>
            <a:off x="6926864" y="4630592"/>
            <a:ext cx="4078994" cy="903568"/>
          </a:xfrm>
          <a:prstGeom prst="roundRect">
            <a:avLst>
              <a:gd name="adj" fmla="val 2922"/>
            </a:avLst>
          </a:prstGeom>
          <a:solidFill>
            <a:srgbClr val="31136C"/>
          </a:solidFill>
          <a:ln w="4763">
            <a:solidFill>
              <a:srgbClr val="4A2C85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66" name="Text 2">
            <a:extLst>
              <a:ext uri="{FF2B5EF4-FFF2-40B4-BE49-F238E27FC236}">
                <a16:creationId xmlns:a16="http://schemas.microsoft.com/office/drawing/2014/main" id="{310200E9-F655-EA5B-F2EA-7817966949B1}"/>
              </a:ext>
            </a:extLst>
          </p:cNvPr>
          <p:cNvSpPr/>
          <p:nvPr/>
        </p:nvSpPr>
        <p:spPr>
          <a:xfrm>
            <a:off x="6971128" y="4363669"/>
            <a:ext cx="270197" cy="16884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00" dirty="0">
                <a:solidFill>
                  <a:srgbClr val="DCD7E5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06</a:t>
            </a:r>
            <a:endParaRPr lang="en-US" sz="1400" dirty="0"/>
          </a:p>
        </p:txBody>
      </p:sp>
      <p:pic>
        <p:nvPicPr>
          <p:cNvPr id="67" name="Image 0" descr="preencoded.png">
            <a:extLst>
              <a:ext uri="{FF2B5EF4-FFF2-40B4-BE49-F238E27FC236}">
                <a16:creationId xmlns:a16="http://schemas.microsoft.com/office/drawing/2014/main" id="{CDAB1B44-7188-B8D6-13D9-E407BCE2B7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71128" y="4649690"/>
            <a:ext cx="4034730" cy="19050"/>
          </a:xfrm>
          <a:prstGeom prst="rect">
            <a:avLst/>
          </a:prstGeom>
        </p:spPr>
      </p:pic>
      <p:sp>
        <p:nvSpPr>
          <p:cNvPr id="68" name="Text 3">
            <a:extLst>
              <a:ext uri="{FF2B5EF4-FFF2-40B4-BE49-F238E27FC236}">
                <a16:creationId xmlns:a16="http://schemas.microsoft.com/office/drawing/2014/main" id="{66314939-7DB4-4743-0574-A2FC793AA20E}"/>
              </a:ext>
            </a:extLst>
          </p:cNvPr>
          <p:cNvSpPr/>
          <p:nvPr/>
        </p:nvSpPr>
        <p:spPr>
          <a:xfrm>
            <a:off x="6971128" y="4696645"/>
            <a:ext cx="2580308" cy="211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b="1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Connect With Me</a:t>
            </a:r>
            <a:endParaRPr lang="en-US" sz="1400" b="1" dirty="0"/>
          </a:p>
        </p:txBody>
      </p:sp>
      <p:sp>
        <p:nvSpPr>
          <p:cNvPr id="69" name="Text 4">
            <a:extLst>
              <a:ext uri="{FF2B5EF4-FFF2-40B4-BE49-F238E27FC236}">
                <a16:creationId xmlns:a16="http://schemas.microsoft.com/office/drawing/2014/main" id="{49CB88CE-7F65-2F32-B785-4E8E3DB3ED14}"/>
              </a:ext>
            </a:extLst>
          </p:cNvPr>
          <p:cNvSpPr/>
          <p:nvPr/>
        </p:nvSpPr>
        <p:spPr>
          <a:xfrm>
            <a:off x="6971128" y="4935663"/>
            <a:ext cx="3815564" cy="255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2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LinkedIn, networking, and further discussions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321536473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637515-6BAA-AFF9-C478-6168AD497F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>
                <a:latin typeface="Montserrat" pitchFamily="34" charset="0"/>
                <a:ea typeface="Montserrat" pitchFamily="34" charset="-122"/>
                <a:cs typeface="Montserrat" pitchFamily="34" charset="-120"/>
              </a:rPr>
              <a:t>From IT Helpdesk to Sysadmin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8191D94-6172-755C-77DB-C474C601C44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B854EBA1-E56A-430F-F955-C007BA02705D}"/>
              </a:ext>
            </a:extLst>
          </p:cNvPr>
          <p:cNvSpPr/>
          <p:nvPr/>
        </p:nvSpPr>
        <p:spPr>
          <a:xfrm>
            <a:off x="878943" y="2217293"/>
            <a:ext cx="2881274" cy="1946871"/>
          </a:xfrm>
          <a:prstGeom prst="roundRect">
            <a:avLst>
              <a:gd name="adj" fmla="val 2922"/>
            </a:avLst>
          </a:prstGeom>
          <a:solidFill>
            <a:srgbClr val="31136C"/>
          </a:solidFill>
          <a:ln w="4763">
            <a:solidFill>
              <a:srgbClr val="4A2C85"/>
            </a:solidFill>
            <a:prstDash val="solid"/>
          </a:ln>
        </p:spPr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CD1DBA09-9ACA-96DB-74B8-62D4EADFC961}"/>
              </a:ext>
            </a:extLst>
          </p:cNvPr>
          <p:cNvSpPr/>
          <p:nvPr/>
        </p:nvSpPr>
        <p:spPr>
          <a:xfrm>
            <a:off x="1014376" y="2352726"/>
            <a:ext cx="2100112" cy="2689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Skills from Helpdesk</a:t>
            </a:r>
            <a:endParaRPr lang="en-US" sz="1600" b="1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6796EC53-1BE7-F414-2BE1-0C284275196F}"/>
              </a:ext>
            </a:extLst>
          </p:cNvPr>
          <p:cNvSpPr/>
          <p:nvPr/>
        </p:nvSpPr>
        <p:spPr>
          <a:xfrm>
            <a:off x="1014376" y="2629100"/>
            <a:ext cx="2547914" cy="17543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342900" indent="-342900" algn="l">
              <a:lnSpc>
                <a:spcPct val="128000"/>
              </a:lnSpc>
              <a:buSzPct val="100000"/>
              <a:buChar char="•"/>
            </a:pPr>
            <a:r>
              <a:rPr lang="en-US" sz="12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Troubleshooting under pressure</a:t>
            </a:r>
            <a:endParaRPr lang="en-US" sz="1200" dirty="0"/>
          </a:p>
          <a:p>
            <a:pPr marL="342900" indent="-342900" algn="l">
              <a:lnSpc>
                <a:spcPct val="128000"/>
              </a:lnSpc>
              <a:buSzPct val="100000"/>
              <a:buChar char="•"/>
            </a:pPr>
            <a:r>
              <a:rPr lang="en-US" sz="12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Communication with end users</a:t>
            </a:r>
            <a:endParaRPr lang="en-US" sz="1200" dirty="0"/>
          </a:p>
          <a:p>
            <a:pPr marL="342900" indent="-342900" algn="l">
              <a:lnSpc>
                <a:spcPct val="128000"/>
              </a:lnSpc>
              <a:buSzPct val="100000"/>
              <a:buChar char="•"/>
            </a:pPr>
            <a:r>
              <a:rPr lang="en-US" sz="12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Problem-solving mindset</a:t>
            </a:r>
            <a:endParaRPr lang="en-US" sz="1200" dirty="0"/>
          </a:p>
          <a:p>
            <a:pPr marL="342900" indent="-342900" algn="l">
              <a:lnSpc>
                <a:spcPct val="128000"/>
              </a:lnSpc>
              <a:buSzPct val="100000"/>
              <a:buChar char="•"/>
            </a:pPr>
            <a:r>
              <a:rPr lang="en-US" sz="12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Understanding how IT systems work</a:t>
            </a:r>
            <a:endParaRPr lang="en-US" sz="1200" dirty="0"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485B645C-3411-69EF-5415-A07942635688}"/>
              </a:ext>
            </a:extLst>
          </p:cNvPr>
          <p:cNvSpPr/>
          <p:nvPr/>
        </p:nvSpPr>
        <p:spPr>
          <a:xfrm>
            <a:off x="3997758" y="2217293"/>
            <a:ext cx="2881273" cy="1946871"/>
          </a:xfrm>
          <a:prstGeom prst="roundRect">
            <a:avLst>
              <a:gd name="adj" fmla="val 2922"/>
            </a:avLst>
          </a:prstGeom>
          <a:solidFill>
            <a:srgbClr val="31136C"/>
          </a:solidFill>
          <a:ln w="4763">
            <a:solidFill>
              <a:srgbClr val="4A2C85"/>
            </a:solidFill>
            <a:prstDash val="solid"/>
          </a:ln>
        </p:spPr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2AF51780-6D12-3018-7A89-F7C6A6CD7577}"/>
              </a:ext>
            </a:extLst>
          </p:cNvPr>
          <p:cNvSpPr/>
          <p:nvPr/>
        </p:nvSpPr>
        <p:spPr>
          <a:xfrm>
            <a:off x="4133192" y="2352725"/>
            <a:ext cx="2011531" cy="2173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Turning Point</a:t>
            </a:r>
            <a:endParaRPr lang="en-US" sz="1600" b="1" dirty="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749308C3-BB05-0B1F-D524-86B196657A3D}"/>
              </a:ext>
            </a:extLst>
          </p:cNvPr>
          <p:cNvSpPr/>
          <p:nvPr/>
        </p:nvSpPr>
        <p:spPr>
          <a:xfrm>
            <a:off x="4133193" y="2629099"/>
            <a:ext cx="2547744" cy="14176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 algn="l">
              <a:lnSpc>
                <a:spcPct val="128000"/>
              </a:lnSpc>
              <a:buSzPct val="100000"/>
              <a:buChar char="•"/>
            </a:pPr>
            <a:r>
              <a:rPr lang="en-US" sz="12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Learning Linux and Networking</a:t>
            </a:r>
            <a:endParaRPr lang="en-US" sz="1200" dirty="0"/>
          </a:p>
          <a:p>
            <a:pPr marL="342900" indent="-342900" algn="l">
              <a:lnSpc>
                <a:spcPct val="128000"/>
              </a:lnSpc>
              <a:buSzPct val="100000"/>
              <a:buChar char="•"/>
            </a:pPr>
            <a:r>
              <a:rPr lang="en-US" sz="12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Building hands-on lab environments</a:t>
            </a:r>
            <a:endParaRPr lang="en-US" sz="1200" dirty="0"/>
          </a:p>
          <a:p>
            <a:pPr marL="342900" indent="-342900" algn="l">
              <a:lnSpc>
                <a:spcPct val="128000"/>
              </a:lnSpc>
              <a:buSzPct val="100000"/>
              <a:buChar char="•"/>
            </a:pPr>
            <a:r>
              <a:rPr lang="en-US" sz="12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Exploring Infrastructure Technologies</a:t>
            </a:r>
            <a:endParaRPr lang="en-US" sz="1200" dirty="0"/>
          </a:p>
          <a:p>
            <a:pPr marL="342900" indent="-342900" algn="l">
              <a:lnSpc>
                <a:spcPct val="128000"/>
              </a:lnSpc>
              <a:buSzPct val="100000"/>
              <a:buChar char="•"/>
            </a:pPr>
            <a:r>
              <a:rPr lang="en-US" sz="12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Preparing for a Sysadmin role</a:t>
            </a:r>
            <a:endParaRPr lang="en-US" sz="1200" dirty="0"/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0F71CB85-BE0F-11D0-6134-B7706458E002}"/>
              </a:ext>
            </a:extLst>
          </p:cNvPr>
          <p:cNvSpPr/>
          <p:nvPr/>
        </p:nvSpPr>
        <p:spPr>
          <a:xfrm>
            <a:off x="878943" y="4392091"/>
            <a:ext cx="6000088" cy="793420"/>
          </a:xfrm>
          <a:prstGeom prst="roundRect">
            <a:avLst>
              <a:gd name="adj" fmla="val 5784"/>
            </a:avLst>
          </a:prstGeom>
          <a:solidFill>
            <a:srgbClr val="31136C"/>
          </a:solidFill>
          <a:ln w="4763">
            <a:solidFill>
              <a:srgbClr val="4A2C85"/>
            </a:solidFill>
            <a:prstDash val="solid"/>
          </a:ln>
        </p:spPr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A0BA0F72-F1E3-18D4-8716-49233AD1A869}"/>
              </a:ext>
            </a:extLst>
          </p:cNvPr>
          <p:cNvSpPr/>
          <p:nvPr/>
        </p:nvSpPr>
        <p:spPr>
          <a:xfrm>
            <a:off x="1014376" y="4527524"/>
            <a:ext cx="2041916" cy="1939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b="1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Key Realization</a:t>
            </a:r>
            <a:endParaRPr lang="en-US" sz="1400" b="1" dirty="0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2B1E57E5-560E-3C0D-903E-DF81FCA84A9B}"/>
              </a:ext>
            </a:extLst>
          </p:cNvPr>
          <p:cNvSpPr/>
          <p:nvPr/>
        </p:nvSpPr>
        <p:spPr>
          <a:xfrm>
            <a:off x="1014376" y="4803898"/>
            <a:ext cx="5661521" cy="3816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2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I didn't want to just support systems. I wanted to understand how they were built.</a:t>
            </a:r>
            <a:endParaRPr lang="en-US" sz="1200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83B4753E-E27D-6FE7-4479-7D8789D08A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76289" y="1051588"/>
            <a:ext cx="2881272" cy="51288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81746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48CBD-976E-34CD-C899-4E1BECAF0D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>
                <a:latin typeface="Montserrat" pitchFamily="34" charset="0"/>
              </a:rPr>
              <a:t>Life as a System Admin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DB8A921-1B59-1B27-77C2-00B1E4ECF5D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C00A0140-E9B5-1FBE-8BAE-4D0FE23C7010}"/>
              </a:ext>
            </a:extLst>
          </p:cNvPr>
          <p:cNvSpPr/>
          <p:nvPr/>
        </p:nvSpPr>
        <p:spPr>
          <a:xfrm>
            <a:off x="5082347" y="2153497"/>
            <a:ext cx="2881274" cy="1946871"/>
          </a:xfrm>
          <a:prstGeom prst="roundRect">
            <a:avLst>
              <a:gd name="adj" fmla="val 2922"/>
            </a:avLst>
          </a:prstGeom>
          <a:solidFill>
            <a:srgbClr val="31136C"/>
          </a:solidFill>
          <a:ln w="4763">
            <a:solidFill>
              <a:srgbClr val="4A2C85"/>
            </a:solidFill>
            <a:prstDash val="solid"/>
          </a:ln>
        </p:spPr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1BA55F77-76C8-1A4C-9B3C-E177255737F8}"/>
              </a:ext>
            </a:extLst>
          </p:cNvPr>
          <p:cNvSpPr/>
          <p:nvPr/>
        </p:nvSpPr>
        <p:spPr>
          <a:xfrm>
            <a:off x="5217780" y="2288930"/>
            <a:ext cx="2100112" cy="2689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Beyond Servers</a:t>
            </a:r>
            <a:endParaRPr lang="en-US" sz="1600" b="1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AFC6D6AE-CFEE-6DFE-C2DA-0F9A67BC3344}"/>
              </a:ext>
            </a:extLst>
          </p:cNvPr>
          <p:cNvSpPr/>
          <p:nvPr/>
        </p:nvSpPr>
        <p:spPr>
          <a:xfrm>
            <a:off x="5217780" y="2565304"/>
            <a:ext cx="2547914" cy="17543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171450" indent="-171450" algn="l">
              <a:lnSpc>
                <a:spcPct val="128000"/>
              </a:lnSpc>
              <a:buSzPct val="100000"/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Server provisioning &amp; maintenance</a:t>
            </a:r>
            <a:endParaRPr lang="en-US" sz="1200" dirty="0"/>
          </a:p>
          <a:p>
            <a:pPr marL="171450" indent="-171450" algn="l">
              <a:lnSpc>
                <a:spcPct val="128000"/>
              </a:lnSpc>
              <a:buSzPct val="100000"/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Network infrastructure management</a:t>
            </a:r>
            <a:endParaRPr lang="en-US" sz="1200" dirty="0"/>
          </a:p>
          <a:p>
            <a:pPr marL="171450" indent="-171450" algn="l">
              <a:lnSpc>
                <a:spcPct val="128000"/>
              </a:lnSpc>
              <a:buSzPct val="100000"/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DCD7E5"/>
                </a:solidFill>
                <a:latin typeface="Heebo Light" pitchFamily="34" charset="0"/>
                <a:cs typeface="Heebo Light" pitchFamily="34" charset="-120"/>
              </a:rPr>
              <a:t>Security patching &amp; updates</a:t>
            </a:r>
            <a:endParaRPr lang="en-US" sz="1200" dirty="0"/>
          </a:p>
          <a:p>
            <a:pPr marL="171450" indent="-171450" algn="l">
              <a:lnSpc>
                <a:spcPct val="128000"/>
              </a:lnSpc>
              <a:buSzPct val="100000"/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DCD7E5"/>
                </a:solidFill>
                <a:latin typeface="Heebo Light" pitchFamily="34" charset="0"/>
                <a:cs typeface="Heebo Light" pitchFamily="34" charset="-120"/>
              </a:rPr>
              <a:t>Capacity planning &amp; monitoring</a:t>
            </a:r>
            <a:endParaRPr lang="en-US" sz="1200" dirty="0"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43BE198C-D597-6B0F-0E29-E57C315D6FF8}"/>
              </a:ext>
            </a:extLst>
          </p:cNvPr>
          <p:cNvSpPr/>
          <p:nvPr/>
        </p:nvSpPr>
        <p:spPr>
          <a:xfrm>
            <a:off x="8201162" y="2153497"/>
            <a:ext cx="3054417" cy="1946871"/>
          </a:xfrm>
          <a:prstGeom prst="roundRect">
            <a:avLst>
              <a:gd name="adj" fmla="val 2922"/>
            </a:avLst>
          </a:prstGeom>
          <a:solidFill>
            <a:srgbClr val="31136C"/>
          </a:solidFill>
          <a:ln w="4763">
            <a:solidFill>
              <a:srgbClr val="4A2C85"/>
            </a:solidFill>
            <a:prstDash val="solid"/>
          </a:ln>
        </p:spPr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E1EF1152-0968-1551-43DC-415AAF57B8AE}"/>
              </a:ext>
            </a:extLst>
          </p:cNvPr>
          <p:cNvSpPr/>
          <p:nvPr/>
        </p:nvSpPr>
        <p:spPr>
          <a:xfrm>
            <a:off x="8336596" y="2288929"/>
            <a:ext cx="2011531" cy="2173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Key Lessons	</a:t>
            </a:r>
            <a:endParaRPr lang="en-US" sz="1600" b="1" dirty="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0C467DF3-4BB9-0478-8FC2-56DB6957105F}"/>
              </a:ext>
            </a:extLst>
          </p:cNvPr>
          <p:cNvSpPr/>
          <p:nvPr/>
        </p:nvSpPr>
        <p:spPr>
          <a:xfrm>
            <a:off x="8336596" y="2565303"/>
            <a:ext cx="3054417" cy="14176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171450" indent="-171450" algn="l">
              <a:lnSpc>
                <a:spcPct val="128000"/>
              </a:lnSpc>
              <a:buSzPct val="100000"/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Automate repetitive task to save time</a:t>
            </a:r>
          </a:p>
          <a:p>
            <a:pPr marL="171450" indent="-171450" algn="l">
              <a:lnSpc>
                <a:spcPct val="128000"/>
              </a:lnSpc>
              <a:buSzPct val="100000"/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Document configuration and runbooks</a:t>
            </a:r>
          </a:p>
          <a:p>
            <a:pPr marL="171450" indent="-171450" algn="l">
              <a:lnSpc>
                <a:spcPct val="128000"/>
              </a:lnSpc>
              <a:buSzPct val="100000"/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Implement monitoring before incidents happen</a:t>
            </a:r>
          </a:p>
          <a:p>
            <a:pPr marL="171450" indent="-171450" algn="l">
              <a:lnSpc>
                <a:spcPct val="128000"/>
              </a:lnSpc>
              <a:buSzPct val="100000"/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Build strong relationships with dev team</a:t>
            </a:r>
          </a:p>
          <a:p>
            <a:pPr marL="171450" indent="-171450" algn="l">
              <a:lnSpc>
                <a:spcPct val="128000"/>
              </a:lnSpc>
              <a:buSzPct val="100000"/>
              <a:buFont typeface="Arial" panose="020B0604020202020204" pitchFamily="34" charset="0"/>
              <a:buChar char="•"/>
            </a:pPr>
            <a:endParaRPr lang="en-US" sz="1200" dirty="0"/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09D0396E-CFB2-C560-865D-38F6629F4059}"/>
              </a:ext>
            </a:extLst>
          </p:cNvPr>
          <p:cNvSpPr/>
          <p:nvPr/>
        </p:nvSpPr>
        <p:spPr>
          <a:xfrm>
            <a:off x="5082347" y="4328295"/>
            <a:ext cx="6000088" cy="793420"/>
          </a:xfrm>
          <a:prstGeom prst="roundRect">
            <a:avLst>
              <a:gd name="adj" fmla="val 5784"/>
            </a:avLst>
          </a:prstGeom>
          <a:solidFill>
            <a:srgbClr val="31136C"/>
          </a:solidFill>
          <a:ln w="4763">
            <a:solidFill>
              <a:srgbClr val="4A2C85"/>
            </a:solidFill>
            <a:prstDash val="solid"/>
          </a:ln>
        </p:spPr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CBB6ACE1-B248-0B0B-7B84-F96D34663B89}"/>
              </a:ext>
            </a:extLst>
          </p:cNvPr>
          <p:cNvSpPr/>
          <p:nvPr/>
        </p:nvSpPr>
        <p:spPr>
          <a:xfrm>
            <a:off x="5217780" y="4463728"/>
            <a:ext cx="2041916" cy="1939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b="1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Key Realization</a:t>
            </a:r>
            <a:endParaRPr lang="en-US" sz="1400" b="1" dirty="0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80AE1CEA-D62E-2A2D-A23D-5E827C8D3DD5}"/>
              </a:ext>
            </a:extLst>
          </p:cNvPr>
          <p:cNvSpPr/>
          <p:nvPr/>
        </p:nvSpPr>
        <p:spPr>
          <a:xfrm>
            <a:off x="5217780" y="4740102"/>
            <a:ext cx="5661521" cy="3816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200" dirty="0">
                <a:solidFill>
                  <a:srgbClr val="DCD7E5"/>
                </a:solidFill>
                <a:latin typeface="Heebo Light" pitchFamily="34" charset="0"/>
                <a:cs typeface="Heebo Light" pitchFamily="34" charset="-120"/>
              </a:rPr>
              <a:t>Never test in production – protect  availability, trust and your team’s time</a:t>
            </a:r>
            <a:endParaRPr lang="en-US" sz="1200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4C7B444D-3308-EAD8-D1A7-3D4933AAFB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7709" y="1150619"/>
            <a:ext cx="2768236" cy="4927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578497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9BE589-5A14-6736-81F8-C76BBB56C9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>
                <a:latin typeface="Montserrat" pitchFamily="34" charset="0"/>
                <a:ea typeface="Montserrat" pitchFamily="34" charset="-122"/>
                <a:cs typeface="Montserrat" pitchFamily="34" charset="-120"/>
              </a:rPr>
              <a:t>First Cloud Journey — From Sysadmin to Cloud/DevOps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9A12520-B697-1D81-8D59-BD5F718011B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4" name="Image 1" descr="preencoded.png">
            <a:extLst>
              <a:ext uri="{FF2B5EF4-FFF2-40B4-BE49-F238E27FC236}">
                <a16:creationId xmlns:a16="http://schemas.microsoft.com/office/drawing/2014/main" id="{48CEB4D5-444A-963C-EB1E-C9F36E7FEA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4051" y="2160031"/>
            <a:ext cx="653430" cy="784101"/>
          </a:xfrm>
          <a:prstGeom prst="rect">
            <a:avLst/>
          </a:prstGeom>
        </p:spPr>
      </p:pic>
      <p:sp>
        <p:nvSpPr>
          <p:cNvPr id="5" name="Text 2">
            <a:extLst>
              <a:ext uri="{FF2B5EF4-FFF2-40B4-BE49-F238E27FC236}">
                <a16:creationId xmlns:a16="http://schemas.microsoft.com/office/drawing/2014/main" id="{E8CABA6C-1498-3BC8-623B-66FA337046EE}"/>
              </a:ext>
            </a:extLst>
          </p:cNvPr>
          <p:cNvSpPr/>
          <p:nvPr/>
        </p:nvSpPr>
        <p:spPr>
          <a:xfrm>
            <a:off x="1427957" y="2290702"/>
            <a:ext cx="1633612" cy="2041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On-Premise</a:t>
            </a:r>
            <a:endParaRPr lang="en-US" sz="1600" dirty="0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DFFF7430-8579-7471-9BC0-65325F3ACFCB}"/>
              </a:ext>
            </a:extLst>
          </p:cNvPr>
          <p:cNvSpPr/>
          <p:nvPr/>
        </p:nvSpPr>
        <p:spPr>
          <a:xfrm>
            <a:off x="1427957" y="2567076"/>
            <a:ext cx="4026396" cy="2008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2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Managing physical servers, manual configuration, manual scaling</a:t>
            </a:r>
            <a:endParaRPr lang="en-US" sz="1200" dirty="0"/>
          </a:p>
        </p:txBody>
      </p:sp>
      <p:pic>
        <p:nvPicPr>
          <p:cNvPr id="7" name="Image 2" descr="preencoded.png">
            <a:extLst>
              <a:ext uri="{FF2B5EF4-FFF2-40B4-BE49-F238E27FC236}">
                <a16:creationId xmlns:a16="http://schemas.microsoft.com/office/drawing/2014/main" id="{331B7C51-D159-5029-10DE-F79E35C67EC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4051" y="2944132"/>
            <a:ext cx="653430" cy="784101"/>
          </a:xfrm>
          <a:prstGeom prst="rect">
            <a:avLst/>
          </a:prstGeom>
        </p:spPr>
      </p:pic>
      <p:sp>
        <p:nvSpPr>
          <p:cNvPr id="8" name="Text 4">
            <a:extLst>
              <a:ext uri="{FF2B5EF4-FFF2-40B4-BE49-F238E27FC236}">
                <a16:creationId xmlns:a16="http://schemas.microsoft.com/office/drawing/2014/main" id="{DD081C73-E39A-F6BA-2532-2A4E020D22E4}"/>
              </a:ext>
            </a:extLst>
          </p:cNvPr>
          <p:cNvSpPr/>
          <p:nvPr/>
        </p:nvSpPr>
        <p:spPr>
          <a:xfrm>
            <a:off x="1427957" y="3074803"/>
            <a:ext cx="1633612" cy="2041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Cloud Mindset</a:t>
            </a:r>
            <a:endParaRPr lang="en-US" sz="1600" dirty="0"/>
          </a:p>
        </p:txBody>
      </p:sp>
      <p:sp>
        <p:nvSpPr>
          <p:cNvPr id="9" name="Text 5">
            <a:extLst>
              <a:ext uri="{FF2B5EF4-FFF2-40B4-BE49-F238E27FC236}">
                <a16:creationId xmlns:a16="http://schemas.microsoft.com/office/drawing/2014/main" id="{C557EC80-AD34-55ED-8A0C-64B9A30BF254}"/>
              </a:ext>
            </a:extLst>
          </p:cNvPr>
          <p:cNvSpPr/>
          <p:nvPr/>
        </p:nvSpPr>
        <p:spPr>
          <a:xfrm>
            <a:off x="1427957" y="3351177"/>
            <a:ext cx="4026396" cy="2008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2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AWS, elastic scaling, pay-as-you-go, managed services</a:t>
            </a:r>
            <a:endParaRPr lang="en-US" sz="1200" dirty="0"/>
          </a:p>
        </p:txBody>
      </p:sp>
      <p:pic>
        <p:nvPicPr>
          <p:cNvPr id="10" name="Image 3" descr="preencoded.png">
            <a:extLst>
              <a:ext uri="{FF2B5EF4-FFF2-40B4-BE49-F238E27FC236}">
                <a16:creationId xmlns:a16="http://schemas.microsoft.com/office/drawing/2014/main" id="{C2F844C6-442B-43EE-CEC7-A7DF3558E0B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4051" y="3728233"/>
            <a:ext cx="653430" cy="784101"/>
          </a:xfrm>
          <a:prstGeom prst="rect">
            <a:avLst/>
          </a:prstGeom>
        </p:spPr>
      </p:pic>
      <p:sp>
        <p:nvSpPr>
          <p:cNvPr id="11" name="Text 6">
            <a:extLst>
              <a:ext uri="{FF2B5EF4-FFF2-40B4-BE49-F238E27FC236}">
                <a16:creationId xmlns:a16="http://schemas.microsoft.com/office/drawing/2014/main" id="{0317D554-8D77-48B6-78DA-592CD517BAC0}"/>
              </a:ext>
            </a:extLst>
          </p:cNvPr>
          <p:cNvSpPr/>
          <p:nvPr/>
        </p:nvSpPr>
        <p:spPr>
          <a:xfrm>
            <a:off x="1427957" y="3858904"/>
            <a:ext cx="1808187" cy="2041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Infrastructure as Code</a:t>
            </a:r>
            <a:endParaRPr lang="en-US" sz="1600" dirty="0"/>
          </a:p>
        </p:txBody>
      </p:sp>
      <p:sp>
        <p:nvSpPr>
          <p:cNvPr id="12" name="Text 7">
            <a:extLst>
              <a:ext uri="{FF2B5EF4-FFF2-40B4-BE49-F238E27FC236}">
                <a16:creationId xmlns:a16="http://schemas.microsoft.com/office/drawing/2014/main" id="{B4F2AD1F-0A05-CC29-C01D-B7DBD1101504}"/>
              </a:ext>
            </a:extLst>
          </p:cNvPr>
          <p:cNvSpPr/>
          <p:nvPr/>
        </p:nvSpPr>
        <p:spPr>
          <a:xfrm>
            <a:off x="1427957" y="4135278"/>
            <a:ext cx="4026396" cy="2008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2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Terraform, version control, repeatable deployments</a:t>
            </a:r>
            <a:endParaRPr lang="en-US" sz="1200" dirty="0"/>
          </a:p>
        </p:txBody>
      </p:sp>
      <p:pic>
        <p:nvPicPr>
          <p:cNvPr id="13" name="Image 4" descr="preencoded.png">
            <a:extLst>
              <a:ext uri="{FF2B5EF4-FFF2-40B4-BE49-F238E27FC236}">
                <a16:creationId xmlns:a16="http://schemas.microsoft.com/office/drawing/2014/main" id="{30CEEFB8-45DA-923C-FE8A-10B90761367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4051" y="4512334"/>
            <a:ext cx="653430" cy="784101"/>
          </a:xfrm>
          <a:prstGeom prst="rect">
            <a:avLst/>
          </a:prstGeom>
        </p:spPr>
      </p:pic>
      <p:sp>
        <p:nvSpPr>
          <p:cNvPr id="14" name="Text 8">
            <a:extLst>
              <a:ext uri="{FF2B5EF4-FFF2-40B4-BE49-F238E27FC236}">
                <a16:creationId xmlns:a16="http://schemas.microsoft.com/office/drawing/2014/main" id="{98DC94E4-4B4B-7A9D-B3EA-8D04A2439FC6}"/>
              </a:ext>
            </a:extLst>
          </p:cNvPr>
          <p:cNvSpPr/>
          <p:nvPr/>
        </p:nvSpPr>
        <p:spPr>
          <a:xfrm>
            <a:off x="1427957" y="4643005"/>
            <a:ext cx="1633612" cy="2041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DevOps Culture</a:t>
            </a:r>
            <a:endParaRPr lang="en-US" sz="1600" dirty="0"/>
          </a:p>
        </p:txBody>
      </p:sp>
      <p:sp>
        <p:nvSpPr>
          <p:cNvPr id="15" name="Text 9">
            <a:extLst>
              <a:ext uri="{FF2B5EF4-FFF2-40B4-BE49-F238E27FC236}">
                <a16:creationId xmlns:a16="http://schemas.microsoft.com/office/drawing/2014/main" id="{B1591DF1-BBB0-F0C0-E7DF-E39DCCDB5D8B}"/>
              </a:ext>
            </a:extLst>
          </p:cNvPr>
          <p:cNvSpPr/>
          <p:nvPr/>
        </p:nvSpPr>
        <p:spPr>
          <a:xfrm>
            <a:off x="1427957" y="4919379"/>
            <a:ext cx="4026396" cy="2008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2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CI/CD, Docker, automation, collaboration with Dev</a:t>
            </a:r>
            <a:endParaRPr lang="en-US" sz="1200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732002FC-7514-D2FF-EA63-A55FF5D70F0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01522" y="1252800"/>
            <a:ext cx="2694433" cy="48275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449685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E6201B73-07A0-C732-1278-B7C78B57F3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6716" y="520326"/>
            <a:ext cx="9763051" cy="54491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398277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994754-4F8C-02DF-29C4-5C402961A9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>
                <a:latin typeface="Montserrat" pitchFamily="34" charset="0"/>
                <a:ea typeface="Montserrat" pitchFamily="34" charset="-122"/>
                <a:cs typeface="Montserrat" pitchFamily="34" charset="-120"/>
              </a:rPr>
              <a:t>My Interview Journey with Central Retail Group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ACCAA8-2259-2464-F786-98FEE9A2E19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31" name="Image 1" descr="preencoded.png">
            <a:extLst>
              <a:ext uri="{FF2B5EF4-FFF2-40B4-BE49-F238E27FC236}">
                <a16:creationId xmlns:a16="http://schemas.microsoft.com/office/drawing/2014/main" id="{D886F3FA-EF26-B266-0B48-5C65889E8B3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870159" y="1811484"/>
            <a:ext cx="4109728" cy="1135007"/>
          </a:xfrm>
          <a:prstGeom prst="rect">
            <a:avLst/>
          </a:prstGeom>
        </p:spPr>
      </p:pic>
      <p:sp>
        <p:nvSpPr>
          <p:cNvPr id="32" name="Text 2">
            <a:extLst>
              <a:ext uri="{FF2B5EF4-FFF2-40B4-BE49-F238E27FC236}">
                <a16:creationId xmlns:a16="http://schemas.microsoft.com/office/drawing/2014/main" id="{0D68CD6F-4746-CA78-3B14-24630D33297C}"/>
              </a:ext>
            </a:extLst>
          </p:cNvPr>
          <p:cNvSpPr/>
          <p:nvPr/>
        </p:nvSpPr>
        <p:spPr>
          <a:xfrm>
            <a:off x="7043469" y="1927644"/>
            <a:ext cx="1876258" cy="2170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b="1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Preparation</a:t>
            </a:r>
            <a:endParaRPr lang="en-US" sz="1400" b="1" dirty="0"/>
          </a:p>
        </p:txBody>
      </p:sp>
      <p:sp>
        <p:nvSpPr>
          <p:cNvPr id="33" name="Text 3">
            <a:extLst>
              <a:ext uri="{FF2B5EF4-FFF2-40B4-BE49-F238E27FC236}">
                <a16:creationId xmlns:a16="http://schemas.microsoft.com/office/drawing/2014/main" id="{F630BB8D-23E5-8A22-ECE4-BB2299B089D1}"/>
              </a:ext>
            </a:extLst>
          </p:cNvPr>
          <p:cNvSpPr/>
          <p:nvPr/>
        </p:nvSpPr>
        <p:spPr>
          <a:xfrm>
            <a:off x="7043468" y="2160114"/>
            <a:ext cx="3234671" cy="4167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342900" indent="-342900" algn="l">
              <a:lnSpc>
                <a:spcPct val="115000"/>
              </a:lnSpc>
              <a:buSzPct val="100000"/>
              <a:buChar char="•"/>
            </a:pPr>
            <a:r>
              <a:rPr lang="en-US" sz="12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Focus on real projects and achievements</a:t>
            </a:r>
            <a:endParaRPr lang="en-US" sz="1200" dirty="0"/>
          </a:p>
          <a:p>
            <a:pPr marL="342900" indent="-342900" algn="l">
              <a:lnSpc>
                <a:spcPct val="115000"/>
              </a:lnSpc>
              <a:buSzPct val="100000"/>
              <a:buChar char="•"/>
            </a:pPr>
            <a:r>
              <a:rPr lang="en-US" sz="12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Highlight practical skills and experience</a:t>
            </a:r>
            <a:endParaRPr lang="en-US" sz="1200" dirty="0"/>
          </a:p>
        </p:txBody>
      </p:sp>
      <p:pic>
        <p:nvPicPr>
          <p:cNvPr id="34" name="Image 2" descr="preencoded.png">
            <a:extLst>
              <a:ext uri="{FF2B5EF4-FFF2-40B4-BE49-F238E27FC236}">
                <a16:creationId xmlns:a16="http://schemas.microsoft.com/office/drawing/2014/main" id="{091EE16A-14A0-DC48-1424-5D4160E7621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875452" y="2711185"/>
            <a:ext cx="4109730" cy="1547618"/>
          </a:xfrm>
          <a:prstGeom prst="rect">
            <a:avLst/>
          </a:prstGeom>
        </p:spPr>
      </p:pic>
      <p:sp>
        <p:nvSpPr>
          <p:cNvPr id="35" name="Text 4">
            <a:extLst>
              <a:ext uri="{FF2B5EF4-FFF2-40B4-BE49-F238E27FC236}">
                <a16:creationId xmlns:a16="http://schemas.microsoft.com/office/drawing/2014/main" id="{82D38221-F7EE-C34B-097F-904E2A0CF982}"/>
              </a:ext>
            </a:extLst>
          </p:cNvPr>
          <p:cNvSpPr/>
          <p:nvPr/>
        </p:nvSpPr>
        <p:spPr>
          <a:xfrm>
            <a:off x="7043467" y="2868689"/>
            <a:ext cx="1910570" cy="2170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b="1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Before the Interview</a:t>
            </a:r>
            <a:endParaRPr lang="en-US" sz="1400" b="1" dirty="0"/>
          </a:p>
        </p:txBody>
      </p:sp>
      <p:sp>
        <p:nvSpPr>
          <p:cNvPr id="36" name="Text 5">
            <a:extLst>
              <a:ext uri="{FF2B5EF4-FFF2-40B4-BE49-F238E27FC236}">
                <a16:creationId xmlns:a16="http://schemas.microsoft.com/office/drawing/2014/main" id="{33DAC883-0BE9-B1C9-768B-A46120693B7C}"/>
              </a:ext>
            </a:extLst>
          </p:cNvPr>
          <p:cNvSpPr/>
          <p:nvPr/>
        </p:nvSpPr>
        <p:spPr>
          <a:xfrm>
            <a:off x="7043467" y="3124167"/>
            <a:ext cx="3936420" cy="63904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342900" indent="-342900" algn="l">
              <a:lnSpc>
                <a:spcPct val="115000"/>
              </a:lnSpc>
              <a:buSzPct val="100000"/>
              <a:buChar char="•"/>
            </a:pPr>
            <a:r>
              <a:rPr lang="en-US" sz="12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Research the company and its technology landscape</a:t>
            </a:r>
            <a:endParaRPr lang="en-US" sz="1200" dirty="0"/>
          </a:p>
          <a:p>
            <a:pPr marL="342900" indent="-342900" algn="l">
              <a:lnSpc>
                <a:spcPct val="115000"/>
              </a:lnSpc>
              <a:buSzPct val="100000"/>
              <a:buChar char="•"/>
            </a:pPr>
            <a:r>
              <a:rPr lang="en-US" sz="12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Understand the business and technical challenges</a:t>
            </a:r>
            <a:endParaRPr lang="en-US" sz="1200" dirty="0"/>
          </a:p>
        </p:txBody>
      </p:sp>
      <p:pic>
        <p:nvPicPr>
          <p:cNvPr id="37" name="Image 3" descr="preencoded.png">
            <a:extLst>
              <a:ext uri="{FF2B5EF4-FFF2-40B4-BE49-F238E27FC236}">
                <a16:creationId xmlns:a16="http://schemas.microsoft.com/office/drawing/2014/main" id="{6DFEB7A2-54A5-005D-A047-1185A0B7366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870158" y="3778992"/>
            <a:ext cx="4109729" cy="1379022"/>
          </a:xfrm>
          <a:prstGeom prst="rect">
            <a:avLst/>
          </a:prstGeom>
        </p:spPr>
      </p:pic>
      <p:sp>
        <p:nvSpPr>
          <p:cNvPr id="38" name="Text 6">
            <a:extLst>
              <a:ext uri="{FF2B5EF4-FFF2-40B4-BE49-F238E27FC236}">
                <a16:creationId xmlns:a16="http://schemas.microsoft.com/office/drawing/2014/main" id="{3D574D6D-3FBC-4B10-BAD9-A842B43C1778}"/>
              </a:ext>
            </a:extLst>
          </p:cNvPr>
          <p:cNvSpPr/>
          <p:nvPr/>
        </p:nvSpPr>
        <p:spPr>
          <a:xfrm>
            <a:off x="7043469" y="3895152"/>
            <a:ext cx="2062832" cy="2170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b="1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Technical Assessment</a:t>
            </a:r>
            <a:endParaRPr lang="en-US" sz="1400" b="1" dirty="0"/>
          </a:p>
        </p:txBody>
      </p:sp>
      <p:sp>
        <p:nvSpPr>
          <p:cNvPr id="39" name="Text 7">
            <a:extLst>
              <a:ext uri="{FF2B5EF4-FFF2-40B4-BE49-F238E27FC236}">
                <a16:creationId xmlns:a16="http://schemas.microsoft.com/office/drawing/2014/main" id="{8A323BA9-40D9-69C3-C41F-83750B67FE6F}"/>
              </a:ext>
            </a:extLst>
          </p:cNvPr>
          <p:cNvSpPr/>
          <p:nvPr/>
        </p:nvSpPr>
        <p:spPr>
          <a:xfrm>
            <a:off x="7043468" y="4127622"/>
            <a:ext cx="3234671" cy="6425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 algn="l">
              <a:lnSpc>
                <a:spcPct val="115000"/>
              </a:lnSpc>
              <a:buSzPct val="100000"/>
              <a:buChar char="•"/>
            </a:pPr>
            <a:r>
              <a:rPr lang="en-US" sz="12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Architecture design</a:t>
            </a:r>
            <a:endParaRPr lang="en-US" sz="1200" dirty="0"/>
          </a:p>
          <a:p>
            <a:pPr marL="342900" indent="-342900" algn="l">
              <a:lnSpc>
                <a:spcPct val="115000"/>
              </a:lnSpc>
              <a:buSzPct val="100000"/>
              <a:buChar char="•"/>
            </a:pPr>
            <a:r>
              <a:rPr lang="en-US" sz="12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Incident response scenarios</a:t>
            </a:r>
            <a:endParaRPr lang="en-US" sz="1200" dirty="0"/>
          </a:p>
          <a:p>
            <a:pPr marL="342900" indent="-342900" algn="l">
              <a:lnSpc>
                <a:spcPct val="115000"/>
              </a:lnSpc>
              <a:buSzPct val="100000"/>
              <a:buChar char="•"/>
            </a:pPr>
            <a:r>
              <a:rPr lang="en-US" sz="12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Troubleshooting exercises</a:t>
            </a:r>
            <a:endParaRPr lang="en-US" sz="1200" dirty="0"/>
          </a:p>
        </p:txBody>
      </p:sp>
      <p:pic>
        <p:nvPicPr>
          <p:cNvPr id="40" name="Image 4" descr="preencoded.png">
            <a:extLst>
              <a:ext uri="{FF2B5EF4-FFF2-40B4-BE49-F238E27FC236}">
                <a16:creationId xmlns:a16="http://schemas.microsoft.com/office/drawing/2014/main" id="{4F722963-67DC-5F08-C647-AD5C507E05CC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864863" y="4904505"/>
            <a:ext cx="4109728" cy="866587"/>
          </a:xfrm>
          <a:prstGeom prst="rect">
            <a:avLst/>
          </a:prstGeom>
        </p:spPr>
      </p:pic>
      <p:sp>
        <p:nvSpPr>
          <p:cNvPr id="41" name="Text 8">
            <a:extLst>
              <a:ext uri="{FF2B5EF4-FFF2-40B4-BE49-F238E27FC236}">
                <a16:creationId xmlns:a16="http://schemas.microsoft.com/office/drawing/2014/main" id="{F303D630-83BF-B17E-C999-1CE1C7F676DB}"/>
              </a:ext>
            </a:extLst>
          </p:cNvPr>
          <p:cNvSpPr/>
          <p:nvPr/>
        </p:nvSpPr>
        <p:spPr>
          <a:xfrm>
            <a:off x="7043469" y="4904505"/>
            <a:ext cx="1876258" cy="2170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b="1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Key Lesson</a:t>
            </a:r>
            <a:endParaRPr lang="en-US" sz="1400" b="1" dirty="0"/>
          </a:p>
        </p:txBody>
      </p:sp>
      <p:sp>
        <p:nvSpPr>
          <p:cNvPr id="42" name="Text 9">
            <a:extLst>
              <a:ext uri="{FF2B5EF4-FFF2-40B4-BE49-F238E27FC236}">
                <a16:creationId xmlns:a16="http://schemas.microsoft.com/office/drawing/2014/main" id="{CC0A138D-0268-9783-86ED-480AE213E343}"/>
              </a:ext>
            </a:extLst>
          </p:cNvPr>
          <p:cNvSpPr/>
          <p:nvPr/>
        </p:nvSpPr>
        <p:spPr>
          <a:xfrm>
            <a:off x="7043468" y="5136974"/>
            <a:ext cx="3879713" cy="3818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2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Practical experience is your strongest advantage.</a:t>
            </a:r>
            <a:endParaRPr lang="en-US" sz="1200" dirty="0"/>
          </a:p>
        </p:txBody>
      </p:sp>
      <p:pic>
        <p:nvPicPr>
          <p:cNvPr id="43" name="Image 0" descr="preencoded.png">
            <a:extLst>
              <a:ext uri="{FF2B5EF4-FFF2-40B4-BE49-F238E27FC236}">
                <a16:creationId xmlns:a16="http://schemas.microsoft.com/office/drawing/2014/main" id="{F64CFEA4-031D-5A3A-70C4-B9690345CE21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57758" y="1628312"/>
            <a:ext cx="5765070" cy="43045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932657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FAF16E-CE81-3227-071E-69B10E6B4A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>
                <a:latin typeface="Montserrat" pitchFamily="34" charset="0"/>
                <a:ea typeface="Montserrat" pitchFamily="34" charset="-122"/>
                <a:cs typeface="Montserrat" pitchFamily="34" charset="-120"/>
              </a:rPr>
              <a:t>Lessons &amp; Career Advice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B76F4F4-E62E-0D51-E509-3CF001B7128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429F4E4F-46C8-DA0F-2B2A-2273F2E7052D}"/>
              </a:ext>
            </a:extLst>
          </p:cNvPr>
          <p:cNvSpPr/>
          <p:nvPr/>
        </p:nvSpPr>
        <p:spPr>
          <a:xfrm>
            <a:off x="645635" y="1885720"/>
            <a:ext cx="3201088" cy="3104791"/>
          </a:xfrm>
          <a:prstGeom prst="roundRect">
            <a:avLst>
              <a:gd name="adj" fmla="val 2930"/>
            </a:avLst>
          </a:prstGeom>
          <a:solidFill>
            <a:srgbClr val="31136C"/>
          </a:solidFill>
          <a:ln w="4763">
            <a:solidFill>
              <a:srgbClr val="4A2C85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pic>
        <p:nvPicPr>
          <p:cNvPr id="5" name="Image 1" descr="preencoded.png">
            <a:extLst>
              <a:ext uri="{FF2B5EF4-FFF2-40B4-BE49-F238E27FC236}">
                <a16:creationId xmlns:a16="http://schemas.microsoft.com/office/drawing/2014/main" id="{DEB1AD83-DFB9-5CFA-7D06-17EDC03492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0295" y="1972880"/>
            <a:ext cx="524903" cy="524903"/>
          </a:xfrm>
          <a:prstGeom prst="rect">
            <a:avLst/>
          </a:prstGeom>
        </p:spPr>
      </p:pic>
      <p:sp>
        <p:nvSpPr>
          <p:cNvPr id="7" name="Text 3">
            <a:extLst>
              <a:ext uri="{FF2B5EF4-FFF2-40B4-BE49-F238E27FC236}">
                <a16:creationId xmlns:a16="http://schemas.microsoft.com/office/drawing/2014/main" id="{5D5804FC-E18D-6EE7-9B6A-E1FE8189888C}"/>
              </a:ext>
            </a:extLst>
          </p:cNvPr>
          <p:cNvSpPr/>
          <p:nvPr/>
        </p:nvSpPr>
        <p:spPr>
          <a:xfrm>
            <a:off x="783300" y="2546665"/>
            <a:ext cx="2282329" cy="3385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Common Mistakes</a:t>
            </a:r>
            <a:endParaRPr lang="en-US" sz="1300" dirty="0"/>
          </a:p>
        </p:txBody>
      </p:sp>
      <p:sp>
        <p:nvSpPr>
          <p:cNvPr id="8" name="Text 4">
            <a:extLst>
              <a:ext uri="{FF2B5EF4-FFF2-40B4-BE49-F238E27FC236}">
                <a16:creationId xmlns:a16="http://schemas.microsoft.com/office/drawing/2014/main" id="{80B54298-EA98-52A2-1641-64CAE4EF1147}"/>
              </a:ext>
            </a:extLst>
          </p:cNvPr>
          <p:cNvSpPr/>
          <p:nvPr/>
        </p:nvSpPr>
        <p:spPr>
          <a:xfrm>
            <a:off x="783301" y="2829067"/>
            <a:ext cx="2589046" cy="13428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71450" indent="-171450" algn="l">
              <a:lnSpc>
                <a:spcPct val="129000"/>
              </a:lnSpc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Learning too many things at once</a:t>
            </a:r>
          </a:p>
          <a:p>
            <a:pPr marL="171450" indent="-171450" algn="l">
              <a:lnSpc>
                <a:spcPct val="129000"/>
              </a:lnSpc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Not practicing enough</a:t>
            </a:r>
          </a:p>
          <a:p>
            <a:pPr marL="171450" indent="-171450" algn="l">
              <a:lnSpc>
                <a:spcPct val="129000"/>
              </a:lnSpc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Avoiding question</a:t>
            </a:r>
          </a:p>
          <a:p>
            <a:pPr marL="171450" indent="-171450" algn="l">
              <a:lnSpc>
                <a:spcPct val="129000"/>
              </a:lnSpc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DCD7E5"/>
                </a:solidFill>
                <a:latin typeface="Heebo Light" pitchFamily="34" charset="0"/>
                <a:cs typeface="Heebo Light" pitchFamily="34" charset="-120"/>
              </a:rPr>
              <a:t>Being afraid to fail</a:t>
            </a:r>
            <a:endParaRPr lang="en-US" sz="1200" dirty="0"/>
          </a:p>
        </p:txBody>
      </p:sp>
      <p:sp>
        <p:nvSpPr>
          <p:cNvPr id="9" name="Shape 5">
            <a:extLst>
              <a:ext uri="{FF2B5EF4-FFF2-40B4-BE49-F238E27FC236}">
                <a16:creationId xmlns:a16="http://schemas.microsoft.com/office/drawing/2014/main" id="{F991BECE-158F-A285-36E9-135FB77FE9C3}"/>
              </a:ext>
            </a:extLst>
          </p:cNvPr>
          <p:cNvSpPr/>
          <p:nvPr/>
        </p:nvSpPr>
        <p:spPr>
          <a:xfrm>
            <a:off x="3380380" y="1876604"/>
            <a:ext cx="3231387" cy="3104791"/>
          </a:xfrm>
          <a:prstGeom prst="roundRect">
            <a:avLst>
              <a:gd name="adj" fmla="val 2930"/>
            </a:avLst>
          </a:prstGeom>
          <a:solidFill>
            <a:srgbClr val="31136C"/>
          </a:solidFill>
          <a:ln w="4763">
            <a:solidFill>
              <a:srgbClr val="4A2C85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pic>
        <p:nvPicPr>
          <p:cNvPr id="10" name="Image 3" descr="preencoded.png">
            <a:extLst>
              <a:ext uri="{FF2B5EF4-FFF2-40B4-BE49-F238E27FC236}">
                <a16:creationId xmlns:a16="http://schemas.microsoft.com/office/drawing/2014/main" id="{035FD4DC-E563-5FEA-BE04-AD5C665EC06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93092" y="1967291"/>
            <a:ext cx="496089" cy="496089"/>
          </a:xfrm>
          <a:prstGeom prst="rect">
            <a:avLst/>
          </a:prstGeom>
        </p:spPr>
      </p:pic>
      <p:sp>
        <p:nvSpPr>
          <p:cNvPr id="12" name="Text 6">
            <a:extLst>
              <a:ext uri="{FF2B5EF4-FFF2-40B4-BE49-F238E27FC236}">
                <a16:creationId xmlns:a16="http://schemas.microsoft.com/office/drawing/2014/main" id="{C55160DB-E0FD-69DD-E04C-0DE7CD9C1853}"/>
              </a:ext>
            </a:extLst>
          </p:cNvPr>
          <p:cNvSpPr/>
          <p:nvPr/>
        </p:nvSpPr>
        <p:spPr>
          <a:xfrm>
            <a:off x="3514805" y="2510679"/>
            <a:ext cx="2282329" cy="3385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Building Capability</a:t>
            </a:r>
            <a:endParaRPr lang="en-US" sz="1600" dirty="0"/>
          </a:p>
        </p:txBody>
      </p:sp>
      <p:sp>
        <p:nvSpPr>
          <p:cNvPr id="13" name="Text 7">
            <a:extLst>
              <a:ext uri="{FF2B5EF4-FFF2-40B4-BE49-F238E27FC236}">
                <a16:creationId xmlns:a16="http://schemas.microsoft.com/office/drawing/2014/main" id="{DA7210CA-255F-88A4-21FB-C565C91AB4A3}"/>
              </a:ext>
            </a:extLst>
          </p:cNvPr>
          <p:cNvSpPr/>
          <p:nvPr/>
        </p:nvSpPr>
        <p:spPr>
          <a:xfrm>
            <a:off x="3563303" y="2838802"/>
            <a:ext cx="3048465" cy="15672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71450" indent="-171450" algn="l">
              <a:lnSpc>
                <a:spcPct val="129000"/>
              </a:lnSpc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Go deep on 1-2 core first</a:t>
            </a:r>
          </a:p>
          <a:p>
            <a:pPr marL="171450" indent="-171450" algn="l">
              <a:lnSpc>
                <a:spcPct val="129000"/>
              </a:lnSpc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DCD7E5"/>
                </a:solidFill>
                <a:latin typeface="Heebo Light" pitchFamily="34" charset="0"/>
                <a:cs typeface="Heebo Light" pitchFamily="34" charset="-120"/>
              </a:rPr>
              <a:t>Build real projects and hand-on experience</a:t>
            </a:r>
          </a:p>
          <a:p>
            <a:pPr marL="171450" indent="-171450" algn="l">
              <a:lnSpc>
                <a:spcPct val="129000"/>
              </a:lnSpc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DCD7E5"/>
                </a:solidFill>
                <a:latin typeface="Heebo Light" pitchFamily="34" charset="0"/>
                <a:cs typeface="Heebo Light" pitchFamily="34" charset="-120"/>
              </a:rPr>
              <a:t>A real portfolio matters more than certification</a:t>
            </a:r>
            <a:endParaRPr lang="en-US" sz="1200" dirty="0"/>
          </a:p>
        </p:txBody>
      </p:sp>
      <p:sp>
        <p:nvSpPr>
          <p:cNvPr id="14" name="Shape 8">
            <a:extLst>
              <a:ext uri="{FF2B5EF4-FFF2-40B4-BE49-F238E27FC236}">
                <a16:creationId xmlns:a16="http://schemas.microsoft.com/office/drawing/2014/main" id="{787B5826-EEE4-E230-C666-08B7A6CF2BD0}"/>
              </a:ext>
            </a:extLst>
          </p:cNvPr>
          <p:cNvSpPr/>
          <p:nvPr/>
        </p:nvSpPr>
        <p:spPr>
          <a:xfrm>
            <a:off x="645635" y="3915215"/>
            <a:ext cx="5966132" cy="1263632"/>
          </a:xfrm>
          <a:prstGeom prst="roundRect">
            <a:avLst>
              <a:gd name="adj" fmla="val 3739"/>
            </a:avLst>
          </a:prstGeom>
          <a:solidFill>
            <a:srgbClr val="31136C"/>
          </a:solidFill>
          <a:ln w="4763">
            <a:solidFill>
              <a:srgbClr val="4A2C85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pic>
        <p:nvPicPr>
          <p:cNvPr id="15" name="Image 5" descr="preencoded.png">
            <a:extLst>
              <a:ext uri="{FF2B5EF4-FFF2-40B4-BE49-F238E27FC236}">
                <a16:creationId xmlns:a16="http://schemas.microsoft.com/office/drawing/2014/main" id="{4FCA116C-7CAE-2213-B397-BFD3F85F3A8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1069" y="3986014"/>
            <a:ext cx="513467" cy="513467"/>
          </a:xfrm>
          <a:prstGeom prst="rect">
            <a:avLst/>
          </a:prstGeom>
        </p:spPr>
      </p:pic>
      <p:sp>
        <p:nvSpPr>
          <p:cNvPr id="17" name="Text 9">
            <a:extLst>
              <a:ext uri="{FF2B5EF4-FFF2-40B4-BE49-F238E27FC236}">
                <a16:creationId xmlns:a16="http://schemas.microsoft.com/office/drawing/2014/main" id="{1EA9774F-804B-6B12-904D-59318A7916E3}"/>
              </a:ext>
            </a:extLst>
          </p:cNvPr>
          <p:cNvSpPr/>
          <p:nvPr/>
        </p:nvSpPr>
        <p:spPr>
          <a:xfrm>
            <a:off x="1283369" y="4148353"/>
            <a:ext cx="2282329" cy="3385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Final Message</a:t>
            </a:r>
            <a:endParaRPr lang="en-US" sz="1600" dirty="0"/>
          </a:p>
        </p:txBody>
      </p:sp>
      <p:sp>
        <p:nvSpPr>
          <p:cNvPr id="18" name="Text 10">
            <a:extLst>
              <a:ext uri="{FF2B5EF4-FFF2-40B4-BE49-F238E27FC236}">
                <a16:creationId xmlns:a16="http://schemas.microsoft.com/office/drawing/2014/main" id="{354C7D1C-A80B-2221-14D3-AB75F505EA5C}"/>
              </a:ext>
            </a:extLst>
          </p:cNvPr>
          <p:cNvSpPr/>
          <p:nvPr/>
        </p:nvSpPr>
        <p:spPr>
          <a:xfrm>
            <a:off x="783300" y="4663908"/>
            <a:ext cx="6195054" cy="67143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2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Where you start don’t matter  - keep going. Every small step counts.</a:t>
            </a:r>
            <a:endParaRPr lang="en-US" sz="1200" dirty="0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1382ACED-6132-A599-F136-86F90F0E3C2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32211" y="1252799"/>
            <a:ext cx="2750287" cy="49275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219202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0">
            <a:extLst>
              <a:ext uri="{FF2B5EF4-FFF2-40B4-BE49-F238E27FC236}">
                <a16:creationId xmlns:a16="http://schemas.microsoft.com/office/drawing/2014/main" id="{851F3B73-48A0-58B9-7ED1-7EEF570ACA32}"/>
              </a:ext>
            </a:extLst>
          </p:cNvPr>
          <p:cNvSpPr/>
          <p:nvPr/>
        </p:nvSpPr>
        <p:spPr>
          <a:xfrm>
            <a:off x="2168700" y="520608"/>
            <a:ext cx="7679409" cy="10651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2750" dirty="0">
                <a:solidFill>
                  <a:srgbClr val="FCA019"/>
                </a:solidFill>
                <a:latin typeface="Montserrat" pitchFamily="34" charset="0"/>
              </a:rPr>
              <a:t>CONNECT WITH ME</a:t>
            </a:r>
            <a:endParaRPr lang="en-US" sz="2750" dirty="0">
              <a:solidFill>
                <a:srgbClr val="FCA019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A2E3739-AEC3-9E1B-6385-6D854CDC87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55652" y="1257846"/>
            <a:ext cx="4105506" cy="46331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6328120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316</TotalTime>
  <Words>493</Words>
  <Application>Microsoft Office PowerPoint</Application>
  <PresentationFormat>Widescreen</PresentationFormat>
  <Paragraphs>88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8" baseType="lpstr">
      <vt:lpstr>Amazon Ember</vt:lpstr>
      <vt:lpstr>Aptos</vt:lpstr>
      <vt:lpstr>Aptos Display</vt:lpstr>
      <vt:lpstr>Arial</vt:lpstr>
      <vt:lpstr>Heebo Light</vt:lpstr>
      <vt:lpstr>Montserrat</vt:lpstr>
      <vt:lpstr>Montserrat Light</vt:lpstr>
      <vt:lpstr>Custom Design</vt:lpstr>
      <vt:lpstr>PowerPoint Presentation</vt:lpstr>
      <vt:lpstr>This is not a story about extraordinary success</vt:lpstr>
      <vt:lpstr>Agenda</vt:lpstr>
      <vt:lpstr>From IT Helpdesk to Sysadmin</vt:lpstr>
      <vt:lpstr>Life as a System Admin</vt:lpstr>
      <vt:lpstr>First Cloud Journey — From Sysadmin to Cloud/DevOps</vt:lpstr>
      <vt:lpstr>PowerPoint Presentation</vt:lpstr>
      <vt:lpstr>My Interview Journey with Central Retail Group</vt:lpstr>
      <vt:lpstr>Lessons &amp; Career Advice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Thien Lu Hoan</dc:creator>
  <cp:lastModifiedBy>Tran Vinh</cp:lastModifiedBy>
  <cp:revision>17</cp:revision>
  <dcterms:created xsi:type="dcterms:W3CDTF">2026-02-25T10:51:59Z</dcterms:created>
  <dcterms:modified xsi:type="dcterms:W3CDTF">2026-06-05T01:34:03Z</dcterms:modified>
</cp:coreProperties>
</file>