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HK Modular" charset="1" panose="00000800000000000000"/>
      <p:regular r:id="rId24"/>
    </p:embeddedFont>
    <p:embeddedFont>
      <p:font typeface="Poppins Medium" charset="1" panose="00000600000000000000"/>
      <p:regular r:id="rId25"/>
    </p:embeddedFont>
    <p:embeddedFont>
      <p:font typeface="Poppins" charset="1" panose="00000500000000000000"/>
      <p:regular r:id="rId26"/>
    </p:embeddedFont>
    <p:embeddedFont>
      <p:font typeface="Poppins Bold" charset="1" panose="000008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jpeg" Type="http://schemas.openxmlformats.org/officeDocument/2006/relationships/image"/><Relationship Id="rId7" Target="../media/image9.jpeg" Type="http://schemas.openxmlformats.org/officeDocument/2006/relationships/image"/><Relationship Id="rId8" Target="../media/image10.jpeg" Type="http://schemas.openxmlformats.org/officeDocument/2006/relationships/image"/><Relationship Id="rId9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jpe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8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2.png" Type="http://schemas.openxmlformats.org/officeDocument/2006/relationships/image"/><Relationship Id="rId8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3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8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9.jpe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0.jpeg" Type="http://schemas.openxmlformats.org/officeDocument/2006/relationships/image"/><Relationship Id="rId7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2868" y="3182770"/>
            <a:ext cx="254202" cy="4172430"/>
            <a:chOff x="0" y="0"/>
            <a:chExt cx="66950" cy="109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950" cy="1098912"/>
            </a:xfrm>
            <a:custGeom>
              <a:avLst/>
              <a:gdLst/>
              <a:ahLst/>
              <a:cxnLst/>
              <a:rect r="r" b="b" t="t" l="l"/>
              <a:pathLst>
                <a:path h="1098912" w="66950">
                  <a:moveTo>
                    <a:pt x="0" y="0"/>
                  </a:moveTo>
                  <a:lnTo>
                    <a:pt x="66950" y="0"/>
                  </a:lnTo>
                  <a:lnTo>
                    <a:pt x="66950" y="1098912"/>
                  </a:lnTo>
                  <a:lnTo>
                    <a:pt x="0" y="1098912"/>
                  </a:lnTo>
                  <a:close/>
                </a:path>
              </a:pathLst>
            </a:custGeom>
            <a:gradFill rotWithShape="true">
              <a:gsLst>
                <a:gs pos="0">
                  <a:srgbClr val="00B5F8">
                    <a:alpha val="100000"/>
                  </a:srgbClr>
                </a:gs>
                <a:gs pos="100000">
                  <a:srgbClr val="005F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66950" cy="1156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6454" y="860760"/>
            <a:ext cx="2401230" cy="591303"/>
          </a:xfrm>
          <a:custGeom>
            <a:avLst/>
            <a:gdLst/>
            <a:ahLst/>
            <a:cxnLst/>
            <a:rect r="r" b="b" t="t" l="l"/>
            <a:pathLst>
              <a:path h="591303" w="2401230">
                <a:moveTo>
                  <a:pt x="0" y="0"/>
                </a:moveTo>
                <a:lnTo>
                  <a:pt x="2401230" y="0"/>
                </a:lnTo>
                <a:lnTo>
                  <a:pt x="2401230" y="591302"/>
                </a:lnTo>
                <a:lnTo>
                  <a:pt x="0" y="591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58008" y="3206729"/>
            <a:ext cx="10955081" cy="1546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82"/>
              </a:lnSpc>
            </a:pPr>
            <a:r>
              <a:rPr lang="en-US" sz="111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GRAPHRAG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360542" y="4981575"/>
            <a:ext cx="9908675" cy="188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9"/>
              </a:lnSpc>
            </a:pPr>
            <a:r>
              <a:rPr lang="en-US" sz="2999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GraphRAG applications using Amazon Bedrock and Amazon Neptune</a:t>
            </a:r>
          </a:p>
          <a:p>
            <a:pPr algn="l">
              <a:lnSpc>
                <a:spcPts val="50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510922" y="1038225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54321" y="5650578"/>
            <a:ext cx="8535998" cy="2424254"/>
            <a:chOff x="0" y="0"/>
            <a:chExt cx="2248164" cy="63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8164" cy="638487"/>
            </a:xfrm>
            <a:custGeom>
              <a:avLst/>
              <a:gdLst/>
              <a:ahLst/>
              <a:cxnLst/>
              <a:rect r="r" b="b" t="t" l="l"/>
              <a:pathLst>
                <a:path h="638487" w="2248164">
                  <a:moveTo>
                    <a:pt x="0" y="0"/>
                  </a:moveTo>
                  <a:lnTo>
                    <a:pt x="2248164" y="0"/>
                  </a:lnTo>
                  <a:lnTo>
                    <a:pt x="2248164" y="638487"/>
                  </a:lnTo>
                  <a:lnTo>
                    <a:pt x="0" y="638487"/>
                  </a:lnTo>
                  <a:close/>
                </a:path>
              </a:pathLst>
            </a:custGeom>
            <a:gradFill rotWithShape="true">
              <a:gsLst>
                <a:gs pos="0">
                  <a:srgbClr val="00B5F8">
                    <a:alpha val="100000"/>
                  </a:srgbClr>
                </a:gs>
                <a:gs pos="100000">
                  <a:srgbClr val="005F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248164" cy="695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82293" y="2538295"/>
            <a:ext cx="4920242" cy="492024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-24906" t="0" r="-2490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0" y="3108836"/>
            <a:ext cx="7398285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WELCOME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4346113"/>
            <a:ext cx="8115300" cy="1050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Viet Phat</a:t>
            </a:r>
          </a:p>
          <a:p>
            <a:pPr algn="just" marL="0" indent="0" lvl="0">
              <a:lnSpc>
                <a:spcPts val="42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majoring at Swinburne University of Technology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10552" y="-414840"/>
            <a:ext cx="8360305" cy="11116680"/>
            <a:chOff x="0" y="0"/>
            <a:chExt cx="1295230" cy="172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95230" cy="1722265"/>
            </a:xfrm>
            <a:custGeom>
              <a:avLst/>
              <a:gdLst/>
              <a:ahLst/>
              <a:cxnLst/>
              <a:rect r="r" b="b" t="t" l="l"/>
              <a:pathLst>
                <a:path h="1722265" w="1295230">
                  <a:moveTo>
                    <a:pt x="0" y="0"/>
                  </a:moveTo>
                  <a:lnTo>
                    <a:pt x="1295230" y="0"/>
                  </a:lnTo>
                  <a:lnTo>
                    <a:pt x="1295230" y="1722265"/>
                  </a:lnTo>
                  <a:lnTo>
                    <a:pt x="0" y="1722265"/>
                  </a:lnTo>
                  <a:close/>
                </a:path>
              </a:pathLst>
            </a:custGeom>
            <a:blipFill>
              <a:blip r:embed="rId4"/>
              <a:stretch>
                <a:fillRect l="-49602" t="0" r="-4960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76001" y="2452469"/>
            <a:ext cx="12616338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AGENDA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876001" y="4504651"/>
            <a:ext cx="13754052" cy="3728768"/>
            <a:chOff x="0" y="0"/>
            <a:chExt cx="3622466" cy="9820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22466" cy="982062"/>
            </a:xfrm>
            <a:custGeom>
              <a:avLst/>
              <a:gdLst/>
              <a:ahLst/>
              <a:cxnLst/>
              <a:rect r="r" b="b" t="t" l="l"/>
              <a:pathLst>
                <a:path h="982062" w="3622466">
                  <a:moveTo>
                    <a:pt x="0" y="0"/>
                  </a:moveTo>
                  <a:lnTo>
                    <a:pt x="3622466" y="0"/>
                  </a:lnTo>
                  <a:lnTo>
                    <a:pt x="3622466" y="982062"/>
                  </a:lnTo>
                  <a:lnTo>
                    <a:pt x="0" y="982062"/>
                  </a:lnTo>
                  <a:close/>
                </a:path>
              </a:pathLst>
            </a:custGeom>
            <a:gradFill rotWithShape="true">
              <a:gsLst>
                <a:gs pos="0">
                  <a:srgbClr val="0192C8">
                    <a:alpha val="100000"/>
                  </a:srgbClr>
                </a:gs>
                <a:gs pos="100000">
                  <a:srgbClr val="013A5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622466" cy="1039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88297" y="4698865"/>
            <a:ext cx="10466200" cy="3235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9956" indent="-394978" lvl="1">
              <a:lnSpc>
                <a:spcPts val="5122"/>
              </a:lnSpc>
              <a:buAutoNum type="arabicPeriod" startAt="1"/>
            </a:pPr>
            <a:r>
              <a:rPr lang="en-US" b="true" sz="36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Introduction to RAG </a:t>
            </a:r>
          </a:p>
          <a:p>
            <a:pPr algn="l" marL="789956" indent="-394978" lvl="1">
              <a:lnSpc>
                <a:spcPts val="5122"/>
              </a:lnSpc>
              <a:buAutoNum type="arabicPeriod" startAt="1"/>
            </a:pPr>
            <a:r>
              <a:rPr lang="en-US" b="true" sz="36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Explore GraphRAG</a:t>
            </a:r>
          </a:p>
          <a:p>
            <a:pPr algn="l" marL="789956" indent="-394978" lvl="1">
              <a:lnSpc>
                <a:spcPts val="5122"/>
              </a:lnSpc>
              <a:buAutoNum type="arabicPeriod" startAt="1"/>
            </a:pPr>
            <a:r>
              <a:rPr lang="en-US" b="true" sz="36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Building the GraphRAG solution with Amazon Bedrock and Neptune </a:t>
            </a:r>
          </a:p>
          <a:p>
            <a:pPr algn="l" marL="789956" indent="-394978" lvl="1">
              <a:lnSpc>
                <a:spcPts val="5122"/>
              </a:lnSpc>
              <a:spcBef>
                <a:spcPct val="0"/>
              </a:spcBef>
              <a:buAutoNum type="arabicPeriod" startAt="1"/>
            </a:pPr>
            <a:r>
              <a:rPr lang="en-US" b="true" sz="365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527746" y="8724487"/>
            <a:ext cx="2431512" cy="693679"/>
            <a:chOff x="0" y="0"/>
            <a:chExt cx="5285044" cy="15077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285044" cy="1507754"/>
            </a:xfrm>
            <a:custGeom>
              <a:avLst/>
              <a:gdLst/>
              <a:ahLst/>
              <a:cxnLst/>
              <a:rect r="r" b="b" t="t" l="l"/>
              <a:pathLst>
                <a:path h="1507754" w="5285044">
                  <a:moveTo>
                    <a:pt x="0" y="0"/>
                  </a:moveTo>
                  <a:lnTo>
                    <a:pt x="5285044" y="0"/>
                  </a:lnTo>
                  <a:lnTo>
                    <a:pt x="5285044" y="1507754"/>
                  </a:lnTo>
                  <a:lnTo>
                    <a:pt x="0" y="1507754"/>
                  </a:lnTo>
                  <a:close/>
                </a:path>
              </a:pathLst>
            </a:custGeom>
            <a:ln w="19050" cap="sq">
              <a:solidFill>
                <a:srgbClr val="00B5F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285044" cy="1564904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69893" y="2404167"/>
            <a:ext cx="5783396" cy="2464439"/>
            <a:chOff x="0" y="0"/>
            <a:chExt cx="1009960" cy="4303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9960" cy="430367"/>
            </a:xfrm>
            <a:custGeom>
              <a:avLst/>
              <a:gdLst/>
              <a:ahLst/>
              <a:cxnLst/>
              <a:rect r="r" b="b" t="t" l="l"/>
              <a:pathLst>
                <a:path h="430367" w="1009960">
                  <a:moveTo>
                    <a:pt x="0" y="0"/>
                  </a:moveTo>
                  <a:lnTo>
                    <a:pt x="1009960" y="0"/>
                  </a:lnTo>
                  <a:lnTo>
                    <a:pt x="1009960" y="430367"/>
                  </a:lnTo>
                  <a:lnTo>
                    <a:pt x="0" y="430367"/>
                  </a:lnTo>
                  <a:close/>
                </a:path>
              </a:pathLst>
            </a:custGeom>
            <a:blipFill>
              <a:blip r:embed="rId6"/>
              <a:stretch>
                <a:fillRect l="0" t="-28175" r="0" b="-2817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60848" y="5260545"/>
            <a:ext cx="2792442" cy="2622288"/>
            <a:chOff x="0" y="0"/>
            <a:chExt cx="865541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5541" cy="812800"/>
            </a:xfrm>
            <a:custGeom>
              <a:avLst/>
              <a:gdLst/>
              <a:ahLst/>
              <a:cxnLst/>
              <a:rect r="r" b="b" t="t" l="l"/>
              <a:pathLst>
                <a:path h="812800" w="865541">
                  <a:moveTo>
                    <a:pt x="0" y="0"/>
                  </a:moveTo>
                  <a:lnTo>
                    <a:pt x="865541" y="0"/>
                  </a:lnTo>
                  <a:lnTo>
                    <a:pt x="865541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7"/>
              <a:stretch>
                <a:fillRect l="-20407" t="0" r="-20407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969893" y="5260545"/>
            <a:ext cx="2835771" cy="2622288"/>
          </a:xfrm>
          <a:custGeom>
            <a:avLst/>
            <a:gdLst/>
            <a:ahLst/>
            <a:cxnLst/>
            <a:rect r="r" b="b" t="t" l="l"/>
            <a:pathLst>
              <a:path h="2622288" w="2835771">
                <a:moveTo>
                  <a:pt x="0" y="0"/>
                </a:moveTo>
                <a:lnTo>
                  <a:pt x="2835772" y="0"/>
                </a:lnTo>
                <a:lnTo>
                  <a:pt x="2835772" y="2622288"/>
                </a:lnTo>
                <a:lnTo>
                  <a:pt x="0" y="26222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402" t="-4274" r="-17914" b="-708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2708746"/>
            <a:ext cx="8143980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WHAT IS RAG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4206875"/>
            <a:ext cx="7122562" cy="318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4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RAG</a:t>
            </a:r>
            <a:r>
              <a:rPr lang="en-US" b="true" sz="24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augments an LLM with external knowledge at runtime by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retrieving</a:t>
            </a:r>
            <a:r>
              <a:rPr lang="en-US" b="true" sz="24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relevant passages from a knowledge base and injecting them into the prompt so the LLM 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generates</a:t>
            </a:r>
            <a:r>
              <a:rPr lang="en-US" b="true" sz="2499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answers grounded in that context.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527746" y="8796688"/>
            <a:ext cx="2431512" cy="42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Read More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08069" y="1802430"/>
            <a:ext cx="11671862" cy="6682141"/>
          </a:xfrm>
          <a:custGeom>
            <a:avLst/>
            <a:gdLst/>
            <a:ahLst/>
            <a:cxnLst/>
            <a:rect r="r" b="b" t="t" l="l"/>
            <a:pathLst>
              <a:path h="6682141" w="11671862">
                <a:moveTo>
                  <a:pt x="0" y="0"/>
                </a:moveTo>
                <a:lnTo>
                  <a:pt x="11671862" y="0"/>
                </a:lnTo>
                <a:lnTo>
                  <a:pt x="11671862" y="6682140"/>
                </a:lnTo>
                <a:lnTo>
                  <a:pt x="0" y="66821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36254" y="8525577"/>
            <a:ext cx="1543677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Nvidia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535917" y="3375167"/>
            <a:ext cx="8487309" cy="4448073"/>
            <a:chOff x="0" y="0"/>
            <a:chExt cx="2235341" cy="11715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35341" cy="1171509"/>
            </a:xfrm>
            <a:custGeom>
              <a:avLst/>
              <a:gdLst/>
              <a:ahLst/>
              <a:cxnLst/>
              <a:rect r="r" b="b" t="t" l="l"/>
              <a:pathLst>
                <a:path h="1171509" w="2235341">
                  <a:moveTo>
                    <a:pt x="0" y="0"/>
                  </a:moveTo>
                  <a:lnTo>
                    <a:pt x="2235341" y="0"/>
                  </a:lnTo>
                  <a:lnTo>
                    <a:pt x="2235341" y="1171509"/>
                  </a:lnTo>
                  <a:lnTo>
                    <a:pt x="0" y="1171509"/>
                  </a:lnTo>
                  <a:close/>
                </a:path>
              </a:pathLst>
            </a:custGeom>
            <a:solidFill>
              <a:srgbClr val="18181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35341" cy="12286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5082" y="3375167"/>
            <a:ext cx="8487309" cy="4448073"/>
            <a:chOff x="0" y="0"/>
            <a:chExt cx="1079293" cy="5656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293" cy="565641"/>
            </a:xfrm>
            <a:custGeom>
              <a:avLst/>
              <a:gdLst/>
              <a:ahLst/>
              <a:cxnLst/>
              <a:rect r="r" b="b" t="t" l="l"/>
              <a:pathLst>
                <a:path h="565641" w="1079293">
                  <a:moveTo>
                    <a:pt x="0" y="0"/>
                  </a:moveTo>
                  <a:lnTo>
                    <a:pt x="1079293" y="0"/>
                  </a:lnTo>
                  <a:lnTo>
                    <a:pt x="1079293" y="565641"/>
                  </a:lnTo>
                  <a:lnTo>
                    <a:pt x="0" y="565641"/>
                  </a:lnTo>
                  <a:close/>
                </a:path>
              </a:pathLst>
            </a:custGeom>
            <a:blipFill>
              <a:blip r:embed="rId6"/>
              <a:stretch>
                <a:fillRect l="-925" t="0" r="-92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50414" y="1887997"/>
            <a:ext cx="10787173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LIMITATION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76206" y="4070474"/>
            <a:ext cx="7606732" cy="294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8"/>
              </a:lnSpc>
              <a:spcBef>
                <a:spcPct val="0"/>
              </a:spcBef>
            </a:pPr>
            <a:r>
              <a:rPr lang="en-US" sz="4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is the company headquartered that was acquired by the company founded by Jeff Bezos 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89769" y="-444948"/>
            <a:ext cx="4555963" cy="11116680"/>
            <a:chOff x="0" y="0"/>
            <a:chExt cx="705838" cy="17222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5838" cy="1722265"/>
            </a:xfrm>
            <a:custGeom>
              <a:avLst/>
              <a:gdLst/>
              <a:ahLst/>
              <a:cxnLst/>
              <a:rect r="r" b="b" t="t" l="l"/>
              <a:pathLst>
                <a:path h="1722265" w="705838">
                  <a:moveTo>
                    <a:pt x="0" y="0"/>
                  </a:moveTo>
                  <a:lnTo>
                    <a:pt x="705838" y="0"/>
                  </a:lnTo>
                  <a:lnTo>
                    <a:pt x="705838" y="1722265"/>
                  </a:lnTo>
                  <a:lnTo>
                    <a:pt x="0" y="1722265"/>
                  </a:lnTo>
                  <a:close/>
                </a:path>
              </a:pathLst>
            </a:custGeom>
            <a:blipFill>
              <a:blip r:embed="rId6"/>
              <a:stretch>
                <a:fillRect l="-31283" t="0" r="-31283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41433" y="2225782"/>
            <a:ext cx="961028" cy="961028"/>
            <a:chOff x="0" y="0"/>
            <a:chExt cx="1418276" cy="14182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8276" cy="1418276"/>
            </a:xfrm>
            <a:custGeom>
              <a:avLst/>
              <a:gdLst/>
              <a:ahLst/>
              <a:cxnLst/>
              <a:rect r="r" b="b" t="t" l="l"/>
              <a:pathLst>
                <a:path h="1418276" w="1418276">
                  <a:moveTo>
                    <a:pt x="0" y="0"/>
                  </a:moveTo>
                  <a:lnTo>
                    <a:pt x="1418276" y="0"/>
                  </a:lnTo>
                  <a:lnTo>
                    <a:pt x="1418276" y="1418276"/>
                  </a:lnTo>
                  <a:lnTo>
                    <a:pt x="0" y="1418276"/>
                  </a:lnTo>
                  <a:close/>
                </a:path>
              </a:pathLst>
            </a:custGeom>
            <a:gradFill rotWithShape="true">
              <a:gsLst>
                <a:gs pos="0">
                  <a:srgbClr val="00B5F8">
                    <a:alpha val="100000"/>
                  </a:srgbClr>
                </a:gs>
                <a:gs pos="100000">
                  <a:srgbClr val="005F8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28600"/>
              <a:ext cx="1418276" cy="164687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13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41433" y="5429250"/>
            <a:ext cx="961028" cy="961028"/>
            <a:chOff x="0" y="0"/>
            <a:chExt cx="1418276" cy="14182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18276" cy="1418276"/>
            </a:xfrm>
            <a:custGeom>
              <a:avLst/>
              <a:gdLst/>
              <a:ahLst/>
              <a:cxnLst/>
              <a:rect r="r" b="b" t="t" l="l"/>
              <a:pathLst>
                <a:path h="1418276" w="1418276">
                  <a:moveTo>
                    <a:pt x="0" y="0"/>
                  </a:moveTo>
                  <a:lnTo>
                    <a:pt x="1418276" y="0"/>
                  </a:lnTo>
                  <a:lnTo>
                    <a:pt x="1418276" y="1418276"/>
                  </a:lnTo>
                  <a:lnTo>
                    <a:pt x="0" y="1418276"/>
                  </a:lnTo>
                  <a:close/>
                </a:path>
              </a:pathLst>
            </a:custGeom>
            <a:gradFill rotWithShape="true">
              <a:gsLst>
                <a:gs pos="0">
                  <a:srgbClr val="00B5F8">
                    <a:alpha val="100000"/>
                  </a:srgbClr>
                </a:gs>
                <a:gs pos="100000">
                  <a:srgbClr val="005F82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28600"/>
              <a:ext cx="1418276" cy="164687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1134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445411" y="2439314"/>
            <a:ext cx="553070" cy="533964"/>
          </a:xfrm>
          <a:custGeom>
            <a:avLst/>
            <a:gdLst/>
            <a:ahLst/>
            <a:cxnLst/>
            <a:rect r="r" b="b" t="t" l="l"/>
            <a:pathLst>
              <a:path h="533964" w="553070">
                <a:moveTo>
                  <a:pt x="0" y="0"/>
                </a:moveTo>
                <a:lnTo>
                  <a:pt x="553071" y="0"/>
                </a:lnTo>
                <a:lnTo>
                  <a:pt x="553071" y="533964"/>
                </a:lnTo>
                <a:lnTo>
                  <a:pt x="0" y="5339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45411" y="5644946"/>
            <a:ext cx="553359" cy="529635"/>
          </a:xfrm>
          <a:custGeom>
            <a:avLst/>
            <a:gdLst/>
            <a:ahLst/>
            <a:cxnLst/>
            <a:rect r="r" b="b" t="t" l="l"/>
            <a:pathLst>
              <a:path h="529635" w="553359">
                <a:moveTo>
                  <a:pt x="0" y="0"/>
                </a:moveTo>
                <a:lnTo>
                  <a:pt x="553359" y="0"/>
                </a:lnTo>
                <a:lnTo>
                  <a:pt x="553359" y="529635"/>
                </a:lnTo>
                <a:lnTo>
                  <a:pt x="0" y="5296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3018" y="3203371"/>
            <a:ext cx="4515278" cy="244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GRAPH</a:t>
            </a:r>
          </a:p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RAG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94971" y="2531172"/>
            <a:ext cx="4853082" cy="211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Multi-hop Reasoning</a:t>
            </a:r>
          </a:p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Uses graph traversal to follow relationships across multiple entities and documents.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494971" y="2178157"/>
            <a:ext cx="14620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7C5FB"/>
                </a:solidFill>
                <a:latin typeface="Poppins Bold"/>
                <a:ea typeface="Poppins Bold"/>
                <a:cs typeface="Poppins Bold"/>
                <a:sym typeface="Poppins Bold"/>
              </a:rPr>
              <a:t>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94971" y="5734640"/>
            <a:ext cx="4853082" cy="158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elationship Awareness</a:t>
            </a:r>
          </a:p>
          <a:p>
            <a:pPr algn="just">
              <a:lnSpc>
                <a:spcPts val="4249"/>
              </a:lnSpc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Relationships are explicitly stored through the edges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94971" y="5381625"/>
            <a:ext cx="146207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7C5FB"/>
                </a:solidFill>
                <a:latin typeface="Poppins Bold"/>
                <a:ea typeface="Poppins Bold"/>
                <a:cs typeface="Poppins Bold"/>
                <a:sym typeface="Poppins Bold"/>
              </a:rPr>
              <a:t> 2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9258300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9317841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56345" y="1531879"/>
            <a:ext cx="13175310" cy="7559123"/>
          </a:xfrm>
          <a:custGeom>
            <a:avLst/>
            <a:gdLst/>
            <a:ahLst/>
            <a:cxnLst/>
            <a:rect r="r" b="b" t="t" l="l"/>
            <a:pathLst>
              <a:path h="7559123" w="13175310">
                <a:moveTo>
                  <a:pt x="0" y="0"/>
                </a:moveTo>
                <a:lnTo>
                  <a:pt x="13175310" y="0"/>
                </a:lnTo>
                <a:lnTo>
                  <a:pt x="13175310" y="7559124"/>
                </a:lnTo>
                <a:lnTo>
                  <a:pt x="0" y="7559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98" t="0" r="-998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72868" y="9237312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62083" y="9237312"/>
            <a:ext cx="346957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Amazon Web Services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5082" y="3375167"/>
            <a:ext cx="8487309" cy="4992899"/>
            <a:chOff x="0" y="0"/>
            <a:chExt cx="1079293" cy="6349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293" cy="634924"/>
            </a:xfrm>
            <a:custGeom>
              <a:avLst/>
              <a:gdLst/>
              <a:ahLst/>
              <a:cxnLst/>
              <a:rect r="r" b="b" t="t" l="l"/>
              <a:pathLst>
                <a:path h="634924" w="1079293">
                  <a:moveTo>
                    <a:pt x="0" y="0"/>
                  </a:moveTo>
                  <a:lnTo>
                    <a:pt x="1079293" y="0"/>
                  </a:lnTo>
                  <a:lnTo>
                    <a:pt x="1079293" y="634924"/>
                  </a:lnTo>
                  <a:lnTo>
                    <a:pt x="0" y="634924"/>
                  </a:lnTo>
                  <a:close/>
                </a:path>
              </a:pathLst>
            </a:custGeom>
            <a:blipFill>
              <a:blip r:embed="rId6"/>
              <a:stretch>
                <a:fillRect l="0" t="-3189" r="0" b="-318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299665" y="3375167"/>
            <a:ext cx="8487309" cy="4992899"/>
            <a:chOff x="0" y="0"/>
            <a:chExt cx="1079293" cy="6349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293" cy="634924"/>
            </a:xfrm>
            <a:custGeom>
              <a:avLst/>
              <a:gdLst/>
              <a:ahLst/>
              <a:cxnLst/>
              <a:rect r="r" b="b" t="t" l="l"/>
              <a:pathLst>
                <a:path h="634924" w="1079293">
                  <a:moveTo>
                    <a:pt x="0" y="0"/>
                  </a:moveTo>
                  <a:lnTo>
                    <a:pt x="1079293" y="0"/>
                  </a:lnTo>
                  <a:lnTo>
                    <a:pt x="1079293" y="634924"/>
                  </a:lnTo>
                  <a:lnTo>
                    <a:pt x="0" y="634924"/>
                  </a:lnTo>
                  <a:close/>
                </a:path>
              </a:pathLst>
            </a:custGeom>
            <a:blipFill>
              <a:blip r:embed="rId7"/>
              <a:stretch>
                <a:fillRect l="0" t="-3540" r="0" b="-354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50414" y="1887997"/>
            <a:ext cx="10787173" cy="98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APPROACHES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10552" y="-414840"/>
            <a:ext cx="4959901" cy="11116680"/>
            <a:chOff x="0" y="0"/>
            <a:chExt cx="768418" cy="172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8418" cy="1722265"/>
            </a:xfrm>
            <a:custGeom>
              <a:avLst/>
              <a:gdLst/>
              <a:ahLst/>
              <a:cxnLst/>
              <a:rect r="r" b="b" t="t" l="l"/>
              <a:pathLst>
                <a:path h="1722265" w="768418">
                  <a:moveTo>
                    <a:pt x="0" y="0"/>
                  </a:moveTo>
                  <a:lnTo>
                    <a:pt x="768418" y="0"/>
                  </a:lnTo>
                  <a:lnTo>
                    <a:pt x="768418" y="1722265"/>
                  </a:lnTo>
                  <a:lnTo>
                    <a:pt x="0" y="1722265"/>
                  </a:lnTo>
                  <a:close/>
                </a:path>
              </a:pathLst>
            </a:custGeom>
            <a:blipFill>
              <a:blip r:embed="rId4"/>
              <a:stretch>
                <a:fillRect l="-24663" t="0" r="-2466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316897" y="3664177"/>
            <a:ext cx="11999553" cy="5939779"/>
          </a:xfrm>
          <a:custGeom>
            <a:avLst/>
            <a:gdLst/>
            <a:ahLst/>
            <a:cxnLst/>
            <a:rect r="r" b="b" t="t" l="l"/>
            <a:pathLst>
              <a:path h="5939779" w="11999553">
                <a:moveTo>
                  <a:pt x="0" y="0"/>
                </a:moveTo>
                <a:lnTo>
                  <a:pt x="11999553" y="0"/>
                </a:lnTo>
                <a:lnTo>
                  <a:pt x="11999553" y="5939779"/>
                </a:lnTo>
                <a:lnTo>
                  <a:pt x="0" y="59397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49629"/>
            <a:ext cx="15391484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FULLY MANAGED ROUTE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46878" y="9704305"/>
            <a:ext cx="3469572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Amazon Web Services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949629"/>
            <a:ext cx="15391484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FULLY MANAGED ROUTE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848279"/>
            <a:ext cx="13794224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Amazon Bedrock Knowledge Bases: This is the managed GraphRAG engine that allows: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Chunk,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Entity extraction,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Embeddings generation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Amazon Neptune Analytics: This is the Graph brain of the system that focuses: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Graph storage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Constructed graph data (nodes, edges)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Relationship discovery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59704" y="2961412"/>
            <a:ext cx="11999553" cy="6539756"/>
          </a:xfrm>
          <a:custGeom>
            <a:avLst/>
            <a:gdLst/>
            <a:ahLst/>
            <a:cxnLst/>
            <a:rect r="r" b="b" t="t" l="l"/>
            <a:pathLst>
              <a:path h="6539756" w="11999553">
                <a:moveTo>
                  <a:pt x="0" y="0"/>
                </a:moveTo>
                <a:lnTo>
                  <a:pt x="11999553" y="0"/>
                </a:lnTo>
                <a:lnTo>
                  <a:pt x="11999553" y="6539757"/>
                </a:lnTo>
                <a:lnTo>
                  <a:pt x="0" y="65397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67587"/>
            <a:ext cx="15391484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FULLY MANAGED ROUTE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05136" y="9634519"/>
            <a:ext cx="3354121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Amazon Web Services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10552" y="-414840"/>
            <a:ext cx="4959901" cy="11116680"/>
            <a:chOff x="0" y="0"/>
            <a:chExt cx="768418" cy="17222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8418" cy="1722265"/>
            </a:xfrm>
            <a:custGeom>
              <a:avLst/>
              <a:gdLst/>
              <a:ahLst/>
              <a:cxnLst/>
              <a:rect r="r" b="b" t="t" l="l"/>
              <a:pathLst>
                <a:path h="1722265" w="768418">
                  <a:moveTo>
                    <a:pt x="0" y="0"/>
                  </a:moveTo>
                  <a:lnTo>
                    <a:pt x="768418" y="0"/>
                  </a:lnTo>
                  <a:lnTo>
                    <a:pt x="768418" y="1722265"/>
                  </a:lnTo>
                  <a:lnTo>
                    <a:pt x="0" y="1722265"/>
                  </a:lnTo>
                  <a:close/>
                </a:path>
              </a:pathLst>
            </a:custGeom>
            <a:blipFill>
              <a:blip r:embed="rId4"/>
              <a:stretch>
                <a:fillRect l="-24663" t="0" r="-2466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088297" y="3842207"/>
            <a:ext cx="12228153" cy="5747232"/>
          </a:xfrm>
          <a:custGeom>
            <a:avLst/>
            <a:gdLst/>
            <a:ahLst/>
            <a:cxnLst/>
            <a:rect r="r" b="b" t="t" l="l"/>
            <a:pathLst>
              <a:path h="5747232" w="12228153">
                <a:moveTo>
                  <a:pt x="0" y="0"/>
                </a:moveTo>
                <a:lnTo>
                  <a:pt x="12228153" y="0"/>
                </a:lnTo>
                <a:lnTo>
                  <a:pt x="12228153" y="5747232"/>
                </a:lnTo>
                <a:lnTo>
                  <a:pt x="0" y="57472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75382" y="7155163"/>
            <a:ext cx="3214612" cy="584475"/>
          </a:xfrm>
          <a:custGeom>
            <a:avLst/>
            <a:gdLst/>
            <a:ahLst/>
            <a:cxnLst/>
            <a:rect r="r" b="b" t="t" l="l"/>
            <a:pathLst>
              <a:path h="584475" w="3214612">
                <a:moveTo>
                  <a:pt x="0" y="0"/>
                </a:moveTo>
                <a:lnTo>
                  <a:pt x="3214612" y="0"/>
                </a:lnTo>
                <a:lnTo>
                  <a:pt x="3214612" y="584475"/>
                </a:lnTo>
                <a:lnTo>
                  <a:pt x="0" y="58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949629"/>
            <a:ext cx="15391484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CUSTOM ROUTE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57491" y="9704305"/>
            <a:ext cx="335895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Amazon Web Services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060223" y="8486851"/>
            <a:ext cx="3214612" cy="584475"/>
          </a:xfrm>
          <a:custGeom>
            <a:avLst/>
            <a:gdLst/>
            <a:ahLst/>
            <a:cxnLst/>
            <a:rect r="r" b="b" t="t" l="l"/>
            <a:pathLst>
              <a:path h="584475" w="3214612">
                <a:moveTo>
                  <a:pt x="0" y="0"/>
                </a:moveTo>
                <a:lnTo>
                  <a:pt x="3214612" y="0"/>
                </a:lnTo>
                <a:lnTo>
                  <a:pt x="3214612" y="584475"/>
                </a:lnTo>
                <a:lnTo>
                  <a:pt x="0" y="5844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949629"/>
            <a:ext cx="15391484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CUSTOM ROUTE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848279"/>
            <a:ext cx="13214866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 Processing Pipeline: LLamaindex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Data preparation,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Knowledge graph construction,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Amazon Neptune: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Store the Knowledge Graph.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Multi-hop traversal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 Cypher Query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08020" y="3170962"/>
            <a:ext cx="11301259" cy="6286325"/>
          </a:xfrm>
          <a:custGeom>
            <a:avLst/>
            <a:gdLst/>
            <a:ahLst/>
            <a:cxnLst/>
            <a:rect r="r" b="b" t="t" l="l"/>
            <a:pathLst>
              <a:path h="6286325" w="11301259">
                <a:moveTo>
                  <a:pt x="0" y="0"/>
                </a:moveTo>
                <a:lnTo>
                  <a:pt x="11301259" y="0"/>
                </a:lnTo>
                <a:lnTo>
                  <a:pt x="11301259" y="6286325"/>
                </a:lnTo>
                <a:lnTo>
                  <a:pt x="0" y="628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567587"/>
            <a:ext cx="15391484" cy="1203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CUSTOM ROUTE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56053" y="9634519"/>
            <a:ext cx="3403204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Amazon Web Services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06728" y="5143500"/>
            <a:ext cx="18894728" cy="5812634"/>
            <a:chOff x="0" y="0"/>
            <a:chExt cx="4976389" cy="153089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76389" cy="1530899"/>
            </a:xfrm>
            <a:custGeom>
              <a:avLst/>
              <a:gdLst/>
              <a:ahLst/>
              <a:cxnLst/>
              <a:rect r="r" b="b" t="t" l="l"/>
              <a:pathLst>
                <a:path h="1530899" w="4976389">
                  <a:moveTo>
                    <a:pt x="0" y="0"/>
                  </a:moveTo>
                  <a:lnTo>
                    <a:pt x="4976389" y="0"/>
                  </a:lnTo>
                  <a:lnTo>
                    <a:pt x="4976389" y="1530899"/>
                  </a:lnTo>
                  <a:lnTo>
                    <a:pt x="0" y="1530899"/>
                  </a:lnTo>
                  <a:close/>
                </a:path>
              </a:pathLst>
            </a:custGeom>
            <a:gradFill rotWithShape="true">
              <a:gsLst>
                <a:gs pos="0">
                  <a:srgbClr val="0192C8">
                    <a:alpha val="100000"/>
                  </a:srgbClr>
                </a:gs>
                <a:gs pos="100000">
                  <a:srgbClr val="013A5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976389" cy="1588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77622" y="1724614"/>
            <a:ext cx="13332755" cy="6799705"/>
          </a:xfrm>
          <a:custGeom>
            <a:avLst/>
            <a:gdLst/>
            <a:ahLst/>
            <a:cxnLst/>
            <a:rect r="r" b="b" t="t" l="l"/>
            <a:pathLst>
              <a:path h="6799705" w="13332755">
                <a:moveTo>
                  <a:pt x="0" y="0"/>
                </a:moveTo>
                <a:lnTo>
                  <a:pt x="13332756" y="0"/>
                </a:lnTo>
                <a:lnTo>
                  <a:pt x="13332756" y="6799705"/>
                </a:lnTo>
                <a:lnTo>
                  <a:pt x="0" y="67997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06278" y="8585118"/>
            <a:ext cx="320410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Ref: Amazon Web Service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8241" y="2463026"/>
            <a:ext cx="7258774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Q&amp;A SECTION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494778" y="3704812"/>
            <a:ext cx="7764522" cy="4453636"/>
            <a:chOff x="0" y="0"/>
            <a:chExt cx="7981950" cy="457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6"/>
              <a:stretch>
                <a:fillRect l="-5630" t="0" r="-563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7309D">
                <a:alpha val="100000"/>
              </a:srgbClr>
            </a:gs>
            <a:gs pos="100000">
              <a:srgbClr val="030B42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59257" y="1006390"/>
            <a:ext cx="300043" cy="300043"/>
          </a:xfrm>
          <a:custGeom>
            <a:avLst/>
            <a:gdLst/>
            <a:ahLst/>
            <a:cxnLst/>
            <a:rect r="r" b="b" t="t" l="l"/>
            <a:pathLst>
              <a:path h="300043" w="300043">
                <a:moveTo>
                  <a:pt x="0" y="0"/>
                </a:moveTo>
                <a:lnTo>
                  <a:pt x="300043" y="0"/>
                </a:lnTo>
                <a:lnTo>
                  <a:pt x="300043" y="300042"/>
                </a:lnTo>
                <a:lnTo>
                  <a:pt x="0" y="3000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884352"/>
            <a:ext cx="373948" cy="37394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B5F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anchor="ctr" rtlCol="false" tIns="37147" lIns="37147" bIns="37147" rIns="37147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88241" y="8943893"/>
            <a:ext cx="254865" cy="254865"/>
          </a:xfrm>
          <a:custGeom>
            <a:avLst/>
            <a:gdLst/>
            <a:ahLst/>
            <a:cxnLst/>
            <a:rect r="r" b="b" t="t" l="l"/>
            <a:pathLst>
              <a:path h="254865" w="254865">
                <a:moveTo>
                  <a:pt x="0" y="0"/>
                </a:moveTo>
                <a:lnTo>
                  <a:pt x="254866" y="0"/>
                </a:lnTo>
                <a:lnTo>
                  <a:pt x="254866" y="254866"/>
                </a:lnTo>
                <a:lnTo>
                  <a:pt x="0" y="254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72868" y="8863363"/>
            <a:ext cx="351542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689159" y="2578342"/>
            <a:ext cx="19584093" cy="2422283"/>
            <a:chOff x="0" y="0"/>
            <a:chExt cx="3235197" cy="4001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35197" cy="400149"/>
            </a:xfrm>
            <a:custGeom>
              <a:avLst/>
              <a:gdLst/>
              <a:ahLst/>
              <a:cxnLst/>
              <a:rect r="r" b="b" t="t" l="l"/>
              <a:pathLst>
                <a:path h="400149" w="3235197">
                  <a:moveTo>
                    <a:pt x="0" y="0"/>
                  </a:moveTo>
                  <a:lnTo>
                    <a:pt x="3235197" y="0"/>
                  </a:lnTo>
                  <a:lnTo>
                    <a:pt x="3235197" y="400149"/>
                  </a:lnTo>
                  <a:lnTo>
                    <a:pt x="0" y="400149"/>
                  </a:lnTo>
                  <a:close/>
                </a:path>
              </a:pathLst>
            </a:custGeom>
            <a:blipFill>
              <a:blip r:embed="rId6"/>
              <a:stretch>
                <a:fillRect l="0" t="-219330" r="0" b="-21933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302632" y="5534025"/>
            <a:ext cx="11682737" cy="154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2"/>
              </a:lnSpc>
            </a:pPr>
            <a:r>
              <a:rPr lang="en-US" sz="1110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THANK YOU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03590" y="860760"/>
            <a:ext cx="2224094" cy="547683"/>
          </a:xfrm>
          <a:custGeom>
            <a:avLst/>
            <a:gdLst/>
            <a:ahLst/>
            <a:cxnLst/>
            <a:rect r="r" b="b" t="t" l="l"/>
            <a:pathLst>
              <a:path h="547683" w="2224094">
                <a:moveTo>
                  <a:pt x="0" y="0"/>
                </a:moveTo>
                <a:lnTo>
                  <a:pt x="2224094" y="0"/>
                </a:lnTo>
                <a:lnTo>
                  <a:pt x="2224094" y="547683"/>
                </a:lnTo>
                <a:lnTo>
                  <a:pt x="0" y="5476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413678" y="994266"/>
            <a:ext cx="5443312" cy="2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0"/>
              </a:lnSpc>
            </a:pP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Fi</a:t>
            </a:r>
            <a:r>
              <a:rPr lang="en-US" sz="20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RST CLOUD JOURNEY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DAHLr3_gjJk</dc:identifier>
  <dcterms:modified xsi:type="dcterms:W3CDTF">2011-08-01T06:04:30Z</dcterms:modified>
  <cp:revision>1</cp:revision>
  <dc:title>Blue Futuristic Tech Company Presentation</dc:title>
</cp:coreProperties>
</file>