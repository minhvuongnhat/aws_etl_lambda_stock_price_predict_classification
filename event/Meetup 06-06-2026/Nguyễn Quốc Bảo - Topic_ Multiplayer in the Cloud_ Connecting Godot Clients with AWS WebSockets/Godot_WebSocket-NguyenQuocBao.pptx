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60" r:id="rId6"/>
    <p:sldId id="261" r:id="rId7"/>
    <p:sldId id="27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A5"/>
    <a:srgbClr val="478CBF"/>
    <a:srgbClr val="FF9900"/>
    <a:srgbClr val="161B22"/>
    <a:srgbClr val="151F2D"/>
    <a:srgbClr val="090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6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2BB5A-8C8C-0731-0F98-995DC28DF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9B7CA-B391-99E6-2C94-C528F1CB4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8174E-9D51-56D1-EA61-FCC91F8F4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9C941-59F2-85C4-C489-9322FF8E6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84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E36EE-9176-7357-3B70-53B95DE8B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85A4D-D774-4D49-7BA1-ED43A3812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B5927-A209-E8CD-8FD0-141589102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14B8E-B760-6597-64C6-A69301DBE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53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6576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5120" y="0"/>
            <a:ext cx="36576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0"/>
            <a:ext cx="36576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38160" y="0"/>
            <a:ext cx="36576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69680" y="0"/>
            <a:ext cx="36576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 in the Cloud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DD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Connecting Godot Clients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4DD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AWS WebSockets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548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AWS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3017520"/>
            <a:ext cx="10972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WebSocket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3017520"/>
            <a:ext cx="9144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478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0" y="3026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8CBF"/>
                </a:solidFill>
              </a:rPr>
              <a:t>Godot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3017520"/>
            <a:ext cx="82296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4DD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3026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DD0E1"/>
                </a:solidFill>
              </a:rPr>
              <a:t>Lambda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017520"/>
            <a:ext cx="10058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529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94CF"/>
                </a:solidFill>
              </a:rPr>
              <a:t>DynamoDB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749040"/>
            <a:ext cx="2060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Nguyen Quoc Bao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8892"/>
            <a:ext cx="1394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117"/>
                </a:solidFill>
              </a:rPr>
              <a:t>TODAY'S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30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4EC96F-913A-C157-F62B-2765F1C18FD3}"/>
              </a:ext>
            </a:extLst>
          </p:cNvPr>
          <p:cNvGrpSpPr/>
          <p:nvPr/>
        </p:nvGrpSpPr>
        <p:grpSpPr>
          <a:xfrm>
            <a:off x="457200" y="1375938"/>
            <a:ext cx="8046720" cy="457200"/>
            <a:chOff x="457200" y="1375938"/>
            <a:chExt cx="8046720" cy="457200"/>
          </a:xfrm>
        </p:grpSpPr>
        <p:sp>
          <p:nvSpPr>
            <p:cNvPr id="5" name="Shape 3"/>
            <p:cNvSpPr/>
            <p:nvPr/>
          </p:nvSpPr>
          <p:spPr>
            <a:xfrm>
              <a:off x="457200" y="1375938"/>
              <a:ext cx="8046720" cy="45720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375938"/>
              <a:ext cx="36576" cy="457200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1375938"/>
              <a:ext cx="411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BFA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51560" y="1375938"/>
              <a:ext cx="5943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 to multiplayer networking</a:t>
              </a:r>
              <a:endParaRPr lang="en-US" sz="14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D84427D-DB7D-13B2-D566-295354332DCD}"/>
              </a:ext>
            </a:extLst>
          </p:cNvPr>
          <p:cNvGrpSpPr/>
          <p:nvPr/>
        </p:nvGrpSpPr>
        <p:grpSpPr>
          <a:xfrm>
            <a:off x="457200" y="1906290"/>
            <a:ext cx="8046720" cy="457200"/>
            <a:chOff x="457200" y="1906290"/>
            <a:chExt cx="8046720" cy="457200"/>
          </a:xfrm>
        </p:grpSpPr>
        <p:sp>
          <p:nvSpPr>
            <p:cNvPr id="10" name="Shape 8"/>
            <p:cNvSpPr/>
            <p:nvPr/>
          </p:nvSpPr>
          <p:spPr>
            <a:xfrm>
              <a:off x="457200" y="1906290"/>
              <a:ext cx="8046720" cy="45720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57200" y="1906290"/>
              <a:ext cx="36576" cy="457200"/>
            </a:xfrm>
            <a:prstGeom prst="rect">
              <a:avLst/>
            </a:prstGeom>
            <a:solidFill>
              <a:srgbClr val="4DD0E1"/>
            </a:solidFill>
            <a:ln w="12700">
              <a:solidFill>
                <a:srgbClr val="4DD0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594360" y="1906290"/>
              <a:ext cx="411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4DD0E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051560" y="1906290"/>
              <a:ext cx="5943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Choosing a multiplayer architecture</a:t>
              </a:r>
              <a:endParaRPr lang="en-US" sz="14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B2822B0-F06E-0BC5-1779-B1232A88DCD3}"/>
              </a:ext>
            </a:extLst>
          </p:cNvPr>
          <p:cNvGrpSpPr/>
          <p:nvPr/>
        </p:nvGrpSpPr>
        <p:grpSpPr>
          <a:xfrm>
            <a:off x="457200" y="2436642"/>
            <a:ext cx="8046720" cy="457200"/>
            <a:chOff x="457200" y="2436642"/>
            <a:chExt cx="8046720" cy="457200"/>
          </a:xfrm>
        </p:grpSpPr>
        <p:sp>
          <p:nvSpPr>
            <p:cNvPr id="15" name="Shape 13"/>
            <p:cNvSpPr/>
            <p:nvPr/>
          </p:nvSpPr>
          <p:spPr>
            <a:xfrm>
              <a:off x="457200" y="2436642"/>
              <a:ext cx="8046720" cy="45720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457200" y="2436642"/>
              <a:ext cx="36576" cy="45720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594360" y="2436642"/>
              <a:ext cx="411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99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051560" y="2436642"/>
              <a:ext cx="5943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AWS architecture overview</a:t>
              </a:r>
              <a:endParaRPr lang="en-US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972719-15BA-4FC1-8552-F4FBAF30B6E8}"/>
              </a:ext>
            </a:extLst>
          </p:cNvPr>
          <p:cNvGrpSpPr/>
          <p:nvPr/>
        </p:nvGrpSpPr>
        <p:grpSpPr>
          <a:xfrm>
            <a:off x="457200" y="2966994"/>
            <a:ext cx="8046720" cy="457200"/>
            <a:chOff x="457200" y="2966994"/>
            <a:chExt cx="8046720" cy="457200"/>
          </a:xfrm>
        </p:grpSpPr>
        <p:sp>
          <p:nvSpPr>
            <p:cNvPr id="20" name="Shape 18"/>
            <p:cNvSpPr/>
            <p:nvPr/>
          </p:nvSpPr>
          <p:spPr>
            <a:xfrm>
              <a:off x="457200" y="2966994"/>
              <a:ext cx="8046720" cy="45720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2966994"/>
              <a:ext cx="36576" cy="457200"/>
            </a:xfrm>
            <a:prstGeom prst="rect">
              <a:avLst/>
            </a:prstGeom>
            <a:solidFill>
              <a:srgbClr val="478CBF"/>
            </a:solidFill>
            <a:ln w="12700">
              <a:solidFill>
                <a:srgbClr val="478C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594360" y="2966994"/>
              <a:ext cx="411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478CB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04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051560" y="2966994"/>
              <a:ext cx="5943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Godot client integration</a:t>
              </a:r>
              <a:endParaRPr lang="en-US" sz="1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F0156D-F798-EBAA-C791-3EDD44038006}"/>
              </a:ext>
            </a:extLst>
          </p:cNvPr>
          <p:cNvGrpSpPr/>
          <p:nvPr/>
        </p:nvGrpSpPr>
        <p:grpSpPr>
          <a:xfrm>
            <a:off x="457200" y="3497346"/>
            <a:ext cx="8046720" cy="457200"/>
            <a:chOff x="457200" y="3497346"/>
            <a:chExt cx="8046720" cy="457200"/>
          </a:xfrm>
        </p:grpSpPr>
        <p:sp>
          <p:nvSpPr>
            <p:cNvPr id="25" name="Shape 23"/>
            <p:cNvSpPr/>
            <p:nvPr/>
          </p:nvSpPr>
          <p:spPr>
            <a:xfrm>
              <a:off x="457200" y="3497346"/>
              <a:ext cx="8046720" cy="45720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57200" y="3497346"/>
              <a:ext cx="36576" cy="457200"/>
            </a:xfrm>
            <a:prstGeom prst="rect">
              <a:avLst/>
            </a:prstGeom>
            <a:solidFill>
              <a:srgbClr val="3FB950"/>
            </a:solidFill>
            <a:ln w="127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594360" y="3497346"/>
              <a:ext cx="411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FB95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05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051560" y="3497346"/>
              <a:ext cx="5943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demonstration</a:t>
              </a:r>
              <a:endParaRPr lang="en-US" sz="1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0040CFC-624E-0649-F969-209090D5B9DC}"/>
              </a:ext>
            </a:extLst>
          </p:cNvPr>
          <p:cNvGrpSpPr/>
          <p:nvPr/>
        </p:nvGrpSpPr>
        <p:grpSpPr>
          <a:xfrm>
            <a:off x="457200" y="4027698"/>
            <a:ext cx="8046720" cy="457200"/>
            <a:chOff x="457200" y="4027698"/>
            <a:chExt cx="8046720" cy="457200"/>
          </a:xfrm>
        </p:grpSpPr>
        <p:sp>
          <p:nvSpPr>
            <p:cNvPr id="30" name="Shape 28"/>
            <p:cNvSpPr/>
            <p:nvPr/>
          </p:nvSpPr>
          <p:spPr>
            <a:xfrm>
              <a:off x="457200" y="4027698"/>
              <a:ext cx="8046720" cy="45720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457200" y="4027698"/>
              <a:ext cx="36576" cy="457200"/>
            </a:xfrm>
            <a:prstGeom prst="rect">
              <a:avLst/>
            </a:prstGeom>
            <a:solidFill>
              <a:srgbClr val="8B949E"/>
            </a:solidFill>
            <a:ln w="12700">
              <a:solidFill>
                <a:srgbClr val="8B949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594360" y="4027698"/>
              <a:ext cx="4114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06</a:t>
              </a:r>
              <a:endParaRPr lang="en-US" sz="13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051560" y="4027698"/>
              <a:ext cx="5943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Challenges, lessons learned &amp; future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3300046" y="3063240"/>
            <a:ext cx="2878016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4B61B8-705F-8FB0-7982-6FDD0D9E4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375" y="2128325"/>
            <a:ext cx="1595510" cy="15955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F502044-AF62-DDA9-83D1-BB4C2B6CE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845" y="2128325"/>
            <a:ext cx="1595510" cy="159551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57200" y="2788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117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 Networking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when two games connect?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4198" y="3556195"/>
            <a:ext cx="1495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+mj-lt"/>
                <a:ea typeface="Calibri" pitchFamily="34" charset="-122"/>
                <a:cs typeface="Calibri" pitchFamily="34" charset="-120"/>
              </a:rPr>
              <a:t>Player A</a:t>
            </a:r>
            <a:endParaRPr lang="en-US" sz="1600" b="1" dirty="0">
              <a:latin typeface="+mj-lt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+mj-lt"/>
                <a:ea typeface="Calibri" pitchFamily="34" charset="-122"/>
                <a:cs typeface="Calibri" pitchFamily="34" charset="-120"/>
              </a:rPr>
              <a:t>(Godot Client)</a:t>
            </a:r>
            <a:endParaRPr lang="en-US" sz="1600" b="1" dirty="0">
              <a:latin typeface="+mj-lt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A9FDA9B3-9821-B4DE-0957-578068AF9E00}"/>
              </a:ext>
            </a:extLst>
          </p:cNvPr>
          <p:cNvSpPr/>
          <p:nvPr/>
        </p:nvSpPr>
        <p:spPr>
          <a:xfrm>
            <a:off x="6338668" y="3556195"/>
            <a:ext cx="1495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+mj-lt"/>
                <a:ea typeface="Calibri" pitchFamily="34" charset="-122"/>
                <a:cs typeface="Calibri" pitchFamily="34" charset="-120"/>
              </a:rPr>
              <a:t>Player B</a:t>
            </a:r>
            <a:endParaRPr lang="en-US" sz="1600" b="1" dirty="0">
              <a:latin typeface="+mj-lt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+mj-lt"/>
                <a:ea typeface="Calibri" pitchFamily="34" charset="-122"/>
                <a:cs typeface="Calibri" pitchFamily="34" charset="-120"/>
              </a:rPr>
              <a:t>(Godot Client)</a:t>
            </a:r>
            <a:endParaRPr lang="en-US" sz="1600" b="1" dirty="0">
              <a:latin typeface="+mj-lt"/>
            </a:endParaRPr>
          </a:p>
        </p:txBody>
      </p:sp>
      <p:grpSp>
        <p:nvGrpSpPr>
          <p:cNvPr id="26" name="Google Shape;8649;p51">
            <a:extLst>
              <a:ext uri="{FF2B5EF4-FFF2-40B4-BE49-F238E27FC236}">
                <a16:creationId xmlns:a16="http://schemas.microsoft.com/office/drawing/2014/main" id="{728E9ADF-9092-B0BE-6D41-B6983EB0E707}"/>
              </a:ext>
            </a:extLst>
          </p:cNvPr>
          <p:cNvGrpSpPr/>
          <p:nvPr/>
        </p:nvGrpSpPr>
        <p:grpSpPr>
          <a:xfrm>
            <a:off x="4505765" y="2470944"/>
            <a:ext cx="457200" cy="457200"/>
            <a:chOff x="899850" y="4992125"/>
            <a:chExt cx="481825" cy="481825"/>
          </a:xfrm>
          <a:solidFill>
            <a:srgbClr val="00BFA5"/>
          </a:solidFill>
        </p:grpSpPr>
        <p:sp>
          <p:nvSpPr>
            <p:cNvPr id="27" name="Google Shape;8650;p51">
              <a:extLst>
                <a:ext uri="{FF2B5EF4-FFF2-40B4-BE49-F238E27FC236}">
                  <a16:creationId xmlns:a16="http://schemas.microsoft.com/office/drawing/2014/main" id="{89F13673-39EA-DBC1-C3CD-8D6969F26EB0}"/>
                </a:ext>
              </a:extLst>
            </p:cNvPr>
            <p:cNvSpPr/>
            <p:nvPr/>
          </p:nvSpPr>
          <p:spPr>
            <a:xfrm>
              <a:off x="1126600" y="536010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0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6" y="1130"/>
                    <a:pt x="1129" y="877"/>
                    <a:pt x="1129" y="564"/>
                  </a:cubicBezTo>
                  <a:cubicBezTo>
                    <a:pt x="1129" y="250"/>
                    <a:pt x="876" y="1"/>
                    <a:pt x="5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" name="Google Shape;8651;p51">
              <a:extLst>
                <a:ext uri="{FF2B5EF4-FFF2-40B4-BE49-F238E27FC236}">
                  <a16:creationId xmlns:a16="http://schemas.microsoft.com/office/drawing/2014/main" id="{AD9E784E-AE97-8692-2102-783613E5F3C6}"/>
                </a:ext>
              </a:extLst>
            </p:cNvPr>
            <p:cNvSpPr/>
            <p:nvPr/>
          </p:nvSpPr>
          <p:spPr>
            <a:xfrm>
              <a:off x="1056050" y="5079900"/>
              <a:ext cx="169400" cy="194950"/>
            </a:xfrm>
            <a:custGeom>
              <a:avLst/>
              <a:gdLst/>
              <a:ahLst/>
              <a:cxnLst/>
              <a:rect l="l" t="t" r="r" b="b"/>
              <a:pathLst>
                <a:path w="6776" h="7798" extrusionOk="0">
                  <a:moveTo>
                    <a:pt x="3417" y="1"/>
                  </a:moveTo>
                  <a:cubicBezTo>
                    <a:pt x="1713" y="1"/>
                    <a:pt x="0" y="1115"/>
                    <a:pt x="0" y="3304"/>
                  </a:cubicBezTo>
                  <a:cubicBezTo>
                    <a:pt x="0" y="3614"/>
                    <a:pt x="250" y="3867"/>
                    <a:pt x="564" y="3867"/>
                  </a:cubicBezTo>
                  <a:cubicBezTo>
                    <a:pt x="877" y="3867"/>
                    <a:pt x="1130" y="3614"/>
                    <a:pt x="1130" y="3304"/>
                  </a:cubicBezTo>
                  <a:cubicBezTo>
                    <a:pt x="1130" y="2069"/>
                    <a:pt x="2111" y="1061"/>
                    <a:pt x="3388" y="1061"/>
                  </a:cubicBezTo>
                  <a:cubicBezTo>
                    <a:pt x="4665" y="1061"/>
                    <a:pt x="5647" y="2066"/>
                    <a:pt x="5647" y="3304"/>
                  </a:cubicBezTo>
                  <a:cubicBezTo>
                    <a:pt x="5647" y="4147"/>
                    <a:pt x="5174" y="4921"/>
                    <a:pt x="4424" y="5310"/>
                  </a:cubicBezTo>
                  <a:cubicBezTo>
                    <a:pt x="3617" y="5728"/>
                    <a:pt x="3108" y="6336"/>
                    <a:pt x="2912" y="7116"/>
                  </a:cubicBezTo>
                  <a:cubicBezTo>
                    <a:pt x="2870" y="7285"/>
                    <a:pt x="2906" y="7466"/>
                    <a:pt x="3015" y="7601"/>
                  </a:cubicBezTo>
                  <a:cubicBezTo>
                    <a:pt x="3118" y="7736"/>
                    <a:pt x="3277" y="7798"/>
                    <a:pt x="3439" y="7798"/>
                  </a:cubicBezTo>
                  <a:cubicBezTo>
                    <a:pt x="3686" y="7798"/>
                    <a:pt x="3938" y="7652"/>
                    <a:pt x="4005" y="7399"/>
                  </a:cubicBezTo>
                  <a:cubicBezTo>
                    <a:pt x="4129" y="6936"/>
                    <a:pt x="4445" y="6568"/>
                    <a:pt x="4945" y="6312"/>
                  </a:cubicBezTo>
                  <a:cubicBezTo>
                    <a:pt x="6071" y="5728"/>
                    <a:pt x="6776" y="4569"/>
                    <a:pt x="6776" y="3304"/>
                  </a:cubicBezTo>
                  <a:cubicBezTo>
                    <a:pt x="6776" y="1090"/>
                    <a:pt x="5101" y="1"/>
                    <a:pt x="34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8652;p51">
              <a:extLst>
                <a:ext uri="{FF2B5EF4-FFF2-40B4-BE49-F238E27FC236}">
                  <a16:creationId xmlns:a16="http://schemas.microsoft.com/office/drawing/2014/main" id="{61000D46-F5A3-70FC-21B7-DD77A1CDEA81}"/>
                </a:ext>
              </a:extLst>
            </p:cNvPr>
            <p:cNvSpPr/>
            <p:nvPr/>
          </p:nvSpPr>
          <p:spPr>
            <a:xfrm>
              <a:off x="89985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2334"/>
                  </a:moveTo>
                  <a:cubicBezTo>
                    <a:pt x="12223" y="2334"/>
                    <a:pt x="14153" y="4367"/>
                    <a:pt x="14153" y="6815"/>
                  </a:cubicBezTo>
                  <a:cubicBezTo>
                    <a:pt x="14153" y="8501"/>
                    <a:pt x="13214" y="10049"/>
                    <a:pt x="11714" y="10826"/>
                  </a:cubicBezTo>
                  <a:cubicBezTo>
                    <a:pt x="11401" y="10986"/>
                    <a:pt x="11362" y="11142"/>
                    <a:pt x="11344" y="11202"/>
                  </a:cubicBezTo>
                  <a:cubicBezTo>
                    <a:pt x="11141" y="11958"/>
                    <a:pt x="10458" y="12455"/>
                    <a:pt x="9710" y="12455"/>
                  </a:cubicBezTo>
                  <a:cubicBezTo>
                    <a:pt x="9569" y="12455"/>
                    <a:pt x="9426" y="12438"/>
                    <a:pt x="9284" y="12401"/>
                  </a:cubicBezTo>
                  <a:cubicBezTo>
                    <a:pt x="8383" y="12169"/>
                    <a:pt x="7841" y="11254"/>
                    <a:pt x="8064" y="10353"/>
                  </a:cubicBezTo>
                  <a:cubicBezTo>
                    <a:pt x="8338" y="9260"/>
                    <a:pt x="9061" y="8384"/>
                    <a:pt x="10154" y="7818"/>
                  </a:cubicBezTo>
                  <a:cubicBezTo>
                    <a:pt x="10832" y="7465"/>
                    <a:pt x="10973" y="6556"/>
                    <a:pt x="10434" y="6017"/>
                  </a:cubicBezTo>
                  <a:cubicBezTo>
                    <a:pt x="10219" y="5801"/>
                    <a:pt x="9934" y="5700"/>
                    <a:pt x="9650" y="5700"/>
                  </a:cubicBezTo>
                  <a:cubicBezTo>
                    <a:pt x="9078" y="5700"/>
                    <a:pt x="8507" y="6109"/>
                    <a:pt x="8507" y="6815"/>
                  </a:cubicBezTo>
                  <a:cubicBezTo>
                    <a:pt x="8507" y="7749"/>
                    <a:pt x="7748" y="8507"/>
                    <a:pt x="6812" y="8507"/>
                  </a:cubicBezTo>
                  <a:cubicBezTo>
                    <a:pt x="5875" y="8507"/>
                    <a:pt x="5119" y="7749"/>
                    <a:pt x="5119" y="6815"/>
                  </a:cubicBezTo>
                  <a:cubicBezTo>
                    <a:pt x="5119" y="4388"/>
                    <a:pt x="7028" y="2334"/>
                    <a:pt x="9636" y="2334"/>
                  </a:cubicBezTo>
                  <a:close/>
                  <a:moveTo>
                    <a:pt x="9636" y="13588"/>
                  </a:moveTo>
                  <a:cubicBezTo>
                    <a:pt x="9854" y="13588"/>
                    <a:pt x="10074" y="13630"/>
                    <a:pt x="10284" y="13717"/>
                  </a:cubicBezTo>
                  <a:cubicBezTo>
                    <a:pt x="10916" y="13979"/>
                    <a:pt x="11328" y="14596"/>
                    <a:pt x="11328" y="15283"/>
                  </a:cubicBezTo>
                  <a:cubicBezTo>
                    <a:pt x="11328" y="16219"/>
                    <a:pt x="10570" y="16975"/>
                    <a:pt x="9636" y="16978"/>
                  </a:cubicBezTo>
                  <a:cubicBezTo>
                    <a:pt x="8950" y="16978"/>
                    <a:pt x="8332" y="16562"/>
                    <a:pt x="8070" y="15930"/>
                  </a:cubicBezTo>
                  <a:cubicBezTo>
                    <a:pt x="7808" y="15298"/>
                    <a:pt x="7953" y="14569"/>
                    <a:pt x="8438" y="14084"/>
                  </a:cubicBezTo>
                  <a:cubicBezTo>
                    <a:pt x="8762" y="13760"/>
                    <a:pt x="9195" y="13588"/>
                    <a:pt x="9636" y="13588"/>
                  </a:cubicBezTo>
                  <a:close/>
                  <a:moveTo>
                    <a:pt x="9636" y="1"/>
                  </a:moveTo>
                  <a:cubicBezTo>
                    <a:pt x="4330" y="1"/>
                    <a:pt x="0" y="4331"/>
                    <a:pt x="0" y="9637"/>
                  </a:cubicBezTo>
                  <a:cubicBezTo>
                    <a:pt x="0" y="14945"/>
                    <a:pt x="4330" y="19273"/>
                    <a:pt x="9636" y="19273"/>
                  </a:cubicBezTo>
                  <a:cubicBezTo>
                    <a:pt x="14939" y="19273"/>
                    <a:pt x="19272" y="14945"/>
                    <a:pt x="19272" y="9637"/>
                  </a:cubicBezTo>
                  <a:cubicBezTo>
                    <a:pt x="19272" y="4331"/>
                    <a:pt x="14942" y="1"/>
                    <a:pt x="96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2E5F859-1E90-D7F2-9753-5F0549B2A0C3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31" name="Shape 0">
              <a:extLst>
                <a:ext uri="{FF2B5EF4-FFF2-40B4-BE49-F238E27FC236}">
                  <a16:creationId xmlns:a16="http://schemas.microsoft.com/office/drawing/2014/main" id="{AC20D421-002A-E248-5C92-39CAAAF60581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1">
              <a:extLst>
                <a:ext uri="{FF2B5EF4-FFF2-40B4-BE49-F238E27FC236}">
                  <a16:creationId xmlns:a16="http://schemas.microsoft.com/office/drawing/2014/main" id="{55B19B3E-AE16-C8E1-3E5F-074D4A52220B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01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5B23-D35A-DC57-5DCE-8BAC6352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52BE41D-034E-158E-C2A0-AA78830D7732}"/>
              </a:ext>
            </a:extLst>
          </p:cNvPr>
          <p:cNvSpPr/>
          <p:nvPr/>
        </p:nvSpPr>
        <p:spPr>
          <a:xfrm>
            <a:off x="457200" y="2788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117"/>
                </a:solidFill>
                <a:latin typeface="Trebuchet MS" panose="020B0603020202020204" pitchFamily="34" charset="0"/>
              </a:rPr>
              <a:t>SECTION 02</a:t>
            </a:r>
            <a:endParaRPr lang="en-US" sz="900" dirty="0">
              <a:latin typeface="Trebuchet MS" panose="020B0603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9996E3-D308-0B03-4580-DB473F676A6C}"/>
              </a:ext>
            </a:extLst>
          </p:cNvPr>
          <p:cNvSpPr/>
          <p:nvPr/>
        </p:nvSpPr>
        <p:spPr>
          <a:xfrm>
            <a:off x="457200" y="150989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>
              <a:latin typeface="Trebuchet MS" panose="020B0603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4F8BED1-8ACA-AC38-1861-17A9692212C2}"/>
              </a:ext>
            </a:extLst>
          </p:cNvPr>
          <p:cNvGrpSpPr/>
          <p:nvPr/>
        </p:nvGrpSpPr>
        <p:grpSpPr>
          <a:xfrm>
            <a:off x="263768" y="1564620"/>
            <a:ext cx="2754923" cy="3159780"/>
            <a:chOff x="263768" y="964692"/>
            <a:chExt cx="2754923" cy="3759708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0EAD416-D33B-AAC4-5029-2366D50BBBFD}"/>
                </a:ext>
              </a:extLst>
            </p:cNvPr>
            <p:cNvSpPr/>
            <p:nvPr/>
          </p:nvSpPr>
          <p:spPr>
            <a:xfrm>
              <a:off x="263768" y="964692"/>
              <a:ext cx="2743200" cy="3759708"/>
            </a:xfrm>
            <a:prstGeom prst="roundRect">
              <a:avLst>
                <a:gd name="adj" fmla="val 1282"/>
              </a:avLst>
            </a:prstGeom>
            <a:solidFill>
              <a:srgbClr val="090D13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rebuchet MS" panose="020B0603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9C670CB-DE89-7C74-B0E4-3A29A8E14DC6}"/>
                </a:ext>
              </a:extLst>
            </p:cNvPr>
            <p:cNvSpPr/>
            <p:nvPr/>
          </p:nvSpPr>
          <p:spPr>
            <a:xfrm>
              <a:off x="355208" y="1107420"/>
              <a:ext cx="2560320" cy="457200"/>
            </a:xfrm>
            <a:prstGeom prst="roundRect">
              <a:avLst>
                <a:gd name="adj" fmla="val 6411"/>
              </a:avLst>
            </a:prstGeom>
            <a:solidFill>
              <a:srgbClr val="151F2D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UDP / ENet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1217050-DE87-9F64-7197-B0C477D282B9}"/>
                </a:ext>
              </a:extLst>
            </p:cNvPr>
            <p:cNvSpPr/>
            <p:nvPr/>
          </p:nvSpPr>
          <p:spPr>
            <a:xfrm>
              <a:off x="355208" y="4179277"/>
              <a:ext cx="2560320" cy="457200"/>
            </a:xfrm>
            <a:prstGeom prst="roundRect">
              <a:avLst>
                <a:gd name="adj" fmla="val 6411"/>
              </a:avLst>
            </a:prstGeom>
            <a:solidFill>
              <a:srgbClr val="151F2D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alibri (Body)"/>
                </a:rPr>
                <a:t>FPS games/Racing games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CADD166-3FD9-E017-07E8-81C39B469315}"/>
                </a:ext>
              </a:extLst>
            </p:cNvPr>
            <p:cNvSpPr txBox="1"/>
            <p:nvPr/>
          </p:nvSpPr>
          <p:spPr>
            <a:xfrm>
              <a:off x="445475" y="2105882"/>
              <a:ext cx="256032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Lowest latency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Efficient for frequent updates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Built for game synchronization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9FA9EF0-1730-6D4B-F2F5-67AE45A99AE9}"/>
                </a:ext>
              </a:extLst>
            </p:cNvPr>
            <p:cNvSpPr txBox="1"/>
            <p:nvPr/>
          </p:nvSpPr>
          <p:spPr>
            <a:xfrm>
              <a:off x="355208" y="1648557"/>
              <a:ext cx="515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Pro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220B666-4F7A-5BCD-CFFE-2739C435F2F4}"/>
                </a:ext>
              </a:extLst>
            </p:cNvPr>
            <p:cNvSpPr txBox="1"/>
            <p:nvPr/>
          </p:nvSpPr>
          <p:spPr>
            <a:xfrm>
              <a:off x="355208" y="2931933"/>
              <a:ext cx="572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Con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0C626C-4AC3-CD9B-4950-32FD25F977D0}"/>
                </a:ext>
              </a:extLst>
            </p:cNvPr>
            <p:cNvSpPr txBox="1"/>
            <p:nvPr/>
          </p:nvSpPr>
          <p:spPr>
            <a:xfrm>
              <a:off x="445474" y="3385808"/>
              <a:ext cx="257321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More complex networking logic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Reliability must be managed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F30ABD9-8280-B76F-355D-3E47316EA42A}"/>
              </a:ext>
            </a:extLst>
          </p:cNvPr>
          <p:cNvGrpSpPr/>
          <p:nvPr/>
        </p:nvGrpSpPr>
        <p:grpSpPr>
          <a:xfrm>
            <a:off x="3200400" y="1564620"/>
            <a:ext cx="2858089" cy="3159780"/>
            <a:chOff x="263768" y="964692"/>
            <a:chExt cx="2858089" cy="3759708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3C5D686F-8CB8-5476-AE1C-5A0F55349DA6}"/>
                </a:ext>
              </a:extLst>
            </p:cNvPr>
            <p:cNvSpPr/>
            <p:nvPr/>
          </p:nvSpPr>
          <p:spPr>
            <a:xfrm>
              <a:off x="263768" y="964692"/>
              <a:ext cx="2743200" cy="3759708"/>
            </a:xfrm>
            <a:prstGeom prst="roundRect">
              <a:avLst>
                <a:gd name="adj" fmla="val 1282"/>
              </a:avLst>
            </a:prstGeom>
            <a:solidFill>
              <a:srgbClr val="090D13"/>
            </a:solidFill>
            <a:ln w="12700">
              <a:solidFill>
                <a:srgbClr val="00BF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rebuchet MS" panose="020B0603020202020204" pitchFamily="34" charset="0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5A60B43B-D7BB-8E51-137E-AA736F3964B2}"/>
                </a:ext>
              </a:extLst>
            </p:cNvPr>
            <p:cNvSpPr/>
            <p:nvPr/>
          </p:nvSpPr>
          <p:spPr>
            <a:xfrm>
              <a:off x="355208" y="1107420"/>
              <a:ext cx="2560320" cy="457200"/>
            </a:xfrm>
            <a:prstGeom prst="roundRect">
              <a:avLst>
                <a:gd name="adj" fmla="val 6411"/>
              </a:avLst>
            </a:prstGeom>
            <a:solidFill>
              <a:srgbClr val="00BFA5"/>
            </a:solidFill>
            <a:ln>
              <a:solidFill>
                <a:srgbClr val="00BF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rebuchet MS" panose="020B0603020202020204" pitchFamily="34" charset="0"/>
                </a:rPr>
                <a:t>WebSocket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F832F06-B2C9-CF45-F5E0-C095A8855CE1}"/>
                </a:ext>
              </a:extLst>
            </p:cNvPr>
            <p:cNvSpPr/>
            <p:nvPr/>
          </p:nvSpPr>
          <p:spPr>
            <a:xfrm>
              <a:off x="355208" y="4179277"/>
              <a:ext cx="2560320" cy="457200"/>
            </a:xfrm>
            <a:prstGeom prst="roundRect">
              <a:avLst>
                <a:gd name="adj" fmla="val 6411"/>
              </a:avLst>
            </a:prstGeom>
            <a:solidFill>
              <a:srgbClr val="00BFA5"/>
            </a:solidFill>
            <a:ln>
              <a:solidFill>
                <a:srgbClr val="00BF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D1117"/>
                  </a:solidFill>
                  <a:latin typeface="Calibri (Body)"/>
                </a:rPr>
                <a:t>Turn-based</a:t>
              </a:r>
              <a:r>
                <a:rPr lang="en-US" sz="1200" b="1" dirty="0">
                  <a:solidFill>
                    <a:srgbClr val="0D1117"/>
                  </a:solidFill>
                </a:rPr>
                <a:t> / Lobby / Chat</a:t>
              </a:r>
              <a:endParaRPr lang="en-US" sz="12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43D09CF-57CA-22EB-F66E-DC1260A6F9E8}"/>
                </a:ext>
              </a:extLst>
            </p:cNvPr>
            <p:cNvSpPr txBox="1"/>
            <p:nvPr/>
          </p:nvSpPr>
          <p:spPr>
            <a:xfrm>
              <a:off x="355208" y="2105882"/>
              <a:ext cx="237978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Real-time communication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Full-duplex messaging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Reliable delivery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4093B73-6DD6-670E-A62E-6DC28E40EF4A}"/>
                </a:ext>
              </a:extLst>
            </p:cNvPr>
            <p:cNvSpPr txBox="1"/>
            <p:nvPr/>
          </p:nvSpPr>
          <p:spPr>
            <a:xfrm>
              <a:off x="355208" y="1648557"/>
              <a:ext cx="515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Pro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B1EE26B-27D2-C49B-32AC-193C54B0E806}"/>
                </a:ext>
              </a:extLst>
            </p:cNvPr>
            <p:cNvSpPr txBox="1"/>
            <p:nvPr/>
          </p:nvSpPr>
          <p:spPr>
            <a:xfrm>
              <a:off x="355208" y="2931933"/>
              <a:ext cx="572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Con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D52C06D-2F74-8872-48AA-3D09481A827C}"/>
                </a:ext>
              </a:extLst>
            </p:cNvPr>
            <p:cNvSpPr txBox="1"/>
            <p:nvPr/>
          </p:nvSpPr>
          <p:spPr>
            <a:xfrm>
              <a:off x="275491" y="3385808"/>
              <a:ext cx="284636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Requires connection management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Higher overhead than UDP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F1A33FF-DF91-90B7-19F2-9ABA112714A8}"/>
              </a:ext>
            </a:extLst>
          </p:cNvPr>
          <p:cNvGrpSpPr/>
          <p:nvPr/>
        </p:nvGrpSpPr>
        <p:grpSpPr>
          <a:xfrm>
            <a:off x="6137032" y="1564620"/>
            <a:ext cx="2743200" cy="3159780"/>
            <a:chOff x="263768" y="964692"/>
            <a:chExt cx="2743200" cy="3759708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0955AB71-544B-F94D-23DF-16415DB7909B}"/>
                </a:ext>
              </a:extLst>
            </p:cNvPr>
            <p:cNvSpPr/>
            <p:nvPr/>
          </p:nvSpPr>
          <p:spPr>
            <a:xfrm>
              <a:off x="263768" y="964692"/>
              <a:ext cx="2743200" cy="3759708"/>
            </a:xfrm>
            <a:prstGeom prst="roundRect">
              <a:avLst>
                <a:gd name="adj" fmla="val 1282"/>
              </a:avLst>
            </a:prstGeom>
            <a:solidFill>
              <a:srgbClr val="090D13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rebuchet MS" panose="020B0603020202020204" pitchFamily="34" charset="0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4DCFF637-6160-4973-37CA-7A7BF8DC0816}"/>
                </a:ext>
              </a:extLst>
            </p:cNvPr>
            <p:cNvSpPr/>
            <p:nvPr/>
          </p:nvSpPr>
          <p:spPr>
            <a:xfrm>
              <a:off x="355208" y="1107420"/>
              <a:ext cx="2560320" cy="457200"/>
            </a:xfrm>
            <a:prstGeom prst="roundRect">
              <a:avLst>
                <a:gd name="adj" fmla="val 6411"/>
              </a:avLst>
            </a:prstGeom>
            <a:solidFill>
              <a:srgbClr val="151F2D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HTTP Polling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DB6A6091-5BB9-EDF3-03B3-9DAD5B031B47}"/>
                </a:ext>
              </a:extLst>
            </p:cNvPr>
            <p:cNvSpPr/>
            <p:nvPr/>
          </p:nvSpPr>
          <p:spPr>
            <a:xfrm>
              <a:off x="355208" y="4179277"/>
              <a:ext cx="2560320" cy="457200"/>
            </a:xfrm>
            <a:prstGeom prst="roundRect">
              <a:avLst>
                <a:gd name="adj" fmla="val 6411"/>
              </a:avLst>
            </a:prstGeom>
            <a:solidFill>
              <a:srgbClr val="151F2D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alibri (Body)"/>
                </a:rPr>
                <a:t>Login system / </a:t>
              </a:r>
              <a:r>
                <a:rPr lang="en-US" sz="1400" dirty="0">
                  <a:latin typeface="Calibri (Body)"/>
                </a:rPr>
                <a:t>Leaderboards</a:t>
              </a:r>
              <a:endParaRPr lang="en-US" sz="1400" dirty="0">
                <a:solidFill>
                  <a:schemeClr val="bg1"/>
                </a:solidFill>
                <a:latin typeface="Calibri (Body)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074F371-C9CE-74B3-B628-24BA28B48899}"/>
                </a:ext>
              </a:extLst>
            </p:cNvPr>
            <p:cNvSpPr txBox="1"/>
            <p:nvPr/>
          </p:nvSpPr>
          <p:spPr>
            <a:xfrm>
              <a:off x="445475" y="2105882"/>
              <a:ext cx="237978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Simple implementation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Reliable delivery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Stateless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98A31-1A57-50AB-B8B4-AB258E620D1C}"/>
                </a:ext>
              </a:extLst>
            </p:cNvPr>
            <p:cNvSpPr txBox="1"/>
            <p:nvPr/>
          </p:nvSpPr>
          <p:spPr>
            <a:xfrm>
              <a:off x="355208" y="1648557"/>
              <a:ext cx="515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Pro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5311512-0ED7-8BF2-FF24-E7EFF2366CB6}"/>
                </a:ext>
              </a:extLst>
            </p:cNvPr>
            <p:cNvSpPr txBox="1"/>
            <p:nvPr/>
          </p:nvSpPr>
          <p:spPr>
            <a:xfrm>
              <a:off x="355208" y="2931933"/>
              <a:ext cx="572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Con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89E7ED2-33F3-EA24-47C5-102A3839C0C9}"/>
                </a:ext>
              </a:extLst>
            </p:cNvPr>
            <p:cNvSpPr txBox="1"/>
            <p:nvPr/>
          </p:nvSpPr>
          <p:spPr>
            <a:xfrm>
              <a:off x="445474" y="3385808"/>
              <a:ext cx="237978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High latency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 Frequent polling overhead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60E9526-272B-7DF7-D2DD-1BF13F64E390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86" name="Shape 0">
              <a:extLst>
                <a:ext uri="{FF2B5EF4-FFF2-40B4-BE49-F238E27FC236}">
                  <a16:creationId xmlns:a16="http://schemas.microsoft.com/office/drawing/2014/main" id="{9AB57D43-9D88-659F-AF6F-AD274376130A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1">
              <a:extLst>
                <a:ext uri="{FF2B5EF4-FFF2-40B4-BE49-F238E27FC236}">
                  <a16:creationId xmlns:a16="http://schemas.microsoft.com/office/drawing/2014/main" id="{2437EBB0-26D7-3B6F-1FEA-A639FD25C077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03</a:t>
              </a:r>
              <a:endParaRPr lang="en-US" sz="900" dirty="0"/>
            </a:p>
          </p:txBody>
        </p:sp>
      </p:grpSp>
      <p:sp>
        <p:nvSpPr>
          <p:cNvPr id="88" name="Text 2">
            <a:extLst>
              <a:ext uri="{FF2B5EF4-FFF2-40B4-BE49-F238E27FC236}">
                <a16:creationId xmlns:a16="http://schemas.microsoft.com/office/drawing/2014/main" id="{C9FF1DE0-4FE5-EFF2-7D7C-42D6AD1BA3C2}"/>
              </a:ext>
            </a:extLst>
          </p:cNvPr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an Architecture</a:t>
            </a:r>
            <a:endParaRPr lang="en-US" sz="3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156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78C65BC5-0CD4-D640-C281-199D57812AF5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2" name="Shape 0"/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03</a:t>
              </a:r>
              <a:endParaRPr lang="en-US" sz="9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Architecture</a:t>
            </a:r>
            <a:endParaRPr lang="en-US" sz="3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E387C2-2C90-949D-003A-179518D74AC9}"/>
              </a:ext>
            </a:extLst>
          </p:cNvPr>
          <p:cNvGrpSpPr/>
          <p:nvPr/>
        </p:nvGrpSpPr>
        <p:grpSpPr>
          <a:xfrm>
            <a:off x="253218" y="1706007"/>
            <a:ext cx="1737360" cy="1097280"/>
            <a:chOff x="365760" y="2103120"/>
            <a:chExt cx="1737360" cy="1097280"/>
          </a:xfrm>
        </p:grpSpPr>
        <p:sp>
          <p:nvSpPr>
            <p:cNvPr id="6" name="Shape 4"/>
            <p:cNvSpPr/>
            <p:nvPr/>
          </p:nvSpPr>
          <p:spPr>
            <a:xfrm>
              <a:off x="365760" y="2103120"/>
              <a:ext cx="1737360" cy="1097280"/>
            </a:xfrm>
            <a:prstGeom prst="rect">
              <a:avLst/>
            </a:prstGeom>
            <a:solidFill>
              <a:srgbClr val="161B22"/>
            </a:solidFill>
            <a:ln w="25400">
              <a:solidFill>
                <a:srgbClr val="478C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219456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478CB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Godot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478CB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Client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2697480"/>
              <a:ext cx="1645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WebSocketPeer</a:t>
              </a:r>
              <a:endParaRPr lang="en-US" sz="9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90D12E-E0A6-DCDC-E1C5-B70E9C1E409B}"/>
              </a:ext>
            </a:extLst>
          </p:cNvPr>
          <p:cNvGrpSpPr/>
          <p:nvPr/>
        </p:nvGrpSpPr>
        <p:grpSpPr>
          <a:xfrm>
            <a:off x="2549769" y="1706007"/>
            <a:ext cx="1737360" cy="1097280"/>
            <a:chOff x="2103120" y="2103120"/>
            <a:chExt cx="1737360" cy="1097280"/>
          </a:xfrm>
        </p:grpSpPr>
        <p:sp>
          <p:nvSpPr>
            <p:cNvPr id="9" name="Shape 7"/>
            <p:cNvSpPr/>
            <p:nvPr/>
          </p:nvSpPr>
          <p:spPr>
            <a:xfrm>
              <a:off x="2103120" y="2103120"/>
              <a:ext cx="1737360" cy="1097280"/>
            </a:xfrm>
            <a:prstGeom prst="rect">
              <a:avLst/>
            </a:prstGeom>
            <a:solidFill>
              <a:srgbClr val="161B22"/>
            </a:solidFill>
            <a:ln w="254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48840" y="219456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API Gateway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WebSocket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148840" y="2697480"/>
              <a:ext cx="1645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$connect / $disconnect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$default + custom routes</a:t>
              </a:r>
              <a:endParaRPr lang="en-US" sz="9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0BDBB92-5A2E-D83E-A3AC-72F132E8675E}"/>
              </a:ext>
            </a:extLst>
          </p:cNvPr>
          <p:cNvGrpSpPr/>
          <p:nvPr/>
        </p:nvGrpSpPr>
        <p:grpSpPr>
          <a:xfrm>
            <a:off x="4846320" y="1707414"/>
            <a:ext cx="1737360" cy="1097280"/>
            <a:chOff x="4251960" y="2103120"/>
            <a:chExt cx="1737360" cy="1097280"/>
          </a:xfrm>
        </p:grpSpPr>
        <p:sp>
          <p:nvSpPr>
            <p:cNvPr id="12" name="Shape 10"/>
            <p:cNvSpPr/>
            <p:nvPr/>
          </p:nvSpPr>
          <p:spPr>
            <a:xfrm>
              <a:off x="4251960" y="2103120"/>
              <a:ext cx="1737360" cy="1097280"/>
            </a:xfrm>
            <a:prstGeom prst="rect">
              <a:avLst/>
            </a:prstGeom>
            <a:solidFill>
              <a:srgbClr val="161B22"/>
            </a:solidFill>
            <a:ln w="254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4297680" y="219456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0BFA5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Lambda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00BFA5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Function</a:t>
              </a:r>
              <a:endParaRPr lang="en-US" sz="13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297680" y="2697480"/>
              <a:ext cx="1645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index.mjs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Node.js 20</a:t>
              </a:r>
              <a:endParaRPr lang="en-US" sz="9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A61C87C-82A7-DDC6-780D-44AAFA8F6B1F}"/>
              </a:ext>
            </a:extLst>
          </p:cNvPr>
          <p:cNvGrpSpPr/>
          <p:nvPr/>
        </p:nvGrpSpPr>
        <p:grpSpPr>
          <a:xfrm>
            <a:off x="7142871" y="1707414"/>
            <a:ext cx="1737360" cy="1097280"/>
            <a:chOff x="6400800" y="2103120"/>
            <a:chExt cx="1737360" cy="1097280"/>
          </a:xfrm>
        </p:grpSpPr>
        <p:sp>
          <p:nvSpPr>
            <p:cNvPr id="15" name="Shape 13"/>
            <p:cNvSpPr/>
            <p:nvPr/>
          </p:nvSpPr>
          <p:spPr>
            <a:xfrm>
              <a:off x="6400800" y="2103120"/>
              <a:ext cx="1737360" cy="1097280"/>
            </a:xfrm>
            <a:prstGeom prst="rect">
              <a:avLst/>
            </a:prstGeom>
            <a:solidFill>
              <a:srgbClr val="161B22"/>
            </a:solidFill>
            <a:ln w="25400">
              <a:solidFill>
                <a:srgbClr val="4DD0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446520" y="219456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4DD0E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DynamoDB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4DD0E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Table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446520" y="2697480"/>
              <a:ext cx="1645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WebSocketDemoTable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connectionId (PK)</a:t>
              </a:r>
              <a:endParaRPr lang="en-US" sz="9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2103120" y="3004455"/>
            <a:ext cx="9144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06240" y="3004455"/>
            <a:ext cx="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6AE75B9-C3D3-94AC-8292-014ACE32B18E}"/>
              </a:ext>
            </a:extLst>
          </p:cNvPr>
          <p:cNvGrpSpPr/>
          <p:nvPr/>
        </p:nvGrpSpPr>
        <p:grpSpPr>
          <a:xfrm>
            <a:off x="4846320" y="3440553"/>
            <a:ext cx="1737360" cy="777240"/>
            <a:chOff x="4251960" y="3703320"/>
            <a:chExt cx="1737360" cy="777240"/>
          </a:xfrm>
        </p:grpSpPr>
        <p:sp>
          <p:nvSpPr>
            <p:cNvPr id="21" name="Shape 19"/>
            <p:cNvSpPr/>
            <p:nvPr/>
          </p:nvSpPr>
          <p:spPr>
            <a:xfrm>
              <a:off x="4251960" y="3703320"/>
              <a:ext cx="1737360" cy="77724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E8645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4251960" y="374904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8645A"/>
                  </a:solidFill>
                </a:rPr>
                <a:t>CloudWatch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251960" y="409651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</a:rPr>
                <a:t>Logs &amp; Monitoring</a:t>
              </a:r>
              <a:endParaRPr lang="en-US" sz="900" dirty="0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8646B4-4ED8-0843-DABF-C979036F411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990578" y="2254647"/>
            <a:ext cx="55919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87976AD-3067-3BE5-8DD6-8B93003A02B2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4287129" y="2254647"/>
            <a:ext cx="559191" cy="140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599478-8B3A-083A-9D88-E3B3D8377D9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6583680" y="2256054"/>
            <a:ext cx="55919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E3CC2ED-395D-A39D-03EF-A0B3EF5DA1F6}"/>
              </a:ext>
            </a:extLst>
          </p:cNvPr>
          <p:cNvCxnSpPr>
            <a:cxnSpLocks/>
            <a:stCxn id="12" idx="2"/>
            <a:endCxn id="21" idx="0"/>
          </p:cNvCxnSpPr>
          <p:nvPr/>
        </p:nvCxnSpPr>
        <p:spPr>
          <a:xfrm>
            <a:off x="5715000" y="2804694"/>
            <a:ext cx="0" cy="63585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Key &amp; DynamoDB Schema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5720" cy="3108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 Route Key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$request.body.action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API Gateway: look inside the JSON body,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'action' field, and route accordingly.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5740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Player connects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66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$disconnect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3666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Player leaves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$default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3995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 route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42062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45720" cy="3108960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D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DynamoDB Item Shape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1762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connectionId: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432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PK — from API GW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"waiting"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907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waiting | matched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1272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opponentId: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"xyz789"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after match found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6027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"rock"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when player chooses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078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1718123456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unix timestamp</a:t>
            </a:r>
            <a:endParaRPr lang="en-US" sz="9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74907F5-D1E3-9A7C-D2D2-79418E8B3749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6656E458-32B4-BD05-B506-D76DC1671715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09656D2D-579F-2ADF-5EC1-15049C6E60B1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03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D250D-F0D4-8342-9F37-8354C384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AD2BC37-30E7-2B9B-E1ED-E53CB21A542C}"/>
              </a:ext>
            </a:extLst>
          </p:cNvPr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 Logic</a:t>
            </a:r>
            <a:endParaRPr lang="en-US" sz="3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2F60591-989C-BBE1-CA48-61E310500173}"/>
              </a:ext>
            </a:extLst>
          </p:cNvPr>
          <p:cNvGrpSpPr/>
          <p:nvPr/>
        </p:nvGrpSpPr>
        <p:grpSpPr>
          <a:xfrm>
            <a:off x="457200" y="1389380"/>
            <a:ext cx="4023360" cy="1617617"/>
            <a:chOff x="365760" y="1691640"/>
            <a:chExt cx="4023360" cy="1617617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78F380D7-7711-51F2-7107-0BF2B96223F7}"/>
                </a:ext>
              </a:extLst>
            </p:cNvPr>
            <p:cNvSpPr/>
            <p:nvPr/>
          </p:nvSpPr>
          <p:spPr>
            <a:xfrm>
              <a:off x="365760" y="1691640"/>
              <a:ext cx="4023360" cy="1617617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1C4BE690-D566-175C-8A95-1ED12C1B3C68}"/>
                </a:ext>
              </a:extLst>
            </p:cNvPr>
            <p:cNvSpPr/>
            <p:nvPr/>
          </p:nvSpPr>
          <p:spPr>
            <a:xfrm>
              <a:off x="365760" y="1691640"/>
              <a:ext cx="45720" cy="1617617"/>
            </a:xfrm>
            <a:prstGeom prst="rect">
              <a:avLst/>
            </a:prstGeom>
            <a:solidFill>
              <a:srgbClr val="478CBF"/>
            </a:solidFill>
            <a:ln w="12700">
              <a:solidFill>
                <a:srgbClr val="478CB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F3066DB-B0E6-A468-DD7A-B9F03F78969C}"/>
                </a:ext>
              </a:extLst>
            </p:cNvPr>
            <p:cNvSpPr/>
            <p:nvPr/>
          </p:nvSpPr>
          <p:spPr>
            <a:xfrm>
              <a:off x="548640" y="178308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478CBF"/>
                  </a:solidFill>
                  <a:latin typeface="Trebuchet MS" pitchFamily="34" charset="0"/>
                </a:rPr>
                <a:t>CONNECT</a:t>
              </a:r>
              <a:endParaRPr lang="en-US" sz="1400" dirty="0">
                <a:solidFill>
                  <a:srgbClr val="478CBF"/>
                </a:solidFill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2BB13A24-884F-C04D-869B-E545B03FB78D}"/>
                </a:ext>
              </a:extLst>
            </p:cNvPr>
            <p:cNvSpPr/>
            <p:nvPr/>
          </p:nvSpPr>
          <p:spPr>
            <a:xfrm>
              <a:off x="502920" y="214884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eventType === "CONNECT"</a:t>
              </a:r>
              <a:endParaRPr lang="en-US" sz="18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4EF1B6F-5B54-83E4-A395-85AACD08E36B}"/>
                </a:ext>
              </a:extLst>
            </p:cNvPr>
            <p:cNvSpPr/>
            <p:nvPr/>
          </p:nvSpPr>
          <p:spPr>
            <a:xfrm>
              <a:off x="548640" y="2440577"/>
              <a:ext cx="37490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 player in DynamoDB.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status to Waiting.</a:t>
              </a:r>
              <a:endParaRPr lang="en-US" sz="14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2D8BA5-50F1-D07D-C91E-5633C7B82C11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D1E23E10-0898-AA38-D2CF-724FF106F39B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3B165EFE-D2C6-4E43-CDC0-8ED4C901469E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03</a:t>
              </a:r>
              <a:endParaRPr lang="en-US" sz="9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FB6E69D-C964-D016-AB5F-4E73B316F242}"/>
              </a:ext>
            </a:extLst>
          </p:cNvPr>
          <p:cNvGrpSpPr/>
          <p:nvPr/>
        </p:nvGrpSpPr>
        <p:grpSpPr>
          <a:xfrm>
            <a:off x="453571" y="3200037"/>
            <a:ext cx="4023360" cy="1617617"/>
            <a:chOff x="365760" y="1691640"/>
            <a:chExt cx="4023360" cy="1617617"/>
          </a:xfrm>
        </p:grpSpPr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7FE7EC66-44E5-6B38-7595-3D3FBFD85FEE}"/>
                </a:ext>
              </a:extLst>
            </p:cNvPr>
            <p:cNvSpPr/>
            <p:nvPr/>
          </p:nvSpPr>
          <p:spPr>
            <a:xfrm>
              <a:off x="365760" y="1691640"/>
              <a:ext cx="4023360" cy="1617617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23589895-1194-6B45-23AA-E3523BD7BE68}"/>
                </a:ext>
              </a:extLst>
            </p:cNvPr>
            <p:cNvSpPr/>
            <p:nvPr/>
          </p:nvSpPr>
          <p:spPr>
            <a:xfrm>
              <a:off x="365760" y="1691640"/>
              <a:ext cx="45720" cy="1617617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11977A2E-88B5-709E-46CE-20FC802584DD}"/>
                </a:ext>
              </a:extLst>
            </p:cNvPr>
            <p:cNvSpPr/>
            <p:nvPr/>
          </p:nvSpPr>
          <p:spPr>
            <a:xfrm>
              <a:off x="548640" y="178308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BFA5"/>
                  </a:solidFill>
                  <a:latin typeface="Trebuchet MS" pitchFamily="34" charset="0"/>
                </a:rPr>
                <a:t>DISCONNECT</a:t>
              </a:r>
              <a:endParaRPr lang="en-US" sz="1400" dirty="0">
                <a:solidFill>
                  <a:srgbClr val="00BFA5"/>
                </a:solidFill>
              </a:endParaRPr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A4026E18-3539-A6DC-04FC-80BF16F17939}"/>
                </a:ext>
              </a:extLst>
            </p:cNvPr>
            <p:cNvSpPr/>
            <p:nvPr/>
          </p:nvSpPr>
          <p:spPr>
            <a:xfrm>
              <a:off x="502920" y="214884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eventType === “DISCONNECT"</a:t>
              </a:r>
              <a:endParaRPr lang="en-US" sz="18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CF44B7AF-6256-FD10-BB88-606267C29685}"/>
                </a:ext>
              </a:extLst>
            </p:cNvPr>
            <p:cNvSpPr/>
            <p:nvPr/>
          </p:nvSpPr>
          <p:spPr>
            <a:xfrm>
              <a:off x="506549" y="2500448"/>
              <a:ext cx="37490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Notify opponent.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Return opponent to queue.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Remove player from DynamoDB.</a:t>
              </a:r>
              <a:endParaRPr lang="en-US" sz="1400" dirty="0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04DBC354-7E2C-9DBE-E1D1-27E5E75DACAE}"/>
              </a:ext>
            </a:extLst>
          </p:cNvPr>
          <p:cNvSpPr/>
          <p:nvPr/>
        </p:nvSpPr>
        <p:spPr>
          <a:xfrm>
            <a:off x="4884057" y="1389380"/>
            <a:ext cx="4023360" cy="342827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7C1C37AC-A67D-6C6A-7B1E-BE4EF00E5D46}"/>
              </a:ext>
            </a:extLst>
          </p:cNvPr>
          <p:cNvSpPr/>
          <p:nvPr/>
        </p:nvSpPr>
        <p:spPr>
          <a:xfrm>
            <a:off x="4884057" y="1389380"/>
            <a:ext cx="45719" cy="342827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77275D64-03B8-045C-EFB4-FDDEE39EFDBF}"/>
              </a:ext>
            </a:extLst>
          </p:cNvPr>
          <p:cNvSpPr/>
          <p:nvPr/>
        </p:nvSpPr>
        <p:spPr>
          <a:xfrm>
            <a:off x="5066937" y="14808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</a:rPr>
              <a:t>MESSAGE</a:t>
            </a:r>
            <a:endParaRPr lang="en-US" sz="140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F83FA29A-4C9F-37BE-E763-C1070FB994AF}"/>
              </a:ext>
            </a:extLst>
          </p:cNvPr>
          <p:cNvSpPr/>
          <p:nvPr/>
        </p:nvSpPr>
        <p:spPr>
          <a:xfrm>
            <a:off x="5021217" y="18465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eventType === “MESSAGE"</a:t>
            </a:r>
            <a:endParaRPr lang="en-US" sz="1800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5DB0A2DC-496D-2D7C-2509-8D9B633EF836}"/>
              </a:ext>
            </a:extLst>
          </p:cNvPr>
          <p:cNvSpPr/>
          <p:nvPr/>
        </p:nvSpPr>
        <p:spPr>
          <a:xfrm>
            <a:off x="5044076" y="2669177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waiting player.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both players.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Match Found message.</a:t>
            </a:r>
            <a:endParaRPr lang="en-US" sz="1400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97B76BAD-CB2B-E3EC-BCC3-8634231260C1}"/>
              </a:ext>
            </a:extLst>
          </p:cNvPr>
          <p:cNvSpPr/>
          <p:nvPr/>
        </p:nvSpPr>
        <p:spPr>
          <a:xfrm>
            <a:off x="5021217" y="22580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data.type</a:t>
            </a: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=== "</a:t>
            </a:r>
            <a:r>
              <a:rPr lang="en-US" sz="1400" b="1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finding_match</a:t>
            </a: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97B14262-D834-C974-7D94-0A44B0ED68E9}"/>
              </a:ext>
            </a:extLst>
          </p:cNvPr>
          <p:cNvSpPr/>
          <p:nvPr/>
        </p:nvSpPr>
        <p:spPr>
          <a:xfrm>
            <a:off x="5044076" y="3817256"/>
            <a:ext cx="3749040" cy="805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player's choice.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opponent's choice.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winner.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result to both players</a:t>
            </a:r>
            <a:endParaRPr lang="en-US" sz="1400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6E34C765-A5D0-F5B8-FC44-B7D8C3013FFB}"/>
              </a:ext>
            </a:extLst>
          </p:cNvPr>
          <p:cNvSpPr/>
          <p:nvPr/>
        </p:nvSpPr>
        <p:spPr>
          <a:xfrm>
            <a:off x="5021217" y="34061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data.type</a:t>
            </a: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=== "</a:t>
            </a:r>
            <a:r>
              <a:rPr lang="en-US" sz="1400" b="1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finding_match</a:t>
            </a: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0734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502920" y="1165860"/>
            <a:ext cx="4754880" cy="269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Godot — Opening the Connection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958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_client = </a:t>
            </a:r>
            <a:r>
              <a:rPr lang="en-US" sz="1200" dirty="0" err="1">
                <a:solidFill>
                  <a:srgbClr val="4DD0E1"/>
                </a:solidFill>
                <a:latin typeface="Consolas" pitchFamily="34" charset="0"/>
              </a:rPr>
              <a:t>WebSocketPeer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 err="1">
                <a:solidFill>
                  <a:srgbClr val="00BFA5"/>
                </a:solidFill>
                <a:latin typeface="Consolas" pitchFamily="34" charset="0"/>
              </a:rPr>
              <a:t>new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endParaRPr lang="en-US" sz="1200" dirty="0">
              <a:solidFill>
                <a:srgbClr val="FF99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1200" dirty="0" err="1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on_connect_button_press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r>
              <a:rPr lang="en-US" sz="12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endParaRPr lang="en-US" sz="1200" dirty="0"/>
          </a:p>
          <a:p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if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r>
              <a:rPr lang="en-US" sz="1200" dirty="0" err="1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connect_to_url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web_socket_url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connect_btn.disabled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endParaRPr lang="en-US" sz="1200" dirty="0"/>
          </a:p>
          <a:p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else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	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label.text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"Failed to connect."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59" y="1280159"/>
            <a:ext cx="46973" cy="1958778"/>
          </a:xfrm>
          <a:prstGeom prst="rect">
            <a:avLst/>
          </a:prstGeom>
          <a:solidFill>
            <a:srgbClr val="478CBF"/>
          </a:solidFill>
          <a:ln w="12700">
            <a:solidFill>
              <a:srgbClr val="478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3355849"/>
            <a:ext cx="8412480" cy="16668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rgbClr val="00BFA5"/>
                </a:solidFill>
              </a:rPr>
              <a:t>Key points</a:t>
            </a:r>
          </a:p>
          <a:p>
            <a:endParaRPr lang="en-US" sz="1400" b="1" dirty="0">
              <a:solidFill>
                <a:srgbClr val="00BFA5"/>
              </a:solidFill>
            </a:endParaRPr>
          </a:p>
          <a:p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WebSocketPeer.new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- Godot's built-in WebSocket client</a:t>
            </a:r>
          </a:p>
          <a:p>
            <a:endParaRPr lang="en-US" sz="14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connect_to_url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- one call, Godot handles the TLS handshake</a:t>
            </a:r>
          </a:p>
          <a:p>
            <a:endParaRPr lang="en-US" sz="14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Disable the button immediately to prevent double-connect</a:t>
            </a:r>
          </a:p>
          <a:p>
            <a:endParaRPr lang="en-US" sz="14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55848"/>
            <a:ext cx="45720" cy="166681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781082"/>
            <a:ext cx="7451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46842"/>
            <a:ext cx="7451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77194"/>
            <a:ext cx="7451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50143E9-D952-5D4D-CC3F-06134A37C9B7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18" name="Shape 0">
              <a:extLst>
                <a:ext uri="{FF2B5EF4-FFF2-40B4-BE49-F238E27FC236}">
                  <a16:creationId xmlns:a16="http://schemas.microsoft.com/office/drawing/2014/main" id="{349E33AD-A892-8043-90AA-C1649CB330EF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">
              <a:extLst>
                <a:ext uri="{FF2B5EF4-FFF2-40B4-BE49-F238E27FC236}">
                  <a16:creationId xmlns:a16="http://schemas.microsoft.com/office/drawing/2014/main" id="{9E385ED4-9981-4C71-3DF5-FA224538ECAB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04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Godot Client — The Game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60286"/>
            <a:ext cx="5029200" cy="298885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4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_process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(_delta: </a:t>
            </a:r>
            <a:r>
              <a:rPr lang="en-US" sz="14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r>
              <a:rPr lang="en-US" sz="14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endParaRPr lang="en-US" sz="1400" dirty="0"/>
          </a:p>
          <a:p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_</a:t>
            </a:r>
            <a:r>
              <a:rPr lang="en-US" sz="14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r>
              <a:rPr lang="en-US" sz="1400" dirty="0" err="1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
</a:t>
            </a:r>
            <a:endParaRPr lang="en-US" sz="1400" dirty="0"/>
          </a:p>
          <a:p>
            <a:r>
              <a:rPr lang="en-US" sz="14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var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_</a:t>
            </a:r>
            <a:r>
              <a:rPr lang="en-US" sz="14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r>
              <a:rPr lang="en-US" sz="1400" dirty="0" err="1">
                <a:solidFill>
                  <a:srgbClr val="00BFA5"/>
                </a:solidFill>
                <a:latin typeface="Consolas" pitchFamily="34" charset="0"/>
              </a:rPr>
              <a:t>get_ready_state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400" dirty="0"/>
          </a:p>
          <a:p>
            <a:r>
              <a:rPr lang="en-US" sz="14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match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
</a:t>
            </a:r>
            <a:endParaRPr lang="en-US" sz="1400" dirty="0"/>
          </a:p>
          <a:p>
            <a:r>
              <a:rPr lang="en-US" sz="14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400" dirty="0" err="1">
                <a:solidFill>
                  <a:srgbClr val="4DD0E1"/>
                </a:solidFill>
                <a:latin typeface="Consolas" pitchFamily="34" charset="0"/>
              </a:rPr>
              <a:t>WebSocketPeer</a:t>
            </a:r>
            <a:r>
              <a:rPr lang="en-US" sz="1400" dirty="0" err="1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 err="1">
                <a:solidFill>
                  <a:srgbClr val="E6EDF3"/>
                </a:solidFill>
                <a:latin typeface="Consolas" pitchFamily="34" charset="0"/>
              </a:rPr>
              <a:t>STATE_OPEN</a:t>
            </a:r>
            <a:r>
              <a:rPr lang="en-US" sz="14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endParaRPr lang="en-US" sz="1400" dirty="0"/>
          </a:p>
          <a:p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400" dirty="0" err="1">
                <a:solidFill>
                  <a:srgbClr val="00BFA5"/>
                </a:solidFill>
                <a:latin typeface="Consolas" pitchFamily="34" charset="0"/>
              </a:rPr>
              <a:t>send_message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 err="1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finding_match</a:t>
            </a: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2784" y="1560286"/>
            <a:ext cx="48696" cy="2988854"/>
          </a:xfrm>
          <a:prstGeom prst="rect">
            <a:avLst/>
          </a:prstGeom>
          <a:solidFill>
            <a:srgbClr val="478CBF"/>
          </a:solidFill>
          <a:ln w="12700">
            <a:solidFill>
              <a:srgbClr val="478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431481-72EB-D967-71F0-CEB7743AEE8A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20F381F9-F3F6-3E27-3B6C-3BE0F70ECC83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47B4854B-5599-32D8-1A63-54220EAC8D82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04</a:t>
              </a:r>
              <a:endParaRPr lang="en-US" sz="9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EB6A53-0EB9-5905-748B-20BFF798DA59}"/>
              </a:ext>
            </a:extLst>
          </p:cNvPr>
          <p:cNvGrpSpPr/>
          <p:nvPr/>
        </p:nvGrpSpPr>
        <p:grpSpPr>
          <a:xfrm>
            <a:off x="5590902" y="1566091"/>
            <a:ext cx="3200400" cy="1429815"/>
            <a:chOff x="5669280" y="1691640"/>
            <a:chExt cx="3200400" cy="868680"/>
          </a:xfrm>
        </p:grpSpPr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6244C600-0E88-F5D4-B571-10EE464B2375}"/>
                </a:ext>
              </a:extLst>
            </p:cNvPr>
            <p:cNvSpPr/>
            <p:nvPr/>
          </p:nvSpPr>
          <p:spPr>
            <a:xfrm>
              <a:off x="5669280" y="1691640"/>
              <a:ext cx="3200400" cy="86868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r>
                <a:rPr lang="en-US" b="1" dirty="0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poll() every frame</a:t>
              </a:r>
              <a:endParaRPr lang="en-US" dirty="0"/>
            </a:p>
            <a:p>
              <a:endPara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Tells Godot to process WebSocket network events.</a:t>
              </a:r>
              <a:endParaRPr lang="en-US" sz="1600" dirty="0"/>
            </a:p>
          </p:txBody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B7DBBA1F-CD73-3F57-B347-A8E43E9E7413}"/>
                </a:ext>
              </a:extLst>
            </p:cNvPr>
            <p:cNvSpPr/>
            <p:nvPr/>
          </p:nvSpPr>
          <p:spPr>
            <a:xfrm>
              <a:off x="5669280" y="1691640"/>
              <a:ext cx="45720" cy="868680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269428F-B586-8801-0C2B-F3F19CB13A13}"/>
              </a:ext>
            </a:extLst>
          </p:cNvPr>
          <p:cNvGrpSpPr/>
          <p:nvPr/>
        </p:nvGrpSpPr>
        <p:grpSpPr>
          <a:xfrm>
            <a:off x="5590902" y="3184070"/>
            <a:ext cx="3205213" cy="1365070"/>
            <a:chOff x="5664467" y="2743200"/>
            <a:chExt cx="3205213" cy="960120"/>
          </a:xfrm>
        </p:grpSpPr>
        <p:sp>
          <p:nvSpPr>
            <p:cNvPr id="28" name="Shape 10">
              <a:extLst>
                <a:ext uri="{FF2B5EF4-FFF2-40B4-BE49-F238E27FC236}">
                  <a16:creationId xmlns:a16="http://schemas.microsoft.com/office/drawing/2014/main" id="{E68A032E-9156-4412-646B-A85C3FE38E63}"/>
                </a:ext>
              </a:extLst>
            </p:cNvPr>
            <p:cNvSpPr/>
            <p:nvPr/>
          </p:nvSpPr>
          <p:spPr>
            <a:xfrm>
              <a:off x="5669280" y="2743200"/>
              <a:ext cx="3200400" cy="96012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r>
                <a:rPr lang="en-US" sz="2000" b="1" dirty="0">
                  <a:solidFill>
                    <a:srgbClr val="FF9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Auto-queue on open</a:t>
              </a:r>
              <a:endParaRPr lang="en-US" sz="2000" dirty="0"/>
            </a:p>
            <a:p>
              <a:endPara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STATE_OPEN fires once. Immediately send </a:t>
              </a:r>
              <a:r>
                <a:rPr lang="en-US" sz="1400" dirty="0" err="1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finding_match</a:t>
              </a:r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— we know why the player opened the app.</a:t>
              </a:r>
              <a:endParaRPr lang="en-US" sz="1400" dirty="0"/>
            </a:p>
          </p:txBody>
        </p:sp>
        <p:sp>
          <p:nvSpPr>
            <p:cNvPr id="29" name="Shape 11">
              <a:extLst>
                <a:ext uri="{FF2B5EF4-FFF2-40B4-BE49-F238E27FC236}">
                  <a16:creationId xmlns:a16="http://schemas.microsoft.com/office/drawing/2014/main" id="{7654EDE1-EAE0-44CF-B03A-F8F0A6577754}"/>
                </a:ext>
              </a:extLst>
            </p:cNvPr>
            <p:cNvSpPr/>
            <p:nvPr/>
          </p:nvSpPr>
          <p:spPr>
            <a:xfrm>
              <a:off x="5664467" y="2743200"/>
              <a:ext cx="50533" cy="96012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Godot Client — Sending message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5039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send_message</a:t>
            </a:r>
            <a:r>
              <a:rPr lang="en-US" sz="12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(msg: </a:t>
            </a:r>
            <a:r>
              <a:rPr lang="en-US" sz="12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r>
              <a:rPr lang="en-US" sz="12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endParaRPr lang="en-US" sz="120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_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r>
              <a:rPr lang="en-US" sz="1200" dirty="0" err="1">
                <a:solidFill>
                  <a:srgbClr val="00BFA5"/>
                </a:solidFill>
                <a:latin typeface="Consolas" pitchFamily="34" charset="0"/>
              </a:rPr>
              <a:t>get_ready_state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r>
              <a:rPr lang="en-US" sz="1200" dirty="0" err="1">
                <a:solidFill>
                  <a:srgbClr val="4DD0E1"/>
                </a:solidFill>
                <a:latin typeface="Consolas" pitchFamily="34" charset="0"/>
              </a:rPr>
              <a:t>WebSocketPeer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.STATE_OPEN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endParaRPr lang="en-US" sz="120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r>
              <a:rPr lang="en-US" sz="1200" dirty="0" err="1">
                <a:solidFill>
                  <a:srgbClr val="00BFA5"/>
                </a:solidFill>
                <a:latin typeface="Consolas" pitchFamily="34" charset="0"/>
              </a:rPr>
              <a:t>send_text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</a:t>
            </a:r>
            <a:r>
              <a:rPr lang="en-US" sz="1200" dirty="0" err="1">
                <a:solidFill>
                  <a:srgbClr val="00BFA5"/>
                </a:solidFill>
                <a:latin typeface="Consolas" pitchFamily="34" charset="0"/>
              </a:rPr>
              <a:t>stringify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(msg))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5720" cy="1554480"/>
          </a:xfrm>
          <a:prstGeom prst="rect">
            <a:avLst/>
          </a:prstGeom>
          <a:solidFill>
            <a:srgbClr val="478CBF"/>
          </a:solidFill>
          <a:ln w="12700">
            <a:solidFill>
              <a:srgbClr val="478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F4F162-A791-505B-190B-AB8A9BCD2B19}"/>
              </a:ext>
            </a:extLst>
          </p:cNvPr>
          <p:cNvGrpSpPr/>
          <p:nvPr/>
        </p:nvGrpSpPr>
        <p:grpSpPr>
          <a:xfrm>
            <a:off x="359882" y="3383280"/>
            <a:ext cx="1730175" cy="1420946"/>
            <a:chOff x="5669280" y="1691639"/>
            <a:chExt cx="3200400" cy="1273630"/>
          </a:xfrm>
        </p:grpSpPr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CFC13994-5067-335C-F503-D015F4F85295}"/>
                </a:ext>
              </a:extLst>
            </p:cNvPr>
            <p:cNvSpPr/>
            <p:nvPr/>
          </p:nvSpPr>
          <p:spPr>
            <a:xfrm>
              <a:off x="5669280" y="1691639"/>
              <a:ext cx="3200400" cy="127363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r>
                <a:rPr lang="en-US" sz="1600" b="1" dirty="0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Sending Choice </a:t>
              </a:r>
              <a:endPara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</a:t>
              </a: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"type": "choice",</a:t>
              </a: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"choice": "rock"</a:t>
              </a: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}</a:t>
              </a:r>
              <a:endParaRPr lang="en-US" sz="1400" dirty="0"/>
            </a:p>
          </p:txBody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5B49A064-08CE-FD3A-D280-E20E0D428915}"/>
                </a:ext>
              </a:extLst>
            </p:cNvPr>
            <p:cNvSpPr/>
            <p:nvPr/>
          </p:nvSpPr>
          <p:spPr>
            <a:xfrm>
              <a:off x="5669280" y="1691640"/>
              <a:ext cx="95444" cy="1227908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F6D71F-A607-0027-36E3-BD26B0337305}"/>
              </a:ext>
            </a:extLst>
          </p:cNvPr>
          <p:cNvGrpSpPr/>
          <p:nvPr/>
        </p:nvGrpSpPr>
        <p:grpSpPr>
          <a:xfrm>
            <a:off x="4659245" y="3383281"/>
            <a:ext cx="4210436" cy="1420947"/>
            <a:chOff x="5664468" y="2743199"/>
            <a:chExt cx="3205212" cy="960121"/>
          </a:xfrm>
        </p:grpSpPr>
        <p:sp>
          <p:nvSpPr>
            <p:cNvPr id="29" name="Shape 10">
              <a:extLst>
                <a:ext uri="{FF2B5EF4-FFF2-40B4-BE49-F238E27FC236}">
                  <a16:creationId xmlns:a16="http://schemas.microsoft.com/office/drawing/2014/main" id="{0EF1F7CD-3D14-EE5C-CF8D-5EEC0F170B6F}"/>
                </a:ext>
              </a:extLst>
            </p:cNvPr>
            <p:cNvSpPr/>
            <p:nvPr/>
          </p:nvSpPr>
          <p:spPr>
            <a:xfrm>
              <a:off x="5669280" y="2743199"/>
              <a:ext cx="3200400" cy="96012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r>
                <a:rPr lang="en-US" sz="1600" b="1" dirty="0">
                  <a:solidFill>
                    <a:srgbClr val="FF9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Sending message logic</a:t>
              </a:r>
              <a:endParaRPr lang="en-US" sz="1600" dirty="0"/>
            </a:p>
            <a:p>
              <a:endPara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function first verifies that the WebSocket connection is active.</a:t>
              </a:r>
            </a:p>
            <a:p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Then converts the </a:t>
              </a:r>
              <a:r>
                <a:rPr lang="en-US" sz="1200" dirty="0" err="1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GDScript</a:t>
              </a:r>
              <a:r>
                <a:rPr lang="en-US" sz="12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Dictionary into a JSON string and sends it to the server.</a:t>
              </a:r>
              <a:endParaRPr lang="en-US" sz="1200" dirty="0"/>
            </a:p>
          </p:txBody>
        </p:sp>
        <p:sp>
          <p:nvSpPr>
            <p:cNvPr id="30" name="Shape 11">
              <a:extLst>
                <a:ext uri="{FF2B5EF4-FFF2-40B4-BE49-F238E27FC236}">
                  <a16:creationId xmlns:a16="http://schemas.microsoft.com/office/drawing/2014/main" id="{0EA988BF-5C16-1D84-317E-4743391AE0F5}"/>
                </a:ext>
              </a:extLst>
            </p:cNvPr>
            <p:cNvSpPr/>
            <p:nvPr/>
          </p:nvSpPr>
          <p:spPr>
            <a:xfrm>
              <a:off x="5664468" y="2743200"/>
              <a:ext cx="39279" cy="96012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17865D-69F1-2274-5683-113D046C6D2B}"/>
              </a:ext>
            </a:extLst>
          </p:cNvPr>
          <p:cNvGrpSpPr/>
          <p:nvPr/>
        </p:nvGrpSpPr>
        <p:grpSpPr>
          <a:xfrm>
            <a:off x="2268582" y="3383281"/>
            <a:ext cx="2216177" cy="1420947"/>
            <a:chOff x="5669280" y="1691639"/>
            <a:chExt cx="3200400" cy="1136469"/>
          </a:xfrm>
        </p:grpSpPr>
        <p:sp>
          <p:nvSpPr>
            <p:cNvPr id="35" name="Shape 6">
              <a:extLst>
                <a:ext uri="{FF2B5EF4-FFF2-40B4-BE49-F238E27FC236}">
                  <a16:creationId xmlns:a16="http://schemas.microsoft.com/office/drawing/2014/main" id="{6827EBCF-E190-E093-D6B5-68DE042A5227}"/>
                </a:ext>
              </a:extLst>
            </p:cNvPr>
            <p:cNvSpPr/>
            <p:nvPr/>
          </p:nvSpPr>
          <p:spPr>
            <a:xfrm>
              <a:off x="5669280" y="1691639"/>
              <a:ext cx="3200400" cy="1136469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r>
                <a:rPr lang="en-US" sz="1600" b="1" dirty="0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Sending match making request </a:t>
              </a:r>
              <a:endPara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</a:t>
              </a: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"type": "</a:t>
              </a:r>
              <a:r>
                <a:rPr lang="en-US" sz="1400" dirty="0" err="1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finding_match</a:t>
              </a:r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",</a:t>
              </a:r>
            </a:p>
            <a:p>
              <a:r>
                <a:rPr lang="en-US" sz="14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}</a:t>
              </a:r>
              <a:endParaRPr lang="en-US" sz="1400" dirty="0"/>
            </a:p>
          </p:txBody>
        </p:sp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CAC15889-1B7F-2D62-AC43-CFB316709F67}"/>
                </a:ext>
              </a:extLst>
            </p:cNvPr>
            <p:cNvSpPr/>
            <p:nvPr/>
          </p:nvSpPr>
          <p:spPr>
            <a:xfrm>
              <a:off x="5669280" y="1691640"/>
              <a:ext cx="45720" cy="1136468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B740C2B-E404-D944-BCB1-2333F9FD1A02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76AEABEA-56E1-84B1-F60D-8BCF24381375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327F929B-2B79-A720-8C68-1E152A2F363A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04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Godot — Receiving Messages</a:t>
            </a:r>
            <a:endParaRPr lang="en-US" sz="3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B1EEDF-4A8C-35FA-EB4C-F40ED107984D}"/>
              </a:ext>
            </a:extLst>
          </p:cNvPr>
          <p:cNvGrpSpPr/>
          <p:nvPr/>
        </p:nvGrpSpPr>
        <p:grpSpPr>
          <a:xfrm>
            <a:off x="365760" y="1737360"/>
            <a:ext cx="5175504" cy="2807208"/>
            <a:chOff x="365760" y="438635"/>
            <a:chExt cx="5029200" cy="4361965"/>
          </a:xfrm>
        </p:grpSpPr>
        <p:sp>
          <p:nvSpPr>
            <p:cNvPr id="5" name="Shape 3"/>
            <p:cNvSpPr/>
            <p:nvPr/>
          </p:nvSpPr>
          <p:spPr>
            <a:xfrm>
              <a:off x="365760" y="438635"/>
              <a:ext cx="5029200" cy="4361965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r>
                <a:rPr lang="en-US" sz="14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Packet loop (inside _process)
</a:t>
              </a:r>
              <a:endParaRPr lang="en-US" sz="1400" dirty="0"/>
            </a:p>
            <a:p>
              <a:r>
                <a:rPr lang="en-US" sz="1400" dirty="0">
                  <a:solidFill>
                    <a:srgbClr val="FF99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while 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_</a:t>
              </a:r>
              <a:r>
                <a:rPr lang="en-US" sz="14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client.</a:t>
              </a:r>
              <a:r>
                <a:rPr lang="en-US" sz="1400" dirty="0" err="1">
                  <a:solidFill>
                    <a:srgbClr val="00BFA5"/>
                  </a:solidFill>
                  <a:latin typeface="Consolas" pitchFamily="34" charset="0"/>
                </a:rPr>
                <a:t>get_available_packet_count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&gt; </a:t>
              </a:r>
              <a:r>
                <a:rPr lang="en-US" sz="1400" dirty="0">
                  <a:solidFill>
                    <a:srgbClr val="4DD0E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
</a:t>
              </a:r>
              <a:endParaRPr lang="en-US" sz="1400" dirty="0"/>
            </a:p>
            <a:p>
              <a:r>
                <a:rPr lang="en-US" sz="1400" dirty="0">
                  <a:solidFill>
                    <a:srgbClr val="FF99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var 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msg = </a:t>
              </a:r>
              <a:r>
                <a:rPr lang="en-US" sz="14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JSON.</a:t>
              </a:r>
              <a:r>
                <a:rPr lang="en-US" sz="1400" dirty="0" err="1">
                  <a:solidFill>
                    <a:srgbClr val="00BFA5"/>
                  </a:solidFill>
                  <a:latin typeface="Consolas" pitchFamily="34" charset="0"/>
                </a:rPr>
                <a:t>parse_string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(_</a:t>
              </a:r>
              <a:r>
                <a:rPr lang="en-US" sz="14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client.</a:t>
              </a:r>
              <a:r>
                <a:rPr lang="en-US" sz="1400" dirty="0" err="1">
                  <a:solidFill>
                    <a:srgbClr val="00BFA5"/>
                  </a:solidFill>
                  <a:latin typeface="Consolas" pitchFamily="34" charset="0"/>
                </a:rPr>
                <a:t>get_packet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())
</a:t>
              </a:r>
              <a:endParaRPr lang="en-US" sz="1400" dirty="0"/>
            </a:p>
            <a:p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400" dirty="0">
                  <a:solidFill>
                    <a:srgbClr val="00BFA5"/>
                  </a:solidFill>
                  <a:latin typeface="Consolas" pitchFamily="34" charset="0"/>
                </a:rPr>
                <a:t>_</a:t>
              </a:r>
              <a:r>
                <a:rPr lang="en-US" sz="1400" dirty="0" err="1">
                  <a:solidFill>
                    <a:srgbClr val="00BFA5"/>
                  </a:solidFill>
                  <a:latin typeface="Consolas" pitchFamily="34" charset="0"/>
                </a:rPr>
                <a:t>on_message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(msg)</a:t>
              </a:r>
              <a:r>
                <a:rPr lang="en-US" sz="11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
</a:t>
              </a:r>
              <a:endParaRPr lang="en-US" sz="11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438635"/>
              <a:ext cx="45720" cy="4361965"/>
            </a:xfrm>
            <a:prstGeom prst="rect">
              <a:avLst/>
            </a:prstGeom>
            <a:solidFill>
              <a:srgbClr val="478CBF"/>
            </a:solidFill>
            <a:ln w="12700">
              <a:solidFill>
                <a:srgbClr val="478C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 6"/>
          <p:cNvSpPr/>
          <p:nvPr/>
        </p:nvSpPr>
        <p:spPr>
          <a:xfrm>
            <a:off x="566928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</a:rPr>
              <a:t>Server messages &amp; client reactions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2057400"/>
            <a:ext cx="3200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2057400"/>
            <a:ext cx="36576" cy="4572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0756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waiting_for_opponent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0" y="22951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waiting state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569464"/>
            <a:ext cx="3200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2569464"/>
            <a:ext cx="36576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0" y="2587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match_found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28072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choice buttons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081528"/>
            <a:ext cx="3200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0" y="3081528"/>
            <a:ext cx="36576" cy="4572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30998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waiting_for_opponent_choice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33192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waiting state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593592"/>
            <a:ext cx="3200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0" y="3593592"/>
            <a:ext cx="36576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0" y="36118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38313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/ Lose / Draw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4105656"/>
            <a:ext cx="3200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69280" y="4105656"/>
            <a:ext cx="36576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41239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opponent_disconnected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4343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win — they left!</a:t>
            </a:r>
            <a:endParaRPr lang="en-US" sz="1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A0714C-A21C-A172-FF31-5F59801B3896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30" name="Shape 0">
              <a:extLst>
                <a:ext uri="{FF2B5EF4-FFF2-40B4-BE49-F238E27FC236}">
                  <a16:creationId xmlns:a16="http://schemas.microsoft.com/office/drawing/2014/main" id="{FF5CF042-FEB2-3FBA-1278-D1249BC93929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">
              <a:extLst>
                <a:ext uri="{FF2B5EF4-FFF2-40B4-BE49-F238E27FC236}">
                  <a16:creationId xmlns:a16="http://schemas.microsoft.com/office/drawing/2014/main" id="{2C23DDC1-7436-0433-6484-B4CFAE653676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04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Demonstration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6576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both clients → watch DynamoDB rows appear in real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36576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578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found → both screens update simultaneously (Lambda pushing to 2 connectionIds)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328416"/>
            <a:ext cx="36576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32841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32841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 picks Rock → waiting_for_opponent_choice state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78224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4078224"/>
            <a:ext cx="36576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07822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07822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B picks → result appears on both screens, rows cleared</a:t>
            </a:r>
            <a:endParaRPr lang="en-US" sz="13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82A223-7185-986E-B6B0-EF33F7F443A3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84330F1B-E96D-1647-0327-4ED5FB9AB094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980D4E32-736A-26E7-ED53-7D82AC4C346E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05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2560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88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117"/>
                </a:solidFill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Lessons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5720" cy="10058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Stale connections (GoneException)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9397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Disconnected players may remain in DynamoDB.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Matchmaking can try to send messages to players who are no longer connected.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5720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DynamoDB Scan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19125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ScanCommand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every player in the table.</a:t>
            </a:r>
          </a:p>
          <a:p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and more expensive as the number of players grows.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5720" cy="1005840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977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Lambda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28853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Lambda does not keep data in memory between requests.</a:t>
            </a:r>
          </a:p>
          <a:p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 must be stored and retrieved from DynamoDB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 — AWS GameLift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Suitable for turn-based games</a:t>
            </a:r>
          </a:p>
          <a:p>
            <a:pPr lvl="1"/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Reliable message delivery</a:t>
            </a:r>
          </a:p>
          <a:p>
            <a:pPr lvl="1"/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matchmaking and lobby updates</a:t>
            </a:r>
          </a:p>
          <a:p>
            <a:pPr lvl="1"/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designed for continuous synchronization</a:t>
            </a:r>
          </a:p>
          <a:p>
            <a:pPr lvl="1"/>
            <a:endParaRPr lang="en-US" sz="1200" dirty="0">
              <a:solidFill>
                <a:srgbClr val="8B94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persistent in-memory state</a:t>
            </a:r>
          </a:p>
          <a:p>
            <a:pPr lvl="1"/>
            <a:endParaRPr lang="en-US" sz="1200" dirty="0">
              <a:solidFill>
                <a:srgbClr val="8B94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Game logic in Lambda + DynamoDB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5720" cy="3108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 + Lambda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(Today)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be used for FPS, racing games, </a:t>
            </a: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</a:p>
          <a:p>
            <a:pPr lvl="1"/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Always-on dedicated server</a:t>
            </a:r>
          </a:p>
          <a:p>
            <a:pPr lvl="1"/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Supports high-frequency player updates</a:t>
            </a:r>
          </a:p>
          <a:p>
            <a:pPr lvl="1"/>
            <a:endParaRPr lang="en-US" sz="1200" dirty="0">
              <a:solidFill>
                <a:srgbClr val="E6ED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for real-time physics simulation</a:t>
            </a:r>
          </a:p>
          <a:p>
            <a:pPr lvl="1"/>
            <a:endParaRPr lang="en-US" sz="1200" dirty="0"/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Authoritative game state in memory</a:t>
            </a:r>
            <a:endParaRPr lang="en-US" sz="1200" dirty="0"/>
          </a:p>
          <a:p>
            <a:pPr lvl="1"/>
            <a:endParaRPr lang="en-US" sz="1200" dirty="0"/>
          </a:p>
          <a:p>
            <a:pPr lvl="1"/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Auto-scaling fleet management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45720" cy="3108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GameLift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(Dedicated Server)</a:t>
            </a:r>
            <a:endParaRPr lang="en-US" sz="14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F51A1F-E0CE-40C3-989D-2D687E54B186}"/>
              </a:ext>
            </a:extLst>
          </p:cNvPr>
          <p:cNvGrpSpPr/>
          <p:nvPr/>
        </p:nvGrpSpPr>
        <p:grpSpPr>
          <a:xfrm>
            <a:off x="457200" y="274320"/>
            <a:ext cx="1005840" cy="260604"/>
            <a:chOff x="457200" y="274320"/>
            <a:chExt cx="1005840" cy="260604"/>
          </a:xfrm>
        </p:grpSpPr>
        <p:sp>
          <p:nvSpPr>
            <p:cNvPr id="26" name="Shape 0">
              <a:extLst>
                <a:ext uri="{FF2B5EF4-FFF2-40B4-BE49-F238E27FC236}">
                  <a16:creationId xmlns:a16="http://schemas.microsoft.com/office/drawing/2014/main" id="{BA4F9D8F-73C1-8003-A3C3-08AA6681B1B2}"/>
                </a:ext>
              </a:extLst>
            </p:cNvPr>
            <p:cNvSpPr/>
            <p:nvPr/>
          </p:nvSpPr>
          <p:spPr>
            <a:xfrm>
              <a:off x="457200" y="274320"/>
              <a:ext cx="1005840" cy="256032"/>
            </a:xfrm>
            <a:prstGeom prst="rect">
              <a:avLst/>
            </a:prstGeom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">
              <a:extLst>
                <a:ext uri="{FF2B5EF4-FFF2-40B4-BE49-F238E27FC236}">
                  <a16:creationId xmlns:a16="http://schemas.microsoft.com/office/drawing/2014/main" id="{6DC4B414-5BD5-3516-0FF4-9E0C1354E0EB}"/>
                </a:ext>
              </a:extLst>
            </p:cNvPr>
            <p:cNvSpPr/>
            <p:nvPr/>
          </p:nvSpPr>
          <p:spPr>
            <a:xfrm>
              <a:off x="457200" y="27889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0D1117"/>
                  </a:solidFill>
                </a:rPr>
                <a:t>SECTION 06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23109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for listening!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1101</Words>
  <Application>Microsoft Office PowerPoint</Application>
  <PresentationFormat>On-screen Show (16:9)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Multiplayer in the Cloud: Connecting Godot Clients with AWS WebSockets</dc:title>
  <dc:subject>PptxGenJS Presentation</dc:subject>
  <dc:creator>Speaker</dc:creator>
  <cp:lastModifiedBy>QUOC BAO NGUYEN</cp:lastModifiedBy>
  <cp:revision>6</cp:revision>
  <dcterms:created xsi:type="dcterms:W3CDTF">2026-06-05T06:44:32Z</dcterms:created>
  <dcterms:modified xsi:type="dcterms:W3CDTF">2026-06-05T09:19:27Z</dcterms:modified>
</cp:coreProperties>
</file>