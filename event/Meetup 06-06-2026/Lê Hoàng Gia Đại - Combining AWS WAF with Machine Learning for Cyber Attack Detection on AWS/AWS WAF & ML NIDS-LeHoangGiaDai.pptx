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Noto Sans" panose="020B0502040504020204" pitchFamily="34" charset="0"/>
      <p:regular r:id="rId31"/>
    </p:embeddedFont>
    <p:embeddedFont>
      <p:font typeface="Noto Sans Bold" panose="020B0604020202020204" charset="0"/>
      <p:regular r:id="rId32"/>
    </p:embeddedFont>
    <p:embeddedFont>
      <p:font typeface="Noto Sans Italic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40.svg"/><Relationship Id="rId3" Type="http://schemas.openxmlformats.org/officeDocument/2006/relationships/image" Target="../media/image2.svg"/><Relationship Id="rId7" Type="http://schemas.openxmlformats.org/officeDocument/2006/relationships/image" Target="../media/image35.sv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8.svg"/><Relationship Id="rId5" Type="http://schemas.openxmlformats.org/officeDocument/2006/relationships/image" Target="../media/image34.svg"/><Relationship Id="rId10" Type="http://schemas.openxmlformats.org/officeDocument/2006/relationships/image" Target="../media/image37.svg"/><Relationship Id="rId4" Type="http://schemas.openxmlformats.org/officeDocument/2006/relationships/image" Target="../media/image33.svg"/><Relationship Id="rId9" Type="http://schemas.openxmlformats.org/officeDocument/2006/relationships/image" Target="../media/image36.svg"/><Relationship Id="rId1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sv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726186" y="3101637"/>
            <a:ext cx="4533114" cy="4533114"/>
          </a:xfrm>
          <a:custGeom>
            <a:avLst/>
            <a:gdLst/>
            <a:ahLst/>
            <a:cxnLst/>
            <a:rect l="l" t="t" r="r" b="b"/>
            <a:pathLst>
              <a:path w="4533114" h="4533114">
                <a:moveTo>
                  <a:pt x="0" y="0"/>
                </a:moveTo>
                <a:lnTo>
                  <a:pt x="4533114" y="0"/>
                </a:lnTo>
                <a:lnTo>
                  <a:pt x="4533114" y="4533114"/>
                </a:lnTo>
                <a:lnTo>
                  <a:pt x="0" y="453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059276" y="5147597"/>
            <a:ext cx="1866933" cy="1866933"/>
          </a:xfrm>
          <a:custGeom>
            <a:avLst/>
            <a:gdLst/>
            <a:ahLst/>
            <a:cxnLst/>
            <a:rect l="l" t="t" r="r" b="b"/>
            <a:pathLst>
              <a:path w="1866933" h="1866933">
                <a:moveTo>
                  <a:pt x="0" y="0"/>
                </a:moveTo>
                <a:lnTo>
                  <a:pt x="1866934" y="0"/>
                </a:lnTo>
                <a:lnTo>
                  <a:pt x="1866934" y="1866934"/>
                </a:lnTo>
                <a:lnTo>
                  <a:pt x="0" y="1866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3607557"/>
            <a:ext cx="12453957" cy="340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Machine Learning-based Network Intrusion Detection System (NIDS) on AWS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72428"/>
            <a:ext cx="16456334" cy="111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>
                <a:gradFill>
                  <a:gsLst>
                    <a:gs pos="0">
                      <a:srgbClr val="653000">
                        <a:alpha val="100000"/>
                      </a:srgbClr>
                    </a:gs>
                    <a:gs pos="100000">
                      <a:srgbClr val="C58200">
                        <a:alpha val="100000"/>
                      </a:srgbClr>
                    </a:gs>
                  </a:gsLst>
                  <a:lin ang="0"/>
                </a:gradFill>
                <a:latin typeface="Noto Sans Bold"/>
                <a:ea typeface="Noto Sans Bold"/>
                <a:cs typeface="Noto Sans Bold"/>
                <a:sym typeface="Noto Sans Bold"/>
              </a:rPr>
              <a:t>WAF + ML</a:t>
            </a:r>
            <a:r>
              <a:rPr lang="en-US" sz="6500" b="1">
                <a:gradFill>
                  <a:gsLst>
                    <a:gs pos="0">
                      <a:srgbClr val="55380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5400000"/>
                </a:gra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65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Cyber Attack Detection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99365"/>
            <a:ext cx="8287475" cy="1581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Speaker: 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Lê Hoàng Gia Đại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ID: 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2280618445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Team: 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G3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217171" y="3759043"/>
            <a:ext cx="1384457" cy="1384457"/>
          </a:xfrm>
          <a:custGeom>
            <a:avLst/>
            <a:gdLst/>
            <a:ahLst/>
            <a:cxnLst/>
            <a:rect l="l" t="t" r="r" b="b"/>
            <a:pathLst>
              <a:path w="1384457" h="1384457">
                <a:moveTo>
                  <a:pt x="0" y="0"/>
                </a:moveTo>
                <a:lnTo>
                  <a:pt x="1384456" y="0"/>
                </a:lnTo>
                <a:lnTo>
                  <a:pt x="1384456" y="1384457"/>
                </a:lnTo>
                <a:lnTo>
                  <a:pt x="0" y="1384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551046"/>
            <a:ext cx="16230600" cy="478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WAF: Capabilities, strengths, and limitations.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Why signature-based protection is not enough for modern attacks.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Introduction to NIDS and behavior-based detection using Machine Learning.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Building and training a Machine Learning-based NIDS using the CSE-CIC-IDS2018 dataset.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Developing a real-time dashboard for attack monitoring and visualization.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Correlating NIDS predictions with AWS WAF events for enhanced threat detection.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System architecture, deployment on AWS, and operational workflow.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Demo, lessons learned, challenges, and future improvements.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Agenda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11064"/>
            <a:ext cx="16230600" cy="138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Combining AWS WAF with Machine Learning for Cyber Attack Detection on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302009" y="3849705"/>
            <a:ext cx="2802988" cy="172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7"/>
              </a:lnSpc>
              <a:spcBef>
                <a:spcPct val="0"/>
              </a:spcBef>
            </a:pPr>
            <a:r>
              <a:rPr lang="en-US" sz="10005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WAF</a:t>
            </a:r>
          </a:p>
        </p:txBody>
      </p:sp>
      <p:sp>
        <p:nvSpPr>
          <p:cNvPr id="8" name="Freeform 8"/>
          <p:cNvSpPr/>
          <p:nvPr/>
        </p:nvSpPr>
        <p:spPr>
          <a:xfrm>
            <a:off x="6183003" y="4405638"/>
            <a:ext cx="3119006" cy="1831633"/>
          </a:xfrm>
          <a:custGeom>
            <a:avLst/>
            <a:gdLst/>
            <a:ahLst/>
            <a:cxnLst/>
            <a:rect l="l" t="t" r="r" b="b"/>
            <a:pathLst>
              <a:path w="3119006" h="1831633">
                <a:moveTo>
                  <a:pt x="0" y="0"/>
                </a:moveTo>
                <a:lnTo>
                  <a:pt x="3119006" y="0"/>
                </a:lnTo>
                <a:lnTo>
                  <a:pt x="3119006" y="1831632"/>
                </a:lnTo>
                <a:lnTo>
                  <a:pt x="0" y="183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89" t="-31312" r="-9205" b="-306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706412" y="2339478"/>
            <a:ext cx="3339932" cy="6322741"/>
          </a:xfrm>
          <a:custGeom>
            <a:avLst/>
            <a:gdLst/>
            <a:ahLst/>
            <a:cxnLst/>
            <a:rect l="l" t="t" r="r" b="b"/>
            <a:pathLst>
              <a:path w="3339932" h="6322741">
                <a:moveTo>
                  <a:pt x="0" y="0"/>
                </a:moveTo>
                <a:lnTo>
                  <a:pt x="3339932" y="0"/>
                </a:lnTo>
                <a:lnTo>
                  <a:pt x="3339932" y="6322742"/>
                </a:lnTo>
                <a:lnTo>
                  <a:pt x="0" y="6322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396" t="-65944" r="-305231" b="-910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591775" y="6745544"/>
            <a:ext cx="1916676" cy="1916676"/>
          </a:xfrm>
          <a:custGeom>
            <a:avLst/>
            <a:gdLst/>
            <a:ahLst/>
            <a:cxnLst/>
            <a:rect l="l" t="t" r="r" b="b"/>
            <a:pathLst>
              <a:path w="1916676" h="1916676">
                <a:moveTo>
                  <a:pt x="0" y="0"/>
                </a:moveTo>
                <a:lnTo>
                  <a:pt x="1916676" y="0"/>
                </a:lnTo>
                <a:lnTo>
                  <a:pt x="1916676" y="1916676"/>
                </a:lnTo>
                <a:lnTo>
                  <a:pt x="0" y="1916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2143324"/>
            <a:ext cx="13729946" cy="174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AWS WAF (Web Application Firewall):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Is a web application firewall service from Amazon Web Services that helps protect websites, APIs, and applications from common web exploits at the HTTP/HTTPS layer, such as </a:t>
            </a:r>
            <a:r>
              <a:rPr lang="en-US" sz="25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SQL Injection</a:t>
            </a:r>
            <a:r>
              <a:rPr lang="en-US" sz="2500">
                <a:solidFill>
                  <a:srgbClr val="D3262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5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XSS</a:t>
            </a:r>
            <a:r>
              <a:rPr lang="en-US" sz="2500">
                <a:solidFill>
                  <a:srgbClr val="D3262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5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bot traffic</a:t>
            </a:r>
            <a:r>
              <a:rPr lang="en-US" sz="2500">
                <a:solidFill>
                  <a:srgbClr val="D32628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5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brute force</a:t>
            </a:r>
            <a:r>
              <a:rPr lang="en-US" sz="2500">
                <a:solidFill>
                  <a:srgbClr val="D32628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5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anomalous requests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894336"/>
            <a:ext cx="13717292" cy="262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Features: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Protects CloudFront, Application Load Balancer, API Gateway, and Cognito.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Allows the creation of Web ACLs and rules to Allow / Block / Count / CAPTCHA.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Supports AWS Managed Rules and custom rules.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Features rate limiting to mitigate brute force, scraping, and anomalous traffic.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Integrates logging, monitoring, and centralized operations on AWS.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AWS WAF - Web Application Protection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521648"/>
            <a:ext cx="11363050" cy="262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Benefits: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Enhances security for web applications and APIs.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Reduces the risk of common vulnerability exploits.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Fast deployment and easy integration with AWS infrastructure.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Serves as an additional layer of defense alongside secure coding and patching.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706412" y="2292086"/>
            <a:ext cx="3339932" cy="6370134"/>
          </a:xfrm>
          <a:custGeom>
            <a:avLst/>
            <a:gdLst/>
            <a:ahLst/>
            <a:cxnLst/>
            <a:rect l="l" t="t" r="r" b="b"/>
            <a:pathLst>
              <a:path w="3339932" h="6370134">
                <a:moveTo>
                  <a:pt x="0" y="0"/>
                </a:moveTo>
                <a:lnTo>
                  <a:pt x="3339932" y="0"/>
                </a:lnTo>
                <a:lnTo>
                  <a:pt x="3339932" y="6370134"/>
                </a:lnTo>
                <a:lnTo>
                  <a:pt x="0" y="6370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396" t="-64710" r="-305231" b="-903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591775" y="6745544"/>
            <a:ext cx="1916676" cy="1916676"/>
          </a:xfrm>
          <a:custGeom>
            <a:avLst/>
            <a:gdLst/>
            <a:ahLst/>
            <a:cxnLst/>
            <a:rect l="l" t="t" r="r" b="b"/>
            <a:pathLst>
              <a:path w="1916676" h="1916676">
                <a:moveTo>
                  <a:pt x="0" y="0"/>
                </a:moveTo>
                <a:lnTo>
                  <a:pt x="1916676" y="0"/>
                </a:lnTo>
                <a:lnTo>
                  <a:pt x="1916676" y="1916676"/>
                </a:lnTo>
                <a:lnTo>
                  <a:pt x="0" y="1916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AWS WAF - The Limitations of Traditional WAF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234936"/>
            <a:ext cx="13479751" cy="306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Rule-Based Detection Is No Longer Enough?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Mechanism: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Primarily relies on predefined rules </a:t>
            </a: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(Rule-Based Detection)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Strength: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Highly effective against known attack patterns.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Vulnerabilities: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Struggles significantly against:</a:t>
            </a:r>
          </a:p>
          <a:p>
            <a:pPr marL="1079515" lvl="2" indent="-359838" algn="l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Novel / Zero-day attack techniques</a:t>
            </a:r>
          </a:p>
          <a:p>
            <a:pPr marL="1079515" lvl="2" indent="-359838" algn="l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Hybrid &amp; spoofing attacks</a:t>
            </a:r>
          </a:p>
          <a:p>
            <a:pPr marL="1079515" lvl="2" indent="-359838" algn="l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Unprecedented anomalous behaviors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458023"/>
            <a:ext cx="11363050" cy="262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Moving Beyond Predefined Rules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Challenge:</a:t>
            </a:r>
          </a:p>
          <a:p>
            <a:pPr algn="ctr">
              <a:lnSpc>
                <a:spcPts val="3500"/>
              </a:lnSpc>
            </a:pPr>
            <a:r>
              <a:rPr lang="en-US" sz="2500" i="1">
                <a:solidFill>
                  <a:srgbClr val="FFFFFF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"Is it possible to build a system capable of learning from network data to detect threats without having to predefine every single rule?"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Solution: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WAF + Machine Learning NIDS.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Goal: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Proactive defense and automated adaptation to new threats.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58939" y="3308283"/>
            <a:ext cx="10770123" cy="347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Introduction to NIDS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028212" y="2757227"/>
            <a:ext cx="1137361" cy="1137361"/>
          </a:xfrm>
          <a:custGeom>
            <a:avLst/>
            <a:gdLst/>
            <a:ahLst/>
            <a:cxnLst/>
            <a:rect l="l" t="t" r="r" b="b"/>
            <a:pathLst>
              <a:path w="1137361" h="1137361">
                <a:moveTo>
                  <a:pt x="0" y="0"/>
                </a:moveTo>
                <a:lnTo>
                  <a:pt x="1137361" y="0"/>
                </a:lnTo>
                <a:lnTo>
                  <a:pt x="1137361" y="1137361"/>
                </a:lnTo>
                <a:lnTo>
                  <a:pt x="0" y="1137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028212" y="4637538"/>
            <a:ext cx="1137361" cy="1336642"/>
          </a:xfrm>
          <a:custGeom>
            <a:avLst/>
            <a:gdLst/>
            <a:ahLst/>
            <a:cxnLst/>
            <a:rect l="l" t="t" r="r" b="b"/>
            <a:pathLst>
              <a:path w="1137361" h="1336642">
                <a:moveTo>
                  <a:pt x="0" y="0"/>
                </a:moveTo>
                <a:lnTo>
                  <a:pt x="1137361" y="0"/>
                </a:lnTo>
                <a:lnTo>
                  <a:pt x="1137361" y="1336642"/>
                </a:lnTo>
                <a:lnTo>
                  <a:pt x="0" y="1336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362191" y="4686384"/>
            <a:ext cx="1093106" cy="1239605"/>
          </a:xfrm>
          <a:custGeom>
            <a:avLst/>
            <a:gdLst/>
            <a:ahLst/>
            <a:cxnLst/>
            <a:rect l="l" t="t" r="r" b="b"/>
            <a:pathLst>
              <a:path w="1093106" h="1239605">
                <a:moveTo>
                  <a:pt x="0" y="0"/>
                </a:moveTo>
                <a:lnTo>
                  <a:pt x="1093106" y="0"/>
                </a:lnTo>
                <a:lnTo>
                  <a:pt x="1093106" y="1239605"/>
                </a:lnTo>
                <a:lnTo>
                  <a:pt x="0" y="1239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028212" y="7571552"/>
            <a:ext cx="1137361" cy="1137361"/>
          </a:xfrm>
          <a:custGeom>
            <a:avLst/>
            <a:gdLst/>
            <a:ahLst/>
            <a:cxnLst/>
            <a:rect l="l" t="t" r="r" b="b"/>
            <a:pathLst>
              <a:path w="1137361" h="1137361">
                <a:moveTo>
                  <a:pt x="0" y="0"/>
                </a:moveTo>
                <a:lnTo>
                  <a:pt x="1137361" y="0"/>
                </a:lnTo>
                <a:lnTo>
                  <a:pt x="1137361" y="1137361"/>
                </a:lnTo>
                <a:lnTo>
                  <a:pt x="0" y="1137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736541" y="8140232"/>
            <a:ext cx="634563" cy="755432"/>
          </a:xfrm>
          <a:custGeom>
            <a:avLst/>
            <a:gdLst/>
            <a:ahLst/>
            <a:cxnLst/>
            <a:rect l="l" t="t" r="r" b="b"/>
            <a:pathLst>
              <a:path w="634563" h="755432">
                <a:moveTo>
                  <a:pt x="0" y="0"/>
                </a:moveTo>
                <a:lnTo>
                  <a:pt x="634563" y="0"/>
                </a:lnTo>
                <a:lnTo>
                  <a:pt x="634563" y="755433"/>
                </a:lnTo>
                <a:lnTo>
                  <a:pt x="0" y="755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4596892" y="3894588"/>
            <a:ext cx="0" cy="74295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H="1">
            <a:off x="14596892" y="5974180"/>
            <a:ext cx="0" cy="1597372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5165573" y="5305859"/>
            <a:ext cx="1196618" cy="328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6908744" y="5925989"/>
            <a:ext cx="0" cy="1285618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3510178" y="2070805"/>
            <a:ext cx="4445381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flipV="1">
            <a:off x="13529228" y="2070805"/>
            <a:ext cx="0" cy="7635233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flipV="1">
            <a:off x="17936509" y="2051746"/>
            <a:ext cx="0" cy="7654291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196393" y="2070805"/>
            <a:ext cx="740116" cy="740116"/>
          </a:xfrm>
          <a:custGeom>
            <a:avLst/>
            <a:gdLst/>
            <a:ahLst/>
            <a:cxnLst/>
            <a:rect l="l" t="t" r="r" b="b"/>
            <a:pathLst>
              <a:path w="740116" h="740116">
                <a:moveTo>
                  <a:pt x="0" y="0"/>
                </a:moveTo>
                <a:lnTo>
                  <a:pt x="740116" y="0"/>
                </a:lnTo>
                <a:lnTo>
                  <a:pt x="740116" y="740116"/>
                </a:lnTo>
                <a:lnTo>
                  <a:pt x="0" y="740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13510178" y="9686979"/>
            <a:ext cx="4445381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7520625" y="3086100"/>
            <a:ext cx="3246750" cy="4114800"/>
          </a:xfrm>
          <a:custGeom>
            <a:avLst/>
            <a:gdLst/>
            <a:ahLst/>
            <a:cxnLst/>
            <a:rect l="l" t="t" r="r" b="b"/>
            <a:pathLst>
              <a:path w="3246750" h="4114800">
                <a:moveTo>
                  <a:pt x="0" y="0"/>
                </a:moveTo>
                <a:lnTo>
                  <a:pt x="3246750" y="0"/>
                </a:lnTo>
                <a:lnTo>
                  <a:pt x="3246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6283713" y="7308855"/>
            <a:ext cx="1550572" cy="1550572"/>
          </a:xfrm>
          <a:custGeom>
            <a:avLst/>
            <a:gdLst/>
            <a:ahLst/>
            <a:cxnLst/>
            <a:rect l="l" t="t" r="r" b="b"/>
            <a:pathLst>
              <a:path w="1550572" h="1550572">
                <a:moveTo>
                  <a:pt x="0" y="0"/>
                </a:moveTo>
                <a:lnTo>
                  <a:pt x="1550572" y="0"/>
                </a:lnTo>
                <a:lnTo>
                  <a:pt x="1550572" y="1550573"/>
                </a:lnTo>
                <a:lnTo>
                  <a:pt x="0" y="1550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312728"/>
            <a:ext cx="12481478" cy="2553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Network Intrusion Detection System (NIDS)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NIDS (Network Intrusion Detection System)</a:t>
            </a:r>
            <a:r>
              <a:rPr lang="en-US" sz="2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is a system designed to monitor and detect cyberattacks targeting the network.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Objective:</a:t>
            </a:r>
            <a:r>
              <a:rPr lang="en-US" sz="28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Detect anomalous behaviors, attacks, and unauthorized access to the system.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4923892"/>
            <a:ext cx="12481478" cy="360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Functions of NIDS:</a:t>
            </a:r>
          </a:p>
          <a:p>
            <a:pPr marL="626111" lvl="1" indent="-313055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Traffic Monitoring:</a:t>
            </a:r>
            <a:r>
              <a:rPr lang="en-US" sz="2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Network, Web, and HTTP/HTTPS traffic.</a:t>
            </a:r>
          </a:p>
          <a:p>
            <a:pPr marL="626111" lvl="1" indent="-313055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Behavioral Analysis:</a:t>
            </a:r>
            <a:r>
              <a:rPr lang="en-US" sz="2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Signature matching or anomaly detection.</a:t>
            </a:r>
          </a:p>
          <a:p>
            <a:pPr marL="626111" lvl="1" indent="-313055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Detection &amp; Alerting:</a:t>
            </a:r>
            <a:r>
              <a:rPr lang="en-US" sz="2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Sends real-time alerts upon threat detection.</a:t>
            </a:r>
          </a:p>
          <a:p>
            <a:pPr marL="626111" lvl="1" indent="-313055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Logging &amp; Response:</a:t>
            </a:r>
            <a:r>
              <a:rPr lang="en-US" sz="2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Records incident details for further analysis.</a:t>
            </a:r>
          </a:p>
          <a:p>
            <a:pPr marL="626111" lvl="1" indent="-313055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Integration Capabilities:</a:t>
            </a:r>
            <a:r>
              <a:rPr lang="en-US" sz="29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Seamlessly integrates with Firewalls, SIEMs, or other IDS solutions.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31452" y="8909051"/>
            <a:ext cx="1997273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Trusted Network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70931" y="2312728"/>
            <a:ext cx="1651921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The Internet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708819" y="5926555"/>
            <a:ext cx="1025433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Firewall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60341" y="4301997"/>
            <a:ext cx="740116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NIDS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975174" y="8909051"/>
            <a:ext cx="1859111" cy="70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NIDS management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1210666"/>
            <a:ext cx="16499087" cy="86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Network Intrusion Detection System (NIDS)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712631" y="6214412"/>
            <a:ext cx="2546669" cy="2546669"/>
          </a:xfrm>
          <a:custGeom>
            <a:avLst/>
            <a:gdLst/>
            <a:ahLst/>
            <a:cxnLst/>
            <a:rect l="l" t="t" r="r" b="b"/>
            <a:pathLst>
              <a:path w="2546669" h="2546669">
                <a:moveTo>
                  <a:pt x="0" y="0"/>
                </a:moveTo>
                <a:lnTo>
                  <a:pt x="2546669" y="0"/>
                </a:lnTo>
                <a:lnTo>
                  <a:pt x="2546669" y="2546669"/>
                </a:lnTo>
                <a:lnTo>
                  <a:pt x="0" y="2546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712631" y="2596831"/>
            <a:ext cx="2546669" cy="2546669"/>
          </a:xfrm>
          <a:custGeom>
            <a:avLst/>
            <a:gdLst/>
            <a:ahLst/>
            <a:cxnLst/>
            <a:rect l="l" t="t" r="r" b="b"/>
            <a:pathLst>
              <a:path w="2546669" h="2546669">
                <a:moveTo>
                  <a:pt x="0" y="0"/>
                </a:moveTo>
                <a:lnTo>
                  <a:pt x="2546669" y="0"/>
                </a:lnTo>
                <a:lnTo>
                  <a:pt x="2546669" y="2546669"/>
                </a:lnTo>
                <a:lnTo>
                  <a:pt x="0" y="25466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2403749"/>
            <a:ext cx="13210334" cy="264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Machine Learning: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Capable of learning from real-world network behaviors.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Detects novel attack patterns.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Automatically analyzes massive volumes of network data.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Continuously adapts to rapidly changing threats.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0666"/>
            <a:ext cx="16499087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ML &amp; AWS Applications in Cybersecurity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149531"/>
            <a:ext cx="13210334" cy="206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Amazon Web Services: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Infrastructure platform built to meet stringent security requirements.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Service model reduces the burden of physical security management.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Ability to scale security on-demand based on system needs.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395283" y="6780404"/>
            <a:ext cx="1181365" cy="707342"/>
          </a:xfrm>
          <a:custGeom>
            <a:avLst/>
            <a:gdLst/>
            <a:ahLst/>
            <a:cxnLst/>
            <a:rect l="l" t="t" r="r" b="b"/>
            <a:pathLst>
              <a:path w="1181365" h="707342">
                <a:moveTo>
                  <a:pt x="0" y="0"/>
                </a:moveTo>
                <a:lnTo>
                  <a:pt x="1181365" y="0"/>
                </a:lnTo>
                <a:lnTo>
                  <a:pt x="1181365" y="707342"/>
                </a:lnTo>
                <a:lnTo>
                  <a:pt x="0" y="7073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422525"/>
            <a:ext cx="16230600" cy="525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Building and training a Machine Learning-based NIDS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55559" y="9855201"/>
            <a:ext cx="18157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221083"/>
            <a:ext cx="16230600" cy="8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Comparative Study of Datasets</a:t>
            </a:r>
          </a:p>
        </p:txBody>
      </p:sp>
      <p:graphicFrame>
        <p:nvGraphicFramePr>
          <p:cNvPr id="11" name="Object 11"/>
          <p:cNvGraphicFramePr/>
          <p:nvPr>
            <p:extLst>
              <p:ext uri="{D42A27DB-BD31-4B8C-83A1-F6EECF244321}">
                <p14:modId xmlns:p14="http://schemas.microsoft.com/office/powerpoint/2010/main" val="873560706"/>
              </p:ext>
            </p:extLst>
          </p:nvPr>
        </p:nvGraphicFramePr>
        <p:xfrm>
          <a:off x="0" y="647700"/>
          <a:ext cx="18288000" cy="9639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011900" imgH="10185400" progId="Excel.Sheet.12">
                  <p:embed/>
                </p:oleObj>
              </mc:Choice>
              <mc:Fallback>
                <p:oleObj name="Worksheet" r:id="rId4" imgW="19011900" imgH="10185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647700"/>
                        <a:ext cx="18288000" cy="9639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234356"/>
            <a:ext cx="9603297" cy="478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CSE-CIC-IDS2018 Dataset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CSE-CIC-IDS2018 on AWS 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was developed through a collaboration between the </a:t>
            </a: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Communications Security Establishment (CSE)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and the </a:t>
            </a: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Canadian Institute for Cybersecurity (CIC)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at the </a:t>
            </a: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 of New Brunswick (UNB), Canada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Source: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i="1">
                <a:solidFill>
                  <a:srgbClr val="FFFFFF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University of New Brunswick (UNB) Dataset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D326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https://www.unb.ca/cic/datasets/ids-2018.html</a:t>
            </a: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17801" y="1276633"/>
            <a:ext cx="909210" cy="836473"/>
          </a:xfrm>
          <a:custGeom>
            <a:avLst/>
            <a:gdLst/>
            <a:ahLst/>
            <a:cxnLst/>
            <a:rect l="l" t="t" r="r" b="b"/>
            <a:pathLst>
              <a:path w="909210" h="836473">
                <a:moveTo>
                  <a:pt x="0" y="0"/>
                </a:moveTo>
                <a:lnTo>
                  <a:pt x="909210" y="0"/>
                </a:lnTo>
                <a:lnTo>
                  <a:pt x="909210" y="836473"/>
                </a:lnTo>
                <a:lnTo>
                  <a:pt x="0" y="836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210666"/>
            <a:ext cx="16390838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Selected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143750"/>
            <a:ext cx="16390838" cy="211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Dataset Labels: ['Benign', 'Bot', 'DoS attacks-SlowHTTPTest', 'DoS attacks-Hulk', 'Label', 'Brute Force -Web', 'Brute Force -XSS', 'SQL Injection', 'DoS attacks-GoldenEye', 'DoS attacks-Slowloris', 'FTP-BruteForce','SSH-Bruteforce', 'DDOS attack-LOIC-UDP', 'DDOS attack-HOIC']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631997" y="2229841"/>
            <a:ext cx="6788149" cy="4724400"/>
          </a:xfrm>
          <a:custGeom>
            <a:avLst/>
            <a:gdLst/>
            <a:ahLst/>
            <a:cxnLst/>
            <a:rect l="l" t="t" r="r" b="b"/>
            <a:pathLst>
              <a:path w="6788149" h="4724400">
                <a:moveTo>
                  <a:pt x="0" y="0"/>
                </a:moveTo>
                <a:lnTo>
                  <a:pt x="6788149" y="0"/>
                </a:lnTo>
                <a:lnTo>
                  <a:pt x="6788149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0" r="-32439" b="-7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29235" y="7593893"/>
            <a:ext cx="3086100" cy="1543050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85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56878" y="7593893"/>
            <a:ext cx="3086100" cy="1543050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E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73009" y="7593893"/>
            <a:ext cx="3086100" cy="1543050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596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05103" y="7593893"/>
            <a:ext cx="3086100" cy="1543050"/>
            <a:chOff x="0" y="0"/>
            <a:chExt cx="812800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74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21234" y="7593893"/>
            <a:ext cx="3086100" cy="1543050"/>
            <a:chOff x="0" y="0"/>
            <a:chExt cx="8128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52549" y="7593893"/>
            <a:ext cx="3086100" cy="1543050"/>
            <a:chOff x="0" y="0"/>
            <a:chExt cx="812800" cy="406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6E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869459" y="7593893"/>
            <a:ext cx="3176885" cy="1543050"/>
            <a:chOff x="0" y="0"/>
            <a:chExt cx="836710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36710" cy="406400"/>
            </a:xfrm>
            <a:custGeom>
              <a:avLst/>
              <a:gdLst/>
              <a:ahLst/>
              <a:cxnLst/>
              <a:rect l="l" t="t" r="r" b="b"/>
              <a:pathLst>
                <a:path w="836710" h="406400">
                  <a:moveTo>
                    <a:pt x="0" y="0"/>
                  </a:moveTo>
                  <a:lnTo>
                    <a:pt x="633511" y="0"/>
                  </a:lnTo>
                  <a:lnTo>
                    <a:pt x="836710" y="203200"/>
                  </a:lnTo>
                  <a:lnTo>
                    <a:pt x="6335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14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800" y="-47625"/>
              <a:ext cx="58271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1390993" y="1315441"/>
            <a:ext cx="5868307" cy="5959714"/>
          </a:xfrm>
          <a:custGeom>
            <a:avLst/>
            <a:gdLst/>
            <a:ahLst/>
            <a:cxnLst/>
            <a:rect l="l" t="t" r="r" b="b"/>
            <a:pathLst>
              <a:path w="5868307" h="5959714">
                <a:moveTo>
                  <a:pt x="0" y="0"/>
                </a:moveTo>
                <a:lnTo>
                  <a:pt x="5868307" y="0"/>
                </a:lnTo>
                <a:lnTo>
                  <a:pt x="5868307" y="5959714"/>
                </a:lnTo>
                <a:lnTo>
                  <a:pt x="0" y="5959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028700" y="2230643"/>
            <a:ext cx="9845770" cy="53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Explore and process the entire dataset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from multiple CSV files, then merge all </a:t>
            </a:r>
            <a:r>
              <a:rPr lang="en-US" sz="3000" b="1">
                <a:solidFill>
                  <a:srgbClr val="7ED9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.csv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files into a unified dataset.</a:t>
            </a:r>
          </a:p>
          <a:p>
            <a:pPr marL="647705" lvl="1" indent="-323852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 cleaning:</a:t>
            </a:r>
          </a:p>
          <a:p>
            <a:pPr marL="1079515" lvl="2" indent="-359838" algn="l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Remove records with incorrect or corrupted </a:t>
            </a: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Label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values.</a:t>
            </a:r>
          </a:p>
          <a:p>
            <a:pPr marL="1079515" lvl="2" indent="-359838" algn="l">
              <a:lnSpc>
                <a:spcPts val="3500"/>
              </a:lnSpc>
              <a:spcBef>
                <a:spcPct val="0"/>
              </a:spcBef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Handle missing values and invalid values such as negative numbers, </a:t>
            </a: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NaN, 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or</a:t>
            </a: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±∞ (infinity)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marL="1079515" lvl="2" indent="-359838" algn="l">
              <a:lnSpc>
                <a:spcPts val="3500"/>
              </a:lnSpc>
              <a:spcBef>
                <a:spcPct val="0"/>
              </a:spcBef>
              <a:buFont typeface="Arial"/>
              <a:buChar char="⚬"/>
            </a:pP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Remove unnecessary columns and perform data validation checks.</a:t>
            </a:r>
          </a:p>
          <a:p>
            <a:pPr marL="647705" lvl="1" indent="-323852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Split the dataset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into training and testing sets while maintaining class balance.</a:t>
            </a:r>
          </a:p>
        </p:txBody>
      </p:sp>
      <p:sp>
        <p:nvSpPr>
          <p:cNvPr id="33" name="Freeform 33"/>
          <p:cNvSpPr/>
          <p:nvPr/>
        </p:nvSpPr>
        <p:spPr>
          <a:xfrm>
            <a:off x="9571686" y="1249238"/>
            <a:ext cx="899097" cy="891230"/>
          </a:xfrm>
          <a:custGeom>
            <a:avLst/>
            <a:gdLst/>
            <a:ahLst/>
            <a:cxnLst/>
            <a:rect l="l" t="t" r="r" b="b"/>
            <a:pathLst>
              <a:path w="899097" h="891230">
                <a:moveTo>
                  <a:pt x="0" y="0"/>
                </a:moveTo>
                <a:lnTo>
                  <a:pt x="899097" y="0"/>
                </a:lnTo>
                <a:lnTo>
                  <a:pt x="899097" y="891230"/>
                </a:lnTo>
                <a:lnTo>
                  <a:pt x="0" y="89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 Preprocessing Steps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1326" y="7911393"/>
            <a:ext cx="2295552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Step 1: </a:t>
            </a: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Explore the dataset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15335" y="7911393"/>
            <a:ext cx="2132368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Step 2: </a:t>
            </a: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Merge CSV files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42978" y="7911393"/>
            <a:ext cx="2124557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Step 3: </a:t>
            </a: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Clean the data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59109" y="7911393"/>
            <a:ext cx="2037961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Remove invalid labels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63529" y="7692318"/>
            <a:ext cx="2207241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Remove negative, NaN, and ±∞ values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237228" y="7692318"/>
            <a:ext cx="2301421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Remove unnecessary columns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55999" y="7692218"/>
            <a:ext cx="2302765" cy="1317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Step 4: </a:t>
            </a:r>
            <a:r>
              <a:rPr lang="en-US" sz="2499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Balance the classes (labels)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631188"/>
            <a:ext cx="6342175" cy="3131449"/>
          </a:xfrm>
          <a:custGeom>
            <a:avLst/>
            <a:gdLst/>
            <a:ahLst/>
            <a:cxnLst/>
            <a:rect l="l" t="t" r="r" b="b"/>
            <a:pathLst>
              <a:path w="6342175" h="3131449">
                <a:moveTo>
                  <a:pt x="0" y="0"/>
                </a:moveTo>
                <a:lnTo>
                  <a:pt x="6342175" y="0"/>
                </a:lnTo>
                <a:lnTo>
                  <a:pt x="6342175" y="3131449"/>
                </a:lnTo>
                <a:lnTo>
                  <a:pt x="0" y="3131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419573" y="2631188"/>
            <a:ext cx="4538332" cy="3131449"/>
          </a:xfrm>
          <a:custGeom>
            <a:avLst/>
            <a:gdLst/>
            <a:ahLst/>
            <a:cxnLst/>
            <a:rect l="l" t="t" r="r" b="b"/>
            <a:pathLst>
              <a:path w="4538332" h="3131449">
                <a:moveTo>
                  <a:pt x="0" y="0"/>
                </a:moveTo>
                <a:lnTo>
                  <a:pt x="4538331" y="0"/>
                </a:lnTo>
                <a:lnTo>
                  <a:pt x="4538331" y="3131449"/>
                </a:lnTo>
                <a:lnTo>
                  <a:pt x="0" y="3131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30955" y="6163984"/>
            <a:ext cx="6266970" cy="3094316"/>
          </a:xfrm>
          <a:custGeom>
            <a:avLst/>
            <a:gdLst/>
            <a:ahLst/>
            <a:cxnLst/>
            <a:rect l="l" t="t" r="r" b="b"/>
            <a:pathLst>
              <a:path w="6266970" h="3094316">
                <a:moveTo>
                  <a:pt x="0" y="0"/>
                </a:moveTo>
                <a:lnTo>
                  <a:pt x="6266970" y="0"/>
                </a:lnTo>
                <a:lnTo>
                  <a:pt x="6266970" y="3094316"/>
                </a:lnTo>
                <a:lnTo>
                  <a:pt x="0" y="3094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497950" y="6163984"/>
            <a:ext cx="4428360" cy="3094316"/>
          </a:xfrm>
          <a:custGeom>
            <a:avLst/>
            <a:gdLst/>
            <a:ahLst/>
            <a:cxnLst/>
            <a:rect l="l" t="t" r="r" b="b"/>
            <a:pathLst>
              <a:path w="4428360" h="3094316">
                <a:moveTo>
                  <a:pt x="0" y="0"/>
                </a:moveTo>
                <a:lnTo>
                  <a:pt x="4428360" y="0"/>
                </a:lnTo>
                <a:lnTo>
                  <a:pt x="4428360" y="3094316"/>
                </a:lnTo>
                <a:lnTo>
                  <a:pt x="0" y="3094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 Evaluation Using Charts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649634"/>
            <a:ext cx="6269225" cy="51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After Balancing: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066963"/>
            <a:ext cx="6269225" cy="51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Before Balancing: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288746" y="2631188"/>
            <a:ext cx="4970554" cy="3131449"/>
          </a:xfrm>
          <a:custGeom>
            <a:avLst/>
            <a:gdLst/>
            <a:ahLst/>
            <a:cxnLst/>
            <a:rect l="l" t="t" r="r" b="b"/>
            <a:pathLst>
              <a:path w="4970554" h="3131449">
                <a:moveTo>
                  <a:pt x="0" y="0"/>
                </a:moveTo>
                <a:lnTo>
                  <a:pt x="4970554" y="0"/>
                </a:lnTo>
                <a:lnTo>
                  <a:pt x="4970554" y="3131449"/>
                </a:lnTo>
                <a:lnTo>
                  <a:pt x="0" y="31314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036626" y="6176877"/>
            <a:ext cx="5222674" cy="3107491"/>
          </a:xfrm>
          <a:custGeom>
            <a:avLst/>
            <a:gdLst/>
            <a:ahLst/>
            <a:cxnLst/>
            <a:rect l="l" t="t" r="r" b="b"/>
            <a:pathLst>
              <a:path w="5222674" h="3107491">
                <a:moveTo>
                  <a:pt x="0" y="0"/>
                </a:moveTo>
                <a:lnTo>
                  <a:pt x="5222674" y="0"/>
                </a:lnTo>
                <a:lnTo>
                  <a:pt x="5222674" y="3107491"/>
                </a:lnTo>
                <a:lnTo>
                  <a:pt x="0" y="31074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Object 9"/>
          <p:cNvGraphicFramePr/>
          <p:nvPr>
            <p:extLst>
              <p:ext uri="{D42A27DB-BD31-4B8C-83A1-F6EECF244321}">
                <p14:modId xmlns:p14="http://schemas.microsoft.com/office/powerpoint/2010/main" val="3053683384"/>
              </p:ext>
            </p:extLst>
          </p:nvPr>
        </p:nvGraphicFramePr>
        <p:xfrm>
          <a:off x="0" y="0"/>
          <a:ext cx="18288000" cy="1028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11137900" progId="Excel.Sheet.12">
                  <p:embed/>
                </p:oleObj>
              </mc:Choice>
              <mc:Fallback>
                <p:oleObj name="Worksheet" r:id="rId4" imgW="19469100" imgH="11137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8288000" cy="1028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210666"/>
            <a:ext cx="16391446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Confusion Matrix - LightGBM 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25960" y="2229420"/>
            <a:ext cx="9233340" cy="7028880"/>
          </a:xfrm>
          <a:custGeom>
            <a:avLst/>
            <a:gdLst/>
            <a:ahLst/>
            <a:cxnLst/>
            <a:rect l="l" t="t" r="r" b="b"/>
            <a:pathLst>
              <a:path w="9233340" h="7028880">
                <a:moveTo>
                  <a:pt x="0" y="0"/>
                </a:moveTo>
                <a:lnTo>
                  <a:pt x="9233340" y="0"/>
                </a:lnTo>
                <a:lnTo>
                  <a:pt x="9233340" y="7028880"/>
                </a:lnTo>
                <a:lnTo>
                  <a:pt x="0" y="7028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2229420"/>
            <a:ext cx="6277158" cy="7021906"/>
          </a:xfrm>
          <a:custGeom>
            <a:avLst/>
            <a:gdLst/>
            <a:ahLst/>
            <a:cxnLst/>
            <a:rect l="l" t="t" r="r" b="b"/>
            <a:pathLst>
              <a:path w="6277158" h="7021906">
                <a:moveTo>
                  <a:pt x="0" y="0"/>
                </a:moveTo>
                <a:lnTo>
                  <a:pt x="6277158" y="0"/>
                </a:lnTo>
                <a:lnTo>
                  <a:pt x="6277158" y="7021906"/>
                </a:lnTo>
                <a:lnTo>
                  <a:pt x="0" y="7021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422525"/>
            <a:ext cx="16230600" cy="525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architecture, AWS deployment, and operational 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409965" y="7076301"/>
            <a:ext cx="1308713" cy="1658610"/>
          </a:xfrm>
          <a:custGeom>
            <a:avLst/>
            <a:gdLst/>
            <a:ahLst/>
            <a:cxnLst/>
            <a:rect l="l" t="t" r="r" b="b"/>
            <a:pathLst>
              <a:path w="1308713" h="1658610">
                <a:moveTo>
                  <a:pt x="0" y="0"/>
                </a:moveTo>
                <a:lnTo>
                  <a:pt x="1308713" y="0"/>
                </a:lnTo>
                <a:lnTo>
                  <a:pt x="1308713" y="1658610"/>
                </a:lnTo>
                <a:lnTo>
                  <a:pt x="0" y="1658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381035" y="7131484"/>
            <a:ext cx="1528728" cy="1528728"/>
          </a:xfrm>
          <a:custGeom>
            <a:avLst/>
            <a:gdLst/>
            <a:ahLst/>
            <a:cxnLst/>
            <a:rect l="l" t="t" r="r" b="b"/>
            <a:pathLst>
              <a:path w="1528728" h="1528728">
                <a:moveTo>
                  <a:pt x="0" y="0"/>
                </a:moveTo>
                <a:lnTo>
                  <a:pt x="1528727" y="0"/>
                </a:lnTo>
                <a:lnTo>
                  <a:pt x="1528727" y="1528728"/>
                </a:lnTo>
                <a:lnTo>
                  <a:pt x="0" y="1528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370860" y="2182762"/>
            <a:ext cx="1859187" cy="1140254"/>
          </a:xfrm>
          <a:custGeom>
            <a:avLst/>
            <a:gdLst/>
            <a:ahLst/>
            <a:cxnLst/>
            <a:rect l="l" t="t" r="r" b="b"/>
            <a:pathLst>
              <a:path w="1859187" h="1140254">
                <a:moveTo>
                  <a:pt x="0" y="0"/>
                </a:moveTo>
                <a:lnTo>
                  <a:pt x="1859187" y="0"/>
                </a:lnTo>
                <a:lnTo>
                  <a:pt x="1859187" y="1140254"/>
                </a:lnTo>
                <a:lnTo>
                  <a:pt x="0" y="11402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619983" y="7076301"/>
            <a:ext cx="1360940" cy="1543334"/>
          </a:xfrm>
          <a:custGeom>
            <a:avLst/>
            <a:gdLst/>
            <a:ahLst/>
            <a:cxnLst/>
            <a:rect l="l" t="t" r="r" b="b"/>
            <a:pathLst>
              <a:path w="1360940" h="1543334">
                <a:moveTo>
                  <a:pt x="0" y="0"/>
                </a:moveTo>
                <a:lnTo>
                  <a:pt x="1360940" y="0"/>
                </a:lnTo>
                <a:lnTo>
                  <a:pt x="1360940" y="1543333"/>
                </a:lnTo>
                <a:lnTo>
                  <a:pt x="0" y="1543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696096" y="2344586"/>
            <a:ext cx="898604" cy="816607"/>
          </a:xfrm>
          <a:custGeom>
            <a:avLst/>
            <a:gdLst/>
            <a:ahLst/>
            <a:cxnLst/>
            <a:rect l="l" t="t" r="r" b="b"/>
            <a:pathLst>
              <a:path w="898604" h="816607">
                <a:moveTo>
                  <a:pt x="0" y="0"/>
                </a:moveTo>
                <a:lnTo>
                  <a:pt x="898605" y="0"/>
                </a:lnTo>
                <a:lnTo>
                  <a:pt x="898605" y="816606"/>
                </a:lnTo>
                <a:lnTo>
                  <a:pt x="0" y="816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2175915" y="1948314"/>
            <a:ext cx="1609150" cy="1609150"/>
          </a:xfrm>
          <a:custGeom>
            <a:avLst/>
            <a:gdLst/>
            <a:ahLst/>
            <a:cxnLst/>
            <a:rect l="l" t="t" r="r" b="b"/>
            <a:pathLst>
              <a:path w="1609150" h="1609150">
                <a:moveTo>
                  <a:pt x="0" y="0"/>
                </a:moveTo>
                <a:lnTo>
                  <a:pt x="1609150" y="0"/>
                </a:lnTo>
                <a:lnTo>
                  <a:pt x="1609150" y="1609150"/>
                </a:lnTo>
                <a:lnTo>
                  <a:pt x="0" y="1609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755519" y="1964249"/>
            <a:ext cx="1106068" cy="1577281"/>
          </a:xfrm>
          <a:custGeom>
            <a:avLst/>
            <a:gdLst/>
            <a:ahLst/>
            <a:cxnLst/>
            <a:rect l="l" t="t" r="r" b="b"/>
            <a:pathLst>
              <a:path w="1106068" h="1577281">
                <a:moveTo>
                  <a:pt x="0" y="0"/>
                </a:moveTo>
                <a:lnTo>
                  <a:pt x="1106068" y="0"/>
                </a:lnTo>
                <a:lnTo>
                  <a:pt x="1106068" y="1577280"/>
                </a:lnTo>
                <a:lnTo>
                  <a:pt x="0" y="1577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005242" y="2257112"/>
            <a:ext cx="756137" cy="716755"/>
          </a:xfrm>
          <a:custGeom>
            <a:avLst/>
            <a:gdLst/>
            <a:ahLst/>
            <a:cxnLst/>
            <a:rect l="l" t="t" r="r" b="b"/>
            <a:pathLst>
              <a:path w="756137" h="716755">
                <a:moveTo>
                  <a:pt x="0" y="0"/>
                </a:moveTo>
                <a:lnTo>
                  <a:pt x="756138" y="0"/>
                </a:lnTo>
                <a:lnTo>
                  <a:pt x="756138" y="716755"/>
                </a:lnTo>
                <a:lnTo>
                  <a:pt x="0" y="716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399036" y="3921616"/>
            <a:ext cx="3492726" cy="2480979"/>
            <a:chOff x="0" y="0"/>
            <a:chExt cx="919895" cy="6534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9895" cy="653426"/>
            </a:xfrm>
            <a:custGeom>
              <a:avLst/>
              <a:gdLst/>
              <a:ahLst/>
              <a:cxnLst/>
              <a:rect l="l" t="t" r="r" b="b"/>
              <a:pathLst>
                <a:path w="919895" h="653426">
                  <a:moveTo>
                    <a:pt x="0" y="0"/>
                  </a:moveTo>
                  <a:lnTo>
                    <a:pt x="919895" y="0"/>
                  </a:lnTo>
                  <a:lnTo>
                    <a:pt x="919895" y="653426"/>
                  </a:lnTo>
                  <a:lnTo>
                    <a:pt x="0" y="6534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19895" cy="691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DASHBOARD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NETWORK INTRUSION DETECTION SYSTEM (NIDS)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785065" y="2752889"/>
            <a:ext cx="1970454" cy="0"/>
          </a:xfrm>
          <a:prstGeom prst="line">
            <a:avLst/>
          </a:prstGeom>
          <a:ln w="762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9594701" y="2752889"/>
            <a:ext cx="2581214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9145398" y="3575183"/>
            <a:ext cx="0" cy="346433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9909762" y="7895848"/>
            <a:ext cx="2500203" cy="9758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4300453" y="3323016"/>
            <a:ext cx="0" cy="3753284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4980923" y="7847968"/>
            <a:ext cx="1099680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H="1" flipV="1">
            <a:off x="6042503" y="5123985"/>
            <a:ext cx="0" cy="2723983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6042503" y="5162105"/>
            <a:ext cx="1356532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10891761" y="5162105"/>
            <a:ext cx="2172560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V="1">
            <a:off x="13064322" y="3949899"/>
            <a:ext cx="0" cy="1248455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V="1">
            <a:off x="13718827" y="7873285"/>
            <a:ext cx="1969931" cy="27441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5723244" y="7264634"/>
            <a:ext cx="1320133" cy="1166668"/>
          </a:xfrm>
          <a:custGeom>
            <a:avLst/>
            <a:gdLst/>
            <a:ahLst/>
            <a:cxnLst/>
            <a:rect l="l" t="t" r="r" b="b"/>
            <a:pathLst>
              <a:path w="1320133" h="1166668">
                <a:moveTo>
                  <a:pt x="0" y="0"/>
                </a:moveTo>
                <a:lnTo>
                  <a:pt x="1320134" y="0"/>
                </a:lnTo>
                <a:lnTo>
                  <a:pt x="1320134" y="1166667"/>
                </a:lnTo>
                <a:lnTo>
                  <a:pt x="0" y="1166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150798" y="1964249"/>
            <a:ext cx="1614642" cy="1666727"/>
          </a:xfrm>
          <a:custGeom>
            <a:avLst/>
            <a:gdLst/>
            <a:ahLst/>
            <a:cxnLst/>
            <a:rect l="l" t="t" r="r" b="b"/>
            <a:pathLst>
              <a:path w="1614642" h="1666727">
                <a:moveTo>
                  <a:pt x="0" y="0"/>
                </a:moveTo>
                <a:lnTo>
                  <a:pt x="1614642" y="0"/>
                </a:lnTo>
                <a:lnTo>
                  <a:pt x="1614642" y="1666727"/>
                </a:lnTo>
                <a:lnTo>
                  <a:pt x="0" y="1666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1958119" y="4005692"/>
            <a:ext cx="0" cy="3088041"/>
          </a:xfrm>
          <a:prstGeom prst="line">
            <a:avLst/>
          </a:prstGeom>
          <a:ln w="76200" cap="flat">
            <a:solidFill>
              <a:srgbClr val="F39107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09798" y="7093733"/>
            <a:ext cx="1696642" cy="1508469"/>
          </a:xfrm>
          <a:custGeom>
            <a:avLst/>
            <a:gdLst/>
            <a:ahLst/>
            <a:cxnLst/>
            <a:rect l="l" t="t" r="r" b="b"/>
            <a:pathLst>
              <a:path w="1696642" h="1508469">
                <a:moveTo>
                  <a:pt x="0" y="0"/>
                </a:moveTo>
                <a:lnTo>
                  <a:pt x="1696642" y="0"/>
                </a:lnTo>
                <a:lnTo>
                  <a:pt x="1696642" y="1508469"/>
                </a:lnTo>
                <a:lnTo>
                  <a:pt x="0" y="15084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3918278" y="612578"/>
            <a:ext cx="10454242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How NIDS Works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45042" y="2749987"/>
            <a:ext cx="133588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Internet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12995" y="8687286"/>
            <a:ext cx="1974916" cy="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 Server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46522" y="8699609"/>
            <a:ext cx="1635598" cy="42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Database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04669" y="3527558"/>
            <a:ext cx="3919306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Machine Learning Model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52526" y="4633949"/>
            <a:ext cx="1975385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 traffic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72061" y="3094138"/>
            <a:ext cx="1131383" cy="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Alert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553934" y="3527558"/>
            <a:ext cx="1489444" cy="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Dataset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588420" y="8612587"/>
            <a:ext cx="158978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Computer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50798" y="8687286"/>
            <a:ext cx="1614642" cy="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Website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2806440" y="7847968"/>
            <a:ext cx="813543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1150798" y="3583351"/>
            <a:ext cx="1614642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Attack</a:t>
            </a:r>
          </a:p>
        </p:txBody>
      </p:sp>
      <p:sp>
        <p:nvSpPr>
          <p:cNvPr id="48" name="AutoShape 48"/>
          <p:cNvSpPr/>
          <p:nvPr/>
        </p:nvSpPr>
        <p:spPr>
          <a:xfrm>
            <a:off x="9145398" y="6402594"/>
            <a:ext cx="0" cy="72889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109798" y="4410380"/>
            <a:ext cx="1655642" cy="1945733"/>
          </a:xfrm>
          <a:custGeom>
            <a:avLst/>
            <a:gdLst/>
            <a:ahLst/>
            <a:cxnLst/>
            <a:rect l="l" t="t" r="r" b="b"/>
            <a:pathLst>
              <a:path w="1655642" h="1945733">
                <a:moveTo>
                  <a:pt x="0" y="0"/>
                </a:moveTo>
                <a:lnTo>
                  <a:pt x="1655642" y="0"/>
                </a:lnTo>
                <a:lnTo>
                  <a:pt x="1655642" y="1945733"/>
                </a:lnTo>
                <a:lnTo>
                  <a:pt x="0" y="1945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0005" y="845791"/>
            <a:ext cx="12551951" cy="8990335"/>
          </a:xfrm>
          <a:custGeom>
            <a:avLst/>
            <a:gdLst/>
            <a:ahLst/>
            <a:cxnLst/>
            <a:rect l="l" t="t" r="r" b="b"/>
            <a:pathLst>
              <a:path w="12551951" h="8990335">
                <a:moveTo>
                  <a:pt x="0" y="0"/>
                </a:moveTo>
                <a:lnTo>
                  <a:pt x="12551951" y="0"/>
                </a:lnTo>
                <a:lnTo>
                  <a:pt x="12551951" y="8990335"/>
                </a:lnTo>
                <a:lnTo>
                  <a:pt x="0" y="899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66015" y="788641"/>
            <a:ext cx="5380329" cy="904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Architecture with AWS Services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Virtual Private Cloud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EC2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Application Load Balancer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WAF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S3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Kinesis Data Firehose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Lambda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Security Hub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Guard Duty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Inspector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Amazon SNS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IAM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Config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CloudWatch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AWS SMM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-775556"/>
            <a:ext cx="18288000" cy="13098780"/>
          </a:xfrm>
          <a:custGeom>
            <a:avLst/>
            <a:gdLst/>
            <a:ahLst/>
            <a:cxnLst/>
            <a:rect l="l" t="t" r="r" b="b"/>
            <a:pathLst>
              <a:path w="18288000" h="13098780">
                <a:moveTo>
                  <a:pt x="0" y="0"/>
                </a:moveTo>
                <a:lnTo>
                  <a:pt x="18288000" y="0"/>
                </a:lnTo>
                <a:lnTo>
                  <a:pt x="18288000" y="13098780"/>
                </a:lnTo>
                <a:lnTo>
                  <a:pt x="0" y="130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18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41819" y="7640703"/>
            <a:ext cx="1616830" cy="1616830"/>
          </a:xfrm>
          <a:custGeom>
            <a:avLst/>
            <a:gdLst/>
            <a:ahLst/>
            <a:cxnLst/>
            <a:rect l="l" t="t" r="r" b="b"/>
            <a:pathLst>
              <a:path w="1616830" h="1616830">
                <a:moveTo>
                  <a:pt x="0" y="0"/>
                </a:moveTo>
                <a:lnTo>
                  <a:pt x="1616831" y="0"/>
                </a:lnTo>
                <a:lnTo>
                  <a:pt x="1616831" y="1616830"/>
                </a:lnTo>
                <a:lnTo>
                  <a:pt x="0" y="161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749236" y="7640703"/>
            <a:ext cx="1394516" cy="1616830"/>
          </a:xfrm>
          <a:custGeom>
            <a:avLst/>
            <a:gdLst/>
            <a:ahLst/>
            <a:cxnLst/>
            <a:rect l="l" t="t" r="r" b="b"/>
            <a:pathLst>
              <a:path w="1394516" h="1616830">
                <a:moveTo>
                  <a:pt x="0" y="0"/>
                </a:moveTo>
                <a:lnTo>
                  <a:pt x="1394516" y="0"/>
                </a:lnTo>
                <a:lnTo>
                  <a:pt x="1394516" y="1616830"/>
                </a:lnTo>
                <a:lnTo>
                  <a:pt x="0" y="1616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234338" y="7640703"/>
            <a:ext cx="1616830" cy="1616830"/>
          </a:xfrm>
          <a:custGeom>
            <a:avLst/>
            <a:gdLst/>
            <a:ahLst/>
            <a:cxnLst/>
            <a:rect l="l" t="t" r="r" b="b"/>
            <a:pathLst>
              <a:path w="1616830" h="1616830">
                <a:moveTo>
                  <a:pt x="0" y="0"/>
                </a:moveTo>
                <a:lnTo>
                  <a:pt x="1616830" y="0"/>
                </a:lnTo>
                <a:lnTo>
                  <a:pt x="1616830" y="1616830"/>
                </a:lnTo>
                <a:lnTo>
                  <a:pt x="0" y="1616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937143" y="7640703"/>
            <a:ext cx="1616830" cy="1616830"/>
          </a:xfrm>
          <a:custGeom>
            <a:avLst/>
            <a:gdLst/>
            <a:ahLst/>
            <a:cxnLst/>
            <a:rect l="l" t="t" r="r" b="b"/>
            <a:pathLst>
              <a:path w="1616830" h="1616830">
                <a:moveTo>
                  <a:pt x="0" y="0"/>
                </a:moveTo>
                <a:lnTo>
                  <a:pt x="1616831" y="0"/>
                </a:lnTo>
                <a:lnTo>
                  <a:pt x="1616831" y="1616830"/>
                </a:lnTo>
                <a:lnTo>
                  <a:pt x="0" y="161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639949" y="7651301"/>
            <a:ext cx="1606232" cy="1606232"/>
          </a:xfrm>
          <a:custGeom>
            <a:avLst/>
            <a:gdLst/>
            <a:ahLst/>
            <a:cxnLst/>
            <a:rect l="l" t="t" r="r" b="b"/>
            <a:pathLst>
              <a:path w="1606232" h="1606232">
                <a:moveTo>
                  <a:pt x="0" y="0"/>
                </a:moveTo>
                <a:lnTo>
                  <a:pt x="1606232" y="0"/>
                </a:lnTo>
                <a:lnTo>
                  <a:pt x="1606232" y="1606232"/>
                </a:lnTo>
                <a:lnTo>
                  <a:pt x="0" y="16062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1210666"/>
            <a:ext cx="162306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Tools and Development Environment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172691"/>
            <a:ext cx="16230600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Tools Used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Visual Studio Code (VS Code):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Used for backend and frontend system development.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Jupyter Notebook: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Used for data preprocessing, analysis, and machine learning model training.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Python: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Main programming language, utilizing libraries such as scikit-learn, pandas, and NumPy.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GitHub: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Used for source code management, version control, and referencing open-source implementations from other developers.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D38F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AWS (Amazon Web Services):</a:t>
            </a:r>
            <a:r>
              <a:rPr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Provides cloud services for infrastructure deployment, storage, computing, and system management.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94175"/>
            <a:ext cx="162306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495883"/>
            <a:ext cx="16230600" cy="5295233"/>
          </a:xfrm>
          <a:custGeom>
            <a:avLst/>
            <a:gdLst/>
            <a:ahLst/>
            <a:cxnLst/>
            <a:rect l="l" t="t" r="r" b="b"/>
            <a:pathLst>
              <a:path w="16230600" h="5295233">
                <a:moveTo>
                  <a:pt x="0" y="0"/>
                </a:moveTo>
                <a:lnTo>
                  <a:pt x="16230600" y="0"/>
                </a:lnTo>
                <a:lnTo>
                  <a:pt x="16230600" y="5295234"/>
                </a:lnTo>
                <a:lnTo>
                  <a:pt x="0" y="5295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21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207579"/>
            <a:ext cx="16230600" cy="7871841"/>
          </a:xfrm>
          <a:custGeom>
            <a:avLst/>
            <a:gdLst/>
            <a:ahLst/>
            <a:cxnLst/>
            <a:rect l="l" t="t" r="r" b="b"/>
            <a:pathLst>
              <a:path w="16230600" h="7871841">
                <a:moveTo>
                  <a:pt x="0" y="0"/>
                </a:moveTo>
                <a:lnTo>
                  <a:pt x="16230600" y="0"/>
                </a:lnTo>
                <a:lnTo>
                  <a:pt x="16230600" y="7871841"/>
                </a:lnTo>
                <a:lnTo>
                  <a:pt x="0" y="7871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19733" y="1161457"/>
            <a:ext cx="16048535" cy="7964085"/>
          </a:xfrm>
          <a:custGeom>
            <a:avLst/>
            <a:gdLst/>
            <a:ahLst/>
            <a:cxnLst/>
            <a:rect l="l" t="t" r="r" b="b"/>
            <a:pathLst>
              <a:path w="16048535" h="7964085">
                <a:moveTo>
                  <a:pt x="0" y="0"/>
                </a:moveTo>
                <a:lnTo>
                  <a:pt x="16048534" y="0"/>
                </a:lnTo>
                <a:lnTo>
                  <a:pt x="16048534" y="7964086"/>
                </a:lnTo>
                <a:lnTo>
                  <a:pt x="0" y="7964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15441"/>
            <a:ext cx="16230600" cy="3996785"/>
          </a:xfrm>
          <a:custGeom>
            <a:avLst/>
            <a:gdLst/>
            <a:ahLst/>
            <a:cxnLst/>
            <a:rect l="l" t="t" r="r" b="b"/>
            <a:pathLst>
              <a:path w="16230600" h="3996785">
                <a:moveTo>
                  <a:pt x="0" y="0"/>
                </a:moveTo>
                <a:lnTo>
                  <a:pt x="16230600" y="0"/>
                </a:lnTo>
                <a:lnTo>
                  <a:pt x="16230600" y="3996785"/>
                </a:lnTo>
                <a:lnTo>
                  <a:pt x="0" y="3996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477482"/>
            <a:ext cx="16230600" cy="3759246"/>
          </a:xfrm>
          <a:custGeom>
            <a:avLst/>
            <a:gdLst/>
            <a:ahLst/>
            <a:cxnLst/>
            <a:rect l="l" t="t" r="r" b="b"/>
            <a:pathLst>
              <a:path w="16230600" h="3759246">
                <a:moveTo>
                  <a:pt x="0" y="0"/>
                </a:moveTo>
                <a:lnTo>
                  <a:pt x="16230600" y="0"/>
                </a:lnTo>
                <a:lnTo>
                  <a:pt x="16230600" y="3759247"/>
                </a:lnTo>
                <a:lnTo>
                  <a:pt x="0" y="3759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" t="-643" r="-82" b="-5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8" name="Freeform 8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90174"/>
            <a:ext cx="16230600" cy="3753326"/>
          </a:xfrm>
          <a:custGeom>
            <a:avLst/>
            <a:gdLst/>
            <a:ahLst/>
            <a:cxnLst/>
            <a:rect l="l" t="t" r="r" b="b"/>
            <a:pathLst>
              <a:path w="16230600" h="3753326">
                <a:moveTo>
                  <a:pt x="0" y="0"/>
                </a:moveTo>
                <a:lnTo>
                  <a:pt x="16230600" y="0"/>
                </a:lnTo>
                <a:lnTo>
                  <a:pt x="16230600" y="3753326"/>
                </a:lnTo>
                <a:lnTo>
                  <a:pt x="0" y="375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219700"/>
            <a:ext cx="16230600" cy="3753326"/>
          </a:xfrm>
          <a:custGeom>
            <a:avLst/>
            <a:gdLst/>
            <a:ahLst/>
            <a:cxnLst/>
            <a:rect l="l" t="t" r="r" b="b"/>
            <a:pathLst>
              <a:path w="16230600" h="3753326">
                <a:moveTo>
                  <a:pt x="0" y="0"/>
                </a:moveTo>
                <a:lnTo>
                  <a:pt x="16230600" y="0"/>
                </a:lnTo>
                <a:lnTo>
                  <a:pt x="16230600" y="3753326"/>
                </a:lnTo>
                <a:lnTo>
                  <a:pt x="0" y="375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8" name="Freeform 8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020980" y="4020681"/>
            <a:ext cx="5237619" cy="5237619"/>
          </a:xfrm>
          <a:custGeom>
            <a:avLst/>
            <a:gdLst/>
            <a:ahLst/>
            <a:cxnLst/>
            <a:rect l="l" t="t" r="r" b="b"/>
            <a:pathLst>
              <a:path w="5237619" h="5237619">
                <a:moveTo>
                  <a:pt x="0" y="0"/>
                </a:moveTo>
                <a:lnTo>
                  <a:pt x="5237619" y="0"/>
                </a:lnTo>
                <a:lnTo>
                  <a:pt x="5237619" y="5237619"/>
                </a:lnTo>
                <a:lnTo>
                  <a:pt x="0" y="5237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239241"/>
            <a:ext cx="16230600" cy="67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912400"/>
            <a:ext cx="16391446" cy="174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Optimized the machine learning model.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Addressed data imbalance issues, improving the detection of minority attack classes.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Standardized the cloud infrastructure.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Improved system management through a more intuitive administration interface.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577414"/>
            <a:ext cx="16391446" cy="67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 Improvements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5288" y="4256798"/>
            <a:ext cx="11163300" cy="1308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Integrate real-world data streams.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Incorporate GenAI capabilities using Amazon Bedrock.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Automate incident response and mitigation actions.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46216"/>
            <a:ext cx="16391446" cy="67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F3910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Lessons learned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5288" y="6238802"/>
            <a:ext cx="11163300" cy="3112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 quality is critical for ML performance.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Handling class imbalance improves minority attack detection.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Signature-based protection alone is insufficient.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ML-based NIDS complements AWS WAF effectively.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Real-time monitoring enhances threat visibility.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Cloud-native deployment improves scalability and manageability.</a:t>
            </a:r>
          </a:p>
          <a:p>
            <a:pPr marL="539758" lvl="1" indent="-269879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Continuous model updates are necessary to adapt to evolving threats.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134475" y="2499711"/>
            <a:ext cx="9525" cy="675858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547234" y="2650719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2293" y="3164176"/>
            <a:ext cx="7319088" cy="319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Become an AWS Cloud Engineer &amp; Cyber Security Engineer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Final-year student at HUTECH University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Joined FCJ to become the CHAMPION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...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0666"/>
            <a:ext cx="16391446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About 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293" y="2408472"/>
            <a:ext cx="7568433" cy="67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Lê Hoàng Gia Đại - Pretty Boy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538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416574"/>
            <a:ext cx="1088033" cy="870426"/>
          </a:xfrm>
          <a:custGeom>
            <a:avLst/>
            <a:gdLst/>
            <a:ahLst/>
            <a:cxnLst/>
            <a:rect l="l" t="t" r="r" b="b"/>
            <a:pathLst>
              <a:path w="1088033" h="870426">
                <a:moveTo>
                  <a:pt x="0" y="0"/>
                </a:moveTo>
                <a:lnTo>
                  <a:pt x="1088033" y="0"/>
                </a:lnTo>
                <a:lnTo>
                  <a:pt x="1088033" y="870426"/>
                </a:lnTo>
                <a:lnTo>
                  <a:pt x="0" y="870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0" y="9890902"/>
            <a:ext cx="12080438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H="1">
            <a:off x="12080438" y="9890902"/>
            <a:ext cx="6207562" cy="0"/>
          </a:xfrm>
          <a:prstGeom prst="line">
            <a:avLst/>
          </a:prstGeom>
          <a:ln w="47625" cap="flat">
            <a:solidFill>
              <a:srgbClr val="F391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8033" y="9502571"/>
            <a:ext cx="240357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first cloud journey</a:t>
            </a:r>
          </a:p>
        </p:txBody>
      </p:sp>
      <p:sp>
        <p:nvSpPr>
          <p:cNvPr id="6" name="Freeform 6"/>
          <p:cNvSpPr/>
          <p:nvPr/>
        </p:nvSpPr>
        <p:spPr>
          <a:xfrm>
            <a:off x="1628592" y="9344386"/>
            <a:ext cx="827319" cy="507401"/>
          </a:xfrm>
          <a:custGeom>
            <a:avLst/>
            <a:gdLst/>
            <a:ahLst/>
            <a:cxnLst/>
            <a:rect l="l" t="t" r="r" b="b"/>
            <a:pathLst>
              <a:path w="827319" h="507401">
                <a:moveTo>
                  <a:pt x="0" y="0"/>
                </a:moveTo>
                <a:lnTo>
                  <a:pt x="827319" y="0"/>
                </a:lnTo>
                <a:lnTo>
                  <a:pt x="827319" y="507401"/>
                </a:lnTo>
                <a:lnTo>
                  <a:pt x="0" y="50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864774" y="9855201"/>
            <a:ext cx="363141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94175"/>
            <a:ext cx="162306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Thanks for everthing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1279</Words>
  <Application>Microsoft Office PowerPoint</Application>
  <PresentationFormat>Custom</PresentationFormat>
  <Paragraphs>212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Calibri</vt:lpstr>
      <vt:lpstr>Noto Sans Italics</vt:lpstr>
      <vt:lpstr>Arial</vt:lpstr>
      <vt:lpstr>Noto Sans Bold</vt:lpstr>
      <vt:lpstr>Noto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Erica Dimaandal, Agnes Rivera, and Brando Torres</dc:title>
  <cp:lastModifiedBy>Admin</cp:lastModifiedBy>
  <cp:revision>3</cp:revision>
  <dcterms:created xsi:type="dcterms:W3CDTF">2006-08-16T00:00:00Z</dcterms:created>
  <dcterms:modified xsi:type="dcterms:W3CDTF">2026-06-05T23:30:14Z</dcterms:modified>
  <dc:identifier>DAHLtdM_PpE</dc:identifier>
</cp:coreProperties>
</file>