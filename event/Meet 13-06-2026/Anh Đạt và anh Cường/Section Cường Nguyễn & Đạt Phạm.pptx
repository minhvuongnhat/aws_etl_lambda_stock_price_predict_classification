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embeddedFontLst>
    <p:embeddedFont>
      <p:font typeface="Geo"/>
      <p:regular r:id="rId24"/>
      <p:italic r:id="rId25"/>
    </p:embeddedFont>
    <p:embeddedFont>
      <p:font typeface="Play"/>
      <p:regular r:id="rId26"/>
      <p:bold r:id="rId27"/>
    </p:embeddedFont>
    <p:embeddedFont>
      <p:font typeface="Inter SemiBold"/>
      <p:regular r:id="rId28"/>
      <p:bold r:id="rId29"/>
      <p:italic r:id="rId30"/>
      <p:boldItalic r:id="rId31"/>
    </p:embeddedFont>
    <p:embeddedFont>
      <p:font typeface="Montserrat"/>
      <p:regular r:id="rId32"/>
      <p:bold r:id="rId33"/>
      <p:italic r:id="rId34"/>
      <p:boldItalic r:id="rId35"/>
    </p:embeddedFont>
    <p:embeddedFont>
      <p:font typeface="Inter"/>
      <p:regular r:id="rId36"/>
      <p:bold r:id="rId37"/>
      <p:italic r:id="rId38"/>
      <p:boldItalic r:id="rId39"/>
    </p:embeddedFont>
    <p:embeddedFont>
      <p:font typeface="Montserrat Medium"/>
      <p:regular r:id="rId40"/>
      <p:bold r:id="rId41"/>
      <p:italic r:id="rId42"/>
      <p:boldItalic r:id="rId43"/>
    </p:embeddedFont>
    <p:embeddedFont>
      <p:font typeface="Outfit SemiBold"/>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ontserratMedium-regular.fntdata"/><Relationship Id="rId20" Type="http://schemas.openxmlformats.org/officeDocument/2006/relationships/slide" Target="slides/slide16.xml"/><Relationship Id="rId42" Type="http://schemas.openxmlformats.org/officeDocument/2006/relationships/font" Target="fonts/MontserratMedium-italic.fntdata"/><Relationship Id="rId41" Type="http://schemas.openxmlformats.org/officeDocument/2006/relationships/font" Target="fonts/MontserratMedium-bold.fntdata"/><Relationship Id="rId22" Type="http://schemas.openxmlformats.org/officeDocument/2006/relationships/slide" Target="slides/slide18.xml"/><Relationship Id="rId44" Type="http://schemas.openxmlformats.org/officeDocument/2006/relationships/font" Target="fonts/OutfitSemiBold-regular.fntdata"/><Relationship Id="rId21" Type="http://schemas.openxmlformats.org/officeDocument/2006/relationships/slide" Target="slides/slide17.xml"/><Relationship Id="rId43" Type="http://schemas.openxmlformats.org/officeDocument/2006/relationships/font" Target="fonts/MontserratMedium-boldItalic.fntdata"/><Relationship Id="rId24" Type="http://schemas.openxmlformats.org/officeDocument/2006/relationships/font" Target="fonts/Geo-regular.fntdata"/><Relationship Id="rId23" Type="http://schemas.openxmlformats.org/officeDocument/2006/relationships/slide" Target="slides/slide19.xml"/><Relationship Id="rId45" Type="http://schemas.openxmlformats.org/officeDocument/2006/relationships/font" Target="fonts/OutfitSemiBold-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lay-regular.fntdata"/><Relationship Id="rId25" Type="http://schemas.openxmlformats.org/officeDocument/2006/relationships/font" Target="fonts/Geo-italic.fntdata"/><Relationship Id="rId28" Type="http://schemas.openxmlformats.org/officeDocument/2006/relationships/font" Target="fonts/InterSemiBold-regular.fntdata"/><Relationship Id="rId27"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InterSemiBold-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InterSemiBold-boldItalic.fntdata"/><Relationship Id="rId30" Type="http://schemas.openxmlformats.org/officeDocument/2006/relationships/font" Target="fonts/InterSemiBold-italic.fntdata"/><Relationship Id="rId11" Type="http://schemas.openxmlformats.org/officeDocument/2006/relationships/slide" Target="slides/slide7.xml"/><Relationship Id="rId33" Type="http://schemas.openxmlformats.org/officeDocument/2006/relationships/font" Target="fonts/Montserrat-bold.fntdata"/><Relationship Id="rId10" Type="http://schemas.openxmlformats.org/officeDocument/2006/relationships/slide" Target="slides/slide6.xml"/><Relationship Id="rId32" Type="http://schemas.openxmlformats.org/officeDocument/2006/relationships/font" Target="fonts/Montserrat-regular.fntdata"/><Relationship Id="rId13" Type="http://schemas.openxmlformats.org/officeDocument/2006/relationships/slide" Target="slides/slide9.xml"/><Relationship Id="rId35" Type="http://schemas.openxmlformats.org/officeDocument/2006/relationships/font" Target="fonts/Montserrat-boldItalic.fntdata"/><Relationship Id="rId12" Type="http://schemas.openxmlformats.org/officeDocument/2006/relationships/slide" Target="slides/slide8.xml"/><Relationship Id="rId34" Type="http://schemas.openxmlformats.org/officeDocument/2006/relationships/font" Target="fonts/Montserrat-italic.fntdata"/><Relationship Id="rId15" Type="http://schemas.openxmlformats.org/officeDocument/2006/relationships/slide" Target="slides/slide11.xml"/><Relationship Id="rId37" Type="http://schemas.openxmlformats.org/officeDocument/2006/relationships/font" Target="fonts/Inter-bold.fntdata"/><Relationship Id="rId14" Type="http://schemas.openxmlformats.org/officeDocument/2006/relationships/slide" Target="slides/slide10.xml"/><Relationship Id="rId36" Type="http://schemas.openxmlformats.org/officeDocument/2006/relationships/font" Target="fonts/Inter-regular.fntdata"/><Relationship Id="rId17" Type="http://schemas.openxmlformats.org/officeDocument/2006/relationships/slide" Target="slides/slide13.xml"/><Relationship Id="rId39" Type="http://schemas.openxmlformats.org/officeDocument/2006/relationships/font" Target="fonts/Inter-boldItalic.fntdata"/><Relationship Id="rId16" Type="http://schemas.openxmlformats.org/officeDocument/2006/relationships/slide" Target="slides/slide12.xml"/><Relationship Id="rId38" Type="http://schemas.openxmlformats.org/officeDocument/2006/relationships/font" Target="fonts/Inter-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3eae5ab7283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g3eae5ab7283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ae5ab7283_0_6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g3eae5ab7283_0_6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ae5ab7283_0_3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g3eae5ab7283_0_3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ae5ab7283_0_6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g3eae5ab7283_0_6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ae5ab7283_0_5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eae5ab7283_0_5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ae5ab7283_0_8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eae5ab7283_0_8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aede15c73_62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eaede15c73_62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ae5ab7283_0_8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eae5ab7283_0_8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eee13658c4_31_1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3eee13658c4_31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eee13658c4_31_1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g3eee13658c4_31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eae5ab7283_0_16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g3eae5ab7283_0_16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eee13658c4_31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eee13658c4_3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eee13658c4_31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3eee13658c4_31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eee13658c4_31_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3eee13658c4_31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eee13658c4_31_1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g3eee13658c4_31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eee13658c4_31_1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g3eee13658c4_31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eee13658c4_31_1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g3eee13658c4_31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eee13658c4_31_1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g3eee13658c4_31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08041B"/>
        </a:solidFill>
      </p:bgPr>
    </p:bg>
    <p:spTree>
      <p:nvGrpSpPr>
        <p:cNvPr id="15"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b="0" l="0" r="0" t="0"/>
          <a:stretch/>
        </p:blipFill>
        <p:spPr>
          <a:xfrm>
            <a:off x="0" y="0"/>
            <a:ext cx="12191999" cy="6878782"/>
          </a:xfrm>
          <a:prstGeom prst="rect">
            <a:avLst/>
          </a:prstGeom>
          <a:noFill/>
          <a:ln>
            <a:noFill/>
          </a:ln>
        </p:spPr>
      </p:pic>
      <p:sp>
        <p:nvSpPr>
          <p:cNvPr id="17" name="Google Shape;17;p2"/>
          <p:cNvSpPr txBox="1"/>
          <p:nvPr/>
        </p:nvSpPr>
        <p:spPr>
          <a:xfrm>
            <a:off x="2164556" y="6315964"/>
            <a:ext cx="2835000" cy="143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7F7F7F"/>
              </a:buClr>
              <a:buSzPts val="1120"/>
              <a:buFont typeface="Arial"/>
              <a:buNone/>
            </a:pPr>
            <a:r>
              <a:rPr b="0" i="0" lang="en-US" sz="933" u="none" cap="none" strike="noStrike">
                <a:solidFill>
                  <a:srgbClr val="7F7F7F"/>
                </a:solidFill>
                <a:latin typeface="Arial"/>
                <a:ea typeface="Arial"/>
                <a:cs typeface="Arial"/>
                <a:sym typeface="Arial"/>
              </a:rPr>
              <a:t>Amazon Web Services, Inc. or its Affiliates. </a:t>
            </a:r>
            <a:endParaRPr b="0" i="0" sz="1500" u="none" cap="none" strike="noStrike">
              <a:solidFill>
                <a:schemeClr val="dk1"/>
              </a:solidFill>
              <a:latin typeface="Arial"/>
              <a:ea typeface="Arial"/>
              <a:cs typeface="Arial"/>
              <a:sym typeface="Arial"/>
            </a:endParaRPr>
          </a:p>
        </p:txBody>
      </p:sp>
      <p:sp>
        <p:nvSpPr>
          <p:cNvPr id="18" name="Google Shape;18;p2"/>
          <p:cNvSpPr txBox="1"/>
          <p:nvPr>
            <p:ph idx="1" type="body"/>
          </p:nvPr>
        </p:nvSpPr>
        <p:spPr>
          <a:xfrm>
            <a:off x="457200" y="4170358"/>
            <a:ext cx="3414600" cy="369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FCA019"/>
              </a:buClr>
              <a:buSzPts val="2000"/>
              <a:buNone/>
              <a:defRPr sz="2000">
                <a:solidFill>
                  <a:srgbClr val="FCA01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
          <p:cNvSpPr txBox="1"/>
          <p:nvPr>
            <p:ph idx="2" type="body"/>
          </p:nvPr>
        </p:nvSpPr>
        <p:spPr>
          <a:xfrm>
            <a:off x="457200" y="4535573"/>
            <a:ext cx="3414600" cy="313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A black and white sign with white text&#10;&#10;AI-generated content may be incorrect." id="20" name="Google Shape;20;p2"/>
          <p:cNvPicPr preferRelativeResize="0"/>
          <p:nvPr/>
        </p:nvPicPr>
        <p:blipFill rotWithShape="1">
          <a:blip r:embed="rId3">
            <a:alphaModFix/>
          </a:blip>
          <a:srcRect b="0" l="0" r="0" t="0"/>
          <a:stretch/>
        </p:blipFill>
        <p:spPr>
          <a:xfrm>
            <a:off x="457200" y="6269029"/>
            <a:ext cx="1555750" cy="381000"/>
          </a:xfrm>
          <a:prstGeom prst="rect">
            <a:avLst/>
          </a:prstGeom>
          <a:noFill/>
          <a:ln>
            <a:noFill/>
          </a:ln>
        </p:spPr>
      </p:pic>
      <p:sp>
        <p:nvSpPr>
          <p:cNvPr id="21" name="Google Shape;21;p2"/>
          <p:cNvSpPr txBox="1"/>
          <p:nvPr>
            <p:ph idx="3" type="body"/>
          </p:nvPr>
        </p:nvSpPr>
        <p:spPr>
          <a:xfrm>
            <a:off x="457200" y="2042742"/>
            <a:ext cx="8401800" cy="84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FCA019"/>
              </a:buClr>
              <a:buSzPts val="4800"/>
              <a:buNone/>
              <a:defRPr b="1" sz="4800">
                <a:solidFill>
                  <a:srgbClr val="FCA01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
          <p:cNvSpPr txBox="1"/>
          <p:nvPr>
            <p:ph idx="4" type="body"/>
          </p:nvPr>
        </p:nvSpPr>
        <p:spPr>
          <a:xfrm>
            <a:off x="457200" y="2905489"/>
            <a:ext cx="2143500" cy="424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0" sz="24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Section slide">
    <p:bg>
      <p:bgPr>
        <a:solidFill>
          <a:srgbClr val="08041B"/>
        </a:solidFill>
      </p:bgPr>
    </p:bg>
    <p:spTree>
      <p:nvGrpSpPr>
        <p:cNvPr id="23" name="Shape 23"/>
        <p:cNvGrpSpPr/>
        <p:nvPr/>
      </p:nvGrpSpPr>
      <p:grpSpPr>
        <a:xfrm>
          <a:off x="0" y="0"/>
          <a:ext cx="0" cy="0"/>
          <a:chOff x="0" y="0"/>
          <a:chExt cx="0" cy="0"/>
        </a:xfrm>
      </p:grpSpPr>
      <p:pic>
        <p:nvPicPr>
          <p:cNvPr id="24" name="Google Shape;24;p3"/>
          <p:cNvPicPr preferRelativeResize="0"/>
          <p:nvPr/>
        </p:nvPicPr>
        <p:blipFill rotWithShape="1">
          <a:blip r:embed="rId2">
            <a:alphaModFix/>
          </a:blip>
          <a:srcRect b="0" l="0" r="0" t="0"/>
          <a:stretch/>
        </p:blipFill>
        <p:spPr>
          <a:xfrm>
            <a:off x="0" y="0"/>
            <a:ext cx="12191999" cy="6858000"/>
          </a:xfrm>
          <a:prstGeom prst="rect">
            <a:avLst/>
          </a:prstGeom>
          <a:noFill/>
          <a:ln>
            <a:noFill/>
          </a:ln>
        </p:spPr>
      </p:pic>
      <p:sp>
        <p:nvSpPr>
          <p:cNvPr id="25" name="Google Shape;25;p3"/>
          <p:cNvSpPr txBox="1"/>
          <p:nvPr/>
        </p:nvSpPr>
        <p:spPr>
          <a:xfrm>
            <a:off x="2164556" y="6315964"/>
            <a:ext cx="2835000" cy="143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7F7F7F"/>
              </a:buClr>
              <a:buSzPts val="1120"/>
              <a:buFont typeface="Arial"/>
              <a:buNone/>
            </a:pPr>
            <a:r>
              <a:rPr b="0" i="0" lang="en-US" sz="933" u="none" cap="none" strike="noStrike">
                <a:solidFill>
                  <a:srgbClr val="7F7F7F"/>
                </a:solidFill>
                <a:latin typeface="Play"/>
                <a:ea typeface="Play"/>
                <a:cs typeface="Play"/>
                <a:sym typeface="Play"/>
              </a:rPr>
              <a:t>Amazon Web Services, Inc. or its Affiliates. </a:t>
            </a:r>
            <a:endParaRPr b="0" i="0" sz="1500" u="none" cap="none" strike="noStrike">
              <a:solidFill>
                <a:schemeClr val="dk1"/>
              </a:solidFill>
              <a:latin typeface="Play"/>
              <a:ea typeface="Play"/>
              <a:cs typeface="Play"/>
              <a:sym typeface="Play"/>
            </a:endParaRPr>
          </a:p>
        </p:txBody>
      </p:sp>
      <p:pic>
        <p:nvPicPr>
          <p:cNvPr descr="A black and white sign with white text&#10;&#10;AI-generated content may be incorrect." id="26" name="Google Shape;26;p3"/>
          <p:cNvPicPr preferRelativeResize="0"/>
          <p:nvPr/>
        </p:nvPicPr>
        <p:blipFill rotWithShape="1">
          <a:blip r:embed="rId3">
            <a:alphaModFix/>
          </a:blip>
          <a:srcRect b="0" l="0" r="0" t="0"/>
          <a:stretch/>
        </p:blipFill>
        <p:spPr>
          <a:xfrm>
            <a:off x="457200" y="6269029"/>
            <a:ext cx="1555750" cy="381000"/>
          </a:xfrm>
          <a:prstGeom prst="rect">
            <a:avLst/>
          </a:prstGeom>
          <a:noFill/>
          <a:ln>
            <a:noFill/>
          </a:ln>
        </p:spPr>
      </p:pic>
      <p:sp>
        <p:nvSpPr>
          <p:cNvPr id="27" name="Google Shape;27;p3"/>
          <p:cNvSpPr txBox="1"/>
          <p:nvPr>
            <p:ph type="title"/>
          </p:nvPr>
        </p:nvSpPr>
        <p:spPr>
          <a:xfrm>
            <a:off x="460800" y="2836800"/>
            <a:ext cx="7819800" cy="8382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9600"/>
              <a:buFont typeface="Arial"/>
              <a:buNone/>
              <a:defRPr b="1" sz="3800" cap="none">
                <a:solidFill>
                  <a:srgbClr val="FCA01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
          <p:cNvSpPr txBox="1"/>
          <p:nvPr>
            <p:ph idx="1" type="body"/>
          </p:nvPr>
        </p:nvSpPr>
        <p:spPr>
          <a:xfrm>
            <a:off x="457200" y="3583375"/>
            <a:ext cx="6849600" cy="6525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3"/>
              </a:spcBef>
              <a:spcAft>
                <a:spcPts val="0"/>
              </a:spcAft>
              <a:buClr>
                <a:schemeClr val="lt1"/>
              </a:buClr>
              <a:buSzPts val="2900"/>
              <a:buFont typeface="Arial"/>
              <a:buNone/>
              <a:defRPr sz="2417">
                <a:solidFill>
                  <a:schemeClr val="lt1"/>
                </a:solidFill>
              </a:defRPr>
            </a:lvl1pPr>
            <a:lvl2pPr indent="-228600" lvl="1" marL="914400" algn="l">
              <a:lnSpc>
                <a:spcPct val="90000"/>
              </a:lnSpc>
              <a:spcBef>
                <a:spcPts val="483"/>
              </a:spcBef>
              <a:spcAft>
                <a:spcPts val="0"/>
              </a:spcAft>
              <a:buClr>
                <a:schemeClr val="lt1"/>
              </a:buClr>
              <a:buSzPts val="2900"/>
              <a:buNone/>
              <a:defRPr/>
            </a:lvl2pPr>
            <a:lvl3pPr indent="-342900" lvl="2" marL="1371600" algn="l">
              <a:lnSpc>
                <a:spcPct val="90000"/>
              </a:lnSpc>
              <a:spcBef>
                <a:spcPts val="300"/>
              </a:spcBef>
              <a:spcAft>
                <a:spcPts val="0"/>
              </a:spcAft>
              <a:buClr>
                <a:schemeClr val="lt1"/>
              </a:buClr>
              <a:buSzPts val="1800"/>
              <a:buChar char="•"/>
              <a:defRPr/>
            </a:lvl3pPr>
            <a:lvl4pPr indent="-342900" lvl="3" marL="1828800" algn="l">
              <a:lnSpc>
                <a:spcPct val="90000"/>
              </a:lnSpc>
              <a:spcBef>
                <a:spcPts val="300"/>
              </a:spcBef>
              <a:spcAft>
                <a:spcPts val="0"/>
              </a:spcAft>
              <a:buClr>
                <a:schemeClr val="lt1"/>
              </a:buClr>
              <a:buSzPts val="1800"/>
              <a:buChar char="–"/>
              <a:defRPr/>
            </a:lvl4pPr>
            <a:lvl5pPr indent="-342900" lvl="4" marL="2286000" algn="l">
              <a:lnSpc>
                <a:spcPct val="90000"/>
              </a:lnSpc>
              <a:spcBef>
                <a:spcPts val="300"/>
              </a:spcBef>
              <a:spcAft>
                <a:spcPts val="0"/>
              </a:spcAft>
              <a:buClr>
                <a:schemeClr val="lt1"/>
              </a:buClr>
              <a:buSzPts val="1800"/>
              <a:buChar char="»"/>
              <a:defRPr/>
            </a:lvl5pPr>
            <a:lvl6pPr indent="-342900" lvl="5" marL="2743200" algn="l">
              <a:lnSpc>
                <a:spcPct val="90000"/>
              </a:lnSpc>
              <a:spcBef>
                <a:spcPts val="300"/>
              </a:spcBef>
              <a:spcAft>
                <a:spcPts val="0"/>
              </a:spcAft>
              <a:buClr>
                <a:schemeClr val="lt1"/>
              </a:buClr>
              <a:buSzPts val="1800"/>
              <a:buChar char="•"/>
              <a:defRPr/>
            </a:lvl6pPr>
            <a:lvl7pPr indent="-342900" lvl="6" marL="3200400" algn="l">
              <a:lnSpc>
                <a:spcPct val="90000"/>
              </a:lnSpc>
              <a:spcBef>
                <a:spcPts val="300"/>
              </a:spcBef>
              <a:spcAft>
                <a:spcPts val="0"/>
              </a:spcAft>
              <a:buClr>
                <a:schemeClr val="lt1"/>
              </a:buClr>
              <a:buSzPts val="1800"/>
              <a:buChar char="•"/>
              <a:defRPr/>
            </a:lvl7pPr>
            <a:lvl8pPr indent="-342900" lvl="7" marL="3657600" algn="l">
              <a:lnSpc>
                <a:spcPct val="90000"/>
              </a:lnSpc>
              <a:spcBef>
                <a:spcPts val="300"/>
              </a:spcBef>
              <a:spcAft>
                <a:spcPts val="0"/>
              </a:spcAft>
              <a:buClr>
                <a:schemeClr val="lt1"/>
              </a:buClr>
              <a:buSzPts val="1800"/>
              <a:buChar char="•"/>
              <a:defRPr/>
            </a:lvl8pPr>
            <a:lvl9pPr indent="-342900" lvl="8" marL="4114800" algn="l">
              <a:lnSpc>
                <a:spcPct val="90000"/>
              </a:lnSpc>
              <a:spcBef>
                <a:spcPts val="300"/>
              </a:spcBef>
              <a:spcAft>
                <a:spcPts val="0"/>
              </a:spcAft>
              <a:buClr>
                <a:schemeClr val="lt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bg>
      <p:bgPr>
        <a:solidFill>
          <a:srgbClr val="08041B"/>
        </a:solidFill>
      </p:bgPr>
    </p:bg>
    <p:spTree>
      <p:nvGrpSpPr>
        <p:cNvPr id="29" name="Shape 29"/>
        <p:cNvGrpSpPr/>
        <p:nvPr/>
      </p:nvGrpSpPr>
      <p:grpSpPr>
        <a:xfrm>
          <a:off x="0" y="0"/>
          <a:ext cx="0" cy="0"/>
          <a:chOff x="0" y="0"/>
          <a:chExt cx="0" cy="0"/>
        </a:xfrm>
      </p:grpSpPr>
      <p:sp>
        <p:nvSpPr>
          <p:cNvPr id="30" name="Google Shape;30;p4"/>
          <p:cNvSpPr/>
          <p:nvPr/>
        </p:nvSpPr>
        <p:spPr>
          <a:xfrm>
            <a:off x="0" y="0"/>
            <a:ext cx="12101100" cy="6858000"/>
          </a:xfrm>
          <a:prstGeom prst="rect">
            <a:avLst/>
          </a:prstGeom>
          <a:solidFill>
            <a:srgbClr val="0804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1" name="Google Shape;31;p4"/>
          <p:cNvSpPr txBox="1"/>
          <p:nvPr/>
        </p:nvSpPr>
        <p:spPr>
          <a:xfrm>
            <a:off x="2164556" y="6315964"/>
            <a:ext cx="2835000" cy="143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7F7F7F"/>
              </a:buClr>
              <a:buSzPts val="1120"/>
              <a:buFont typeface="Arial"/>
              <a:buNone/>
            </a:pPr>
            <a:r>
              <a:rPr b="0" i="0" lang="en-US" sz="933" u="none" cap="none" strike="noStrike">
                <a:solidFill>
                  <a:srgbClr val="7F7F7F"/>
                </a:solidFill>
                <a:latin typeface="Play"/>
                <a:ea typeface="Play"/>
                <a:cs typeface="Play"/>
                <a:sym typeface="Play"/>
              </a:rPr>
              <a:t>Amazon Web Services, Inc. or its Affiliates. </a:t>
            </a:r>
            <a:endParaRPr b="0" i="0" sz="1500" u="none" cap="none" strike="noStrike">
              <a:solidFill>
                <a:schemeClr val="dk1"/>
              </a:solidFill>
              <a:latin typeface="Play"/>
              <a:ea typeface="Play"/>
              <a:cs typeface="Play"/>
              <a:sym typeface="Play"/>
            </a:endParaRPr>
          </a:p>
        </p:txBody>
      </p:sp>
      <p:pic>
        <p:nvPicPr>
          <p:cNvPr descr="A black and white sign with white text&#10;&#10;AI-generated content may be incorrect." id="32" name="Google Shape;32;p4"/>
          <p:cNvPicPr preferRelativeResize="0"/>
          <p:nvPr/>
        </p:nvPicPr>
        <p:blipFill rotWithShape="1">
          <a:blip r:embed="rId2">
            <a:alphaModFix/>
          </a:blip>
          <a:srcRect b="0" l="0" r="0" t="0"/>
          <a:stretch/>
        </p:blipFill>
        <p:spPr>
          <a:xfrm>
            <a:off x="457200" y="6269029"/>
            <a:ext cx="1555750" cy="381000"/>
          </a:xfrm>
          <a:prstGeom prst="rect">
            <a:avLst/>
          </a:prstGeom>
          <a:noFill/>
          <a:ln>
            <a:noFill/>
          </a:ln>
        </p:spPr>
      </p:pic>
      <p:sp>
        <p:nvSpPr>
          <p:cNvPr id="33" name="Google Shape;33;p4"/>
          <p:cNvSpPr txBox="1"/>
          <p:nvPr>
            <p:ph type="title"/>
          </p:nvPr>
        </p:nvSpPr>
        <p:spPr>
          <a:xfrm>
            <a:off x="460800" y="172800"/>
            <a:ext cx="11258700" cy="827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CA019"/>
              </a:buClr>
              <a:buSzPts val="2800"/>
              <a:buFont typeface="Arial"/>
              <a:buNone/>
              <a:defRPr b="1" i="0" sz="2800">
                <a:solidFill>
                  <a:srgbClr val="FCA01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
          <p:cNvSpPr txBox="1"/>
          <p:nvPr>
            <p:ph idx="1" type="body"/>
          </p:nvPr>
        </p:nvSpPr>
        <p:spPr>
          <a:xfrm>
            <a:off x="460800" y="1252800"/>
            <a:ext cx="11258700" cy="49275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lt1"/>
              </a:buClr>
              <a:buSzPts val="1800"/>
              <a:buChar char="•"/>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sz="1800">
                <a:solidFill>
                  <a:schemeClr val="lt1"/>
                </a:solidFill>
                <a:latin typeface="Arial"/>
                <a:ea typeface="Arial"/>
                <a:cs typeface="Arial"/>
                <a:sym typeface="Arial"/>
              </a:defRPr>
            </a:lvl2pPr>
            <a:lvl3pPr indent="-342900" lvl="2" marL="1371600" algn="l">
              <a:lnSpc>
                <a:spcPct val="90000"/>
              </a:lnSpc>
              <a:spcBef>
                <a:spcPts val="500"/>
              </a:spcBef>
              <a:spcAft>
                <a:spcPts val="0"/>
              </a:spcAft>
              <a:buClr>
                <a:schemeClr val="lt1"/>
              </a:buClr>
              <a:buSzPts val="1800"/>
              <a:buChar char="•"/>
              <a:defRPr sz="1800">
                <a:solidFill>
                  <a:schemeClr val="lt1"/>
                </a:solidFill>
                <a:latin typeface="Arial"/>
                <a:ea typeface="Arial"/>
                <a:cs typeface="Arial"/>
                <a:sym typeface="Arial"/>
              </a:defRPr>
            </a:lvl3pPr>
            <a:lvl4pPr indent="-342900" lvl="3" marL="1828800" algn="l">
              <a:lnSpc>
                <a:spcPct val="90000"/>
              </a:lnSpc>
              <a:spcBef>
                <a:spcPts val="500"/>
              </a:spcBef>
              <a:spcAft>
                <a:spcPts val="0"/>
              </a:spcAft>
              <a:buClr>
                <a:schemeClr val="lt1"/>
              </a:buClr>
              <a:buSzPts val="1800"/>
              <a:buChar char="•"/>
              <a:defRPr sz="1800">
                <a:solidFill>
                  <a:schemeClr val="lt1"/>
                </a:solidFill>
                <a:latin typeface="Arial"/>
                <a:ea typeface="Arial"/>
                <a:cs typeface="Arial"/>
                <a:sym typeface="Arial"/>
              </a:defRPr>
            </a:lvl4pPr>
            <a:lvl5pPr indent="-342900" lvl="4" marL="2286000" algn="l">
              <a:lnSpc>
                <a:spcPct val="90000"/>
              </a:lnSpc>
              <a:spcBef>
                <a:spcPts val="500"/>
              </a:spcBef>
              <a:spcAft>
                <a:spcPts val="0"/>
              </a:spcAft>
              <a:buClr>
                <a:schemeClr val="lt1"/>
              </a:buClr>
              <a:buSzPts val="1800"/>
              <a:buChar char="•"/>
              <a:defRPr sz="1800">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Section slide (g3eae5ab7283_22_0)">
    <p:bg>
      <p:bgPr>
        <a:solidFill>
          <a:srgbClr val="08041B"/>
        </a:solidFill>
      </p:bgPr>
    </p:bg>
    <p:spTree>
      <p:nvGrpSpPr>
        <p:cNvPr id="35" name="Shape 35"/>
        <p:cNvGrpSpPr/>
        <p:nvPr/>
      </p:nvGrpSpPr>
      <p:grpSpPr>
        <a:xfrm>
          <a:off x="0" y="0"/>
          <a:ext cx="0" cy="0"/>
          <a:chOff x="0" y="0"/>
          <a:chExt cx="0" cy="0"/>
        </a:xfrm>
      </p:grpSpPr>
      <p:sp>
        <p:nvSpPr>
          <p:cNvPr id="36" name="Google Shape;36;p5"/>
          <p:cNvSpPr txBox="1"/>
          <p:nvPr>
            <p:ph type="title"/>
          </p:nvPr>
        </p:nvSpPr>
        <p:spPr>
          <a:xfrm>
            <a:off x="460800" y="2836800"/>
            <a:ext cx="7819800" cy="8382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9600"/>
              <a:buFont typeface="Arial"/>
              <a:buNone/>
              <a:defRPr b="1" sz="3800" cap="none">
                <a:solidFill>
                  <a:srgbClr val="FCA01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 type="body"/>
          </p:nvPr>
        </p:nvSpPr>
        <p:spPr>
          <a:xfrm>
            <a:off x="457200" y="3583375"/>
            <a:ext cx="6849600" cy="6525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483"/>
              </a:spcBef>
              <a:spcAft>
                <a:spcPts val="0"/>
              </a:spcAft>
              <a:buClr>
                <a:schemeClr val="lt1"/>
              </a:buClr>
              <a:buSzPts val="2900"/>
              <a:buFont typeface="Arial"/>
              <a:buNone/>
              <a:defRPr sz="2417">
                <a:solidFill>
                  <a:schemeClr val="lt1"/>
                </a:solidFill>
              </a:defRPr>
            </a:lvl1pPr>
            <a:lvl2pPr indent="-228600" lvl="1" marL="914400" algn="l">
              <a:lnSpc>
                <a:spcPct val="90000"/>
              </a:lnSpc>
              <a:spcBef>
                <a:spcPts val="483"/>
              </a:spcBef>
              <a:spcAft>
                <a:spcPts val="0"/>
              </a:spcAft>
              <a:buClr>
                <a:schemeClr val="lt1"/>
              </a:buClr>
              <a:buSzPts val="2900"/>
              <a:buNone/>
              <a:defRPr/>
            </a:lvl2pPr>
            <a:lvl3pPr indent="-342900" lvl="2" marL="1371600" algn="l">
              <a:lnSpc>
                <a:spcPct val="90000"/>
              </a:lnSpc>
              <a:spcBef>
                <a:spcPts val="300"/>
              </a:spcBef>
              <a:spcAft>
                <a:spcPts val="0"/>
              </a:spcAft>
              <a:buClr>
                <a:schemeClr val="lt1"/>
              </a:buClr>
              <a:buSzPts val="1800"/>
              <a:buChar char="•"/>
              <a:defRPr/>
            </a:lvl3pPr>
            <a:lvl4pPr indent="-342900" lvl="3" marL="1828800" algn="l">
              <a:lnSpc>
                <a:spcPct val="90000"/>
              </a:lnSpc>
              <a:spcBef>
                <a:spcPts val="300"/>
              </a:spcBef>
              <a:spcAft>
                <a:spcPts val="0"/>
              </a:spcAft>
              <a:buClr>
                <a:schemeClr val="lt1"/>
              </a:buClr>
              <a:buSzPts val="1800"/>
              <a:buChar char="–"/>
              <a:defRPr/>
            </a:lvl4pPr>
            <a:lvl5pPr indent="-342900" lvl="4" marL="2286000" algn="l">
              <a:lnSpc>
                <a:spcPct val="90000"/>
              </a:lnSpc>
              <a:spcBef>
                <a:spcPts val="300"/>
              </a:spcBef>
              <a:spcAft>
                <a:spcPts val="0"/>
              </a:spcAft>
              <a:buClr>
                <a:schemeClr val="lt1"/>
              </a:buClr>
              <a:buSzPts val="1800"/>
              <a:buChar char="»"/>
              <a:defRPr/>
            </a:lvl5pPr>
            <a:lvl6pPr indent="-342900" lvl="5" marL="2743200" algn="l">
              <a:lnSpc>
                <a:spcPct val="90000"/>
              </a:lnSpc>
              <a:spcBef>
                <a:spcPts val="300"/>
              </a:spcBef>
              <a:spcAft>
                <a:spcPts val="0"/>
              </a:spcAft>
              <a:buClr>
                <a:schemeClr val="lt1"/>
              </a:buClr>
              <a:buSzPts val="1800"/>
              <a:buChar char="•"/>
              <a:defRPr/>
            </a:lvl6pPr>
            <a:lvl7pPr indent="-342900" lvl="6" marL="3200400" algn="l">
              <a:lnSpc>
                <a:spcPct val="90000"/>
              </a:lnSpc>
              <a:spcBef>
                <a:spcPts val="300"/>
              </a:spcBef>
              <a:spcAft>
                <a:spcPts val="0"/>
              </a:spcAft>
              <a:buClr>
                <a:schemeClr val="lt1"/>
              </a:buClr>
              <a:buSzPts val="1800"/>
              <a:buChar char="•"/>
              <a:defRPr/>
            </a:lvl7pPr>
            <a:lvl8pPr indent="-342900" lvl="7" marL="3657600" algn="l">
              <a:lnSpc>
                <a:spcPct val="90000"/>
              </a:lnSpc>
              <a:spcBef>
                <a:spcPts val="300"/>
              </a:spcBef>
              <a:spcAft>
                <a:spcPts val="0"/>
              </a:spcAft>
              <a:buClr>
                <a:schemeClr val="lt1"/>
              </a:buClr>
              <a:buSzPts val="1800"/>
              <a:buChar char="•"/>
              <a:defRPr/>
            </a:lvl8pPr>
            <a:lvl9pPr indent="-342900" lvl="8" marL="4114800" algn="l">
              <a:lnSpc>
                <a:spcPct val="90000"/>
              </a:lnSpc>
              <a:spcBef>
                <a:spcPts val="300"/>
              </a:spcBef>
              <a:spcAft>
                <a:spcPts val="0"/>
              </a:spcAft>
              <a:buClr>
                <a:schemeClr val="lt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g3eae5ab7283_8_0)">
    <p:bg>
      <p:bgPr>
        <a:solidFill>
          <a:srgbClr val="08041B"/>
        </a:solidFill>
      </p:bgPr>
    </p:bg>
    <p:spTree>
      <p:nvGrpSpPr>
        <p:cNvPr id="38" name="Shape 38"/>
        <p:cNvGrpSpPr/>
        <p:nvPr/>
      </p:nvGrpSpPr>
      <p:grpSpPr>
        <a:xfrm>
          <a:off x="0" y="0"/>
          <a:ext cx="0" cy="0"/>
          <a:chOff x="0" y="0"/>
          <a:chExt cx="0" cy="0"/>
        </a:xfrm>
      </p:grpSpPr>
      <p:sp>
        <p:nvSpPr>
          <p:cNvPr id="39" name="Google Shape;39;p6"/>
          <p:cNvSpPr txBox="1"/>
          <p:nvPr>
            <p:ph idx="1" type="body"/>
          </p:nvPr>
        </p:nvSpPr>
        <p:spPr>
          <a:xfrm>
            <a:off x="457200" y="4170358"/>
            <a:ext cx="3414600" cy="369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FCA019"/>
              </a:buClr>
              <a:buSzPts val="2000"/>
              <a:buNone/>
              <a:defRPr sz="2000">
                <a:solidFill>
                  <a:srgbClr val="FCA01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457200" y="4535573"/>
            <a:ext cx="3414600" cy="313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3" type="body"/>
          </p:nvPr>
        </p:nvSpPr>
        <p:spPr>
          <a:xfrm>
            <a:off x="457200" y="2042742"/>
            <a:ext cx="8401800" cy="84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FCA019"/>
              </a:buClr>
              <a:buSzPts val="4800"/>
              <a:buNone/>
              <a:defRPr b="1" sz="4800">
                <a:solidFill>
                  <a:srgbClr val="FCA01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4" type="body"/>
          </p:nvPr>
        </p:nvSpPr>
        <p:spPr>
          <a:xfrm>
            <a:off x="457200" y="2905489"/>
            <a:ext cx="2143500" cy="424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0" sz="24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1">
  <p:cSld name="Contents (g3eaec8ebd08_6_0)">
    <p:bg>
      <p:bgPr>
        <a:solidFill>
          <a:srgbClr val="08041B"/>
        </a:solidFill>
      </p:bgPr>
    </p:bg>
    <p:spTree>
      <p:nvGrpSpPr>
        <p:cNvPr id="43" name="Shape 43"/>
        <p:cNvGrpSpPr/>
        <p:nvPr/>
      </p:nvGrpSpPr>
      <p:grpSpPr>
        <a:xfrm>
          <a:off x="0" y="0"/>
          <a:ext cx="0" cy="0"/>
          <a:chOff x="0" y="0"/>
          <a:chExt cx="0" cy="0"/>
        </a:xfrm>
      </p:grpSpPr>
      <p:sp>
        <p:nvSpPr>
          <p:cNvPr id="44" name="Google Shape;44;p7"/>
          <p:cNvSpPr txBox="1"/>
          <p:nvPr>
            <p:ph type="title"/>
          </p:nvPr>
        </p:nvSpPr>
        <p:spPr>
          <a:xfrm>
            <a:off x="460800" y="172800"/>
            <a:ext cx="11258700" cy="827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CA019"/>
              </a:buClr>
              <a:buSzPts val="2800"/>
              <a:buFont typeface="Arial"/>
              <a:buNone/>
              <a:defRPr b="1" i="0" sz="2800">
                <a:solidFill>
                  <a:srgbClr val="FCA019"/>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60800" y="1252800"/>
            <a:ext cx="11258700" cy="49275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lt1"/>
              </a:buClr>
              <a:buSzPts val="1800"/>
              <a:buChar char="•"/>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sz="1800">
                <a:solidFill>
                  <a:schemeClr val="lt1"/>
                </a:solidFill>
                <a:latin typeface="Arial"/>
                <a:ea typeface="Arial"/>
                <a:cs typeface="Arial"/>
                <a:sym typeface="Arial"/>
              </a:defRPr>
            </a:lvl2pPr>
            <a:lvl3pPr indent="-342900" lvl="2" marL="1371600" algn="l">
              <a:lnSpc>
                <a:spcPct val="90000"/>
              </a:lnSpc>
              <a:spcBef>
                <a:spcPts val="500"/>
              </a:spcBef>
              <a:spcAft>
                <a:spcPts val="0"/>
              </a:spcAft>
              <a:buClr>
                <a:schemeClr val="lt1"/>
              </a:buClr>
              <a:buSzPts val="1800"/>
              <a:buChar char="•"/>
              <a:defRPr sz="1800">
                <a:solidFill>
                  <a:schemeClr val="lt1"/>
                </a:solidFill>
                <a:latin typeface="Arial"/>
                <a:ea typeface="Arial"/>
                <a:cs typeface="Arial"/>
                <a:sym typeface="Arial"/>
              </a:defRPr>
            </a:lvl3pPr>
            <a:lvl4pPr indent="-342900" lvl="3" marL="1828800" algn="l">
              <a:lnSpc>
                <a:spcPct val="90000"/>
              </a:lnSpc>
              <a:spcBef>
                <a:spcPts val="500"/>
              </a:spcBef>
              <a:spcAft>
                <a:spcPts val="0"/>
              </a:spcAft>
              <a:buClr>
                <a:schemeClr val="lt1"/>
              </a:buClr>
              <a:buSzPts val="1800"/>
              <a:buChar char="•"/>
              <a:defRPr sz="1800">
                <a:solidFill>
                  <a:schemeClr val="lt1"/>
                </a:solidFill>
                <a:latin typeface="Arial"/>
                <a:ea typeface="Arial"/>
                <a:cs typeface="Arial"/>
                <a:sym typeface="Arial"/>
              </a:defRPr>
            </a:lvl4pPr>
            <a:lvl5pPr indent="-342900" lvl="4" marL="2286000" algn="l">
              <a:lnSpc>
                <a:spcPct val="90000"/>
              </a:lnSpc>
              <a:spcBef>
                <a:spcPts val="500"/>
              </a:spcBef>
              <a:spcAft>
                <a:spcPts val="0"/>
              </a:spcAft>
              <a:buClr>
                <a:schemeClr val="lt1"/>
              </a:buClr>
              <a:buSzPts val="1800"/>
              <a:buChar char="•"/>
              <a:defRPr sz="1800">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24.png"/><Relationship Id="rId7"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16.png"/><Relationship Id="rId6" Type="http://schemas.openxmlformats.org/officeDocument/2006/relationships/image" Target="../media/image13.png"/><Relationship Id="rId7" Type="http://schemas.openxmlformats.org/officeDocument/2006/relationships/image" Target="../media/image12.png"/><Relationship Id="rId8" Type="http://schemas.openxmlformats.org/officeDocument/2006/relationships/image" Target="../media/image4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7.png"/><Relationship Id="rId7" Type="http://schemas.openxmlformats.org/officeDocument/2006/relationships/image" Target="../media/image34.png"/><Relationship Id="rId8" Type="http://schemas.openxmlformats.org/officeDocument/2006/relationships/image" Target="../media/image4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20.png"/><Relationship Id="rId7"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4.png"/><Relationship Id="rId10" Type="http://schemas.openxmlformats.org/officeDocument/2006/relationships/image" Target="../media/image22.png"/><Relationship Id="rId9" Type="http://schemas.openxmlformats.org/officeDocument/2006/relationships/image" Target="../media/image26.png"/><Relationship Id="rId5" Type="http://schemas.openxmlformats.org/officeDocument/2006/relationships/image" Target="../media/image21.png"/><Relationship Id="rId6" Type="http://schemas.openxmlformats.org/officeDocument/2006/relationships/image" Target="../media/image30.png"/><Relationship Id="rId7" Type="http://schemas.openxmlformats.org/officeDocument/2006/relationships/image" Target="../media/image15.png"/><Relationship Id="rId8"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4.png"/><Relationship Id="rId5" Type="http://schemas.openxmlformats.org/officeDocument/2006/relationships/image" Target="../media/image4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1.png"/><Relationship Id="rId4" Type="http://schemas.openxmlformats.org/officeDocument/2006/relationships/image" Target="../media/image4.png"/><Relationship Id="rId5" Type="http://schemas.openxmlformats.org/officeDocument/2006/relationships/image" Target="../media/image27.png"/><Relationship Id="rId6" Type="http://schemas.openxmlformats.org/officeDocument/2006/relationships/image" Target="../media/image43.png"/><Relationship Id="rId7" Type="http://schemas.openxmlformats.org/officeDocument/2006/relationships/image" Target="../media/image4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4.png"/><Relationship Id="rId5" Type="http://schemas.openxmlformats.org/officeDocument/2006/relationships/image" Target="../media/image23.png"/><Relationship Id="rId6"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4.png"/><Relationship Id="rId5" Type="http://schemas.openxmlformats.org/officeDocument/2006/relationships/image" Target="../media/image4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4.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6.png"/><Relationship Id="rId8"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4.png"/><Relationship Id="rId5" Type="http://schemas.openxmlformats.org/officeDocument/2006/relationships/image" Target="../media/image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1.png"/><Relationship Id="rId4" Type="http://schemas.openxmlformats.org/officeDocument/2006/relationships/image" Target="../media/image4.png"/><Relationship Id="rId5"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4.png"/><Relationship Id="rId5"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4.png"/><Relationship Id="rId5"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 name="Shape 49"/>
        <p:cNvGrpSpPr/>
        <p:nvPr/>
      </p:nvGrpSpPr>
      <p:grpSpPr>
        <a:xfrm>
          <a:off x="0" y="0"/>
          <a:ext cx="0" cy="0"/>
          <a:chOff x="0" y="0"/>
          <a:chExt cx="0" cy="0"/>
        </a:xfrm>
      </p:grpSpPr>
      <p:pic>
        <p:nvPicPr>
          <p:cNvPr id="50" name="Google Shape;50;p8"/>
          <p:cNvPicPr preferRelativeResize="0"/>
          <p:nvPr/>
        </p:nvPicPr>
        <p:blipFill rotWithShape="1">
          <a:blip r:embed="rId4">
            <a:alphaModFix/>
          </a:blip>
          <a:srcRect b="0" l="169" r="169" t="0"/>
          <a:stretch/>
        </p:blipFill>
        <p:spPr>
          <a:xfrm>
            <a:off x="0" y="-10350"/>
            <a:ext cx="12192000" cy="6878700"/>
          </a:xfrm>
          <a:prstGeom prst="rect">
            <a:avLst/>
          </a:prstGeom>
          <a:noFill/>
          <a:ln>
            <a:noFill/>
          </a:ln>
        </p:spPr>
      </p:pic>
      <p:sp>
        <p:nvSpPr>
          <p:cNvPr id="51" name="Google Shape;51;p8"/>
          <p:cNvSpPr txBox="1"/>
          <p:nvPr/>
        </p:nvSpPr>
        <p:spPr>
          <a:xfrm>
            <a:off x="571500" y="571500"/>
            <a:ext cx="10287600" cy="317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6140">
                <a:solidFill>
                  <a:srgbClr val="FCA019"/>
                </a:solidFill>
                <a:latin typeface="Arial"/>
                <a:ea typeface="Arial"/>
                <a:cs typeface="Arial"/>
                <a:sym typeface="Arial"/>
              </a:rPr>
              <a:t>CÂU CHUYỆN THỰC TẾ ĐẾN VĂN HÓA TẠI TẬP ĐOÀN ĐA QUỐC GIA</a:t>
            </a:r>
            <a:endParaRPr b="1" sz="6140">
              <a:solidFill>
                <a:srgbClr val="FCA019"/>
              </a:solidFill>
              <a:latin typeface="Arial"/>
              <a:ea typeface="Arial"/>
              <a:cs typeface="Arial"/>
              <a:sym typeface="Arial"/>
            </a:endParaRPr>
          </a:p>
        </p:txBody>
      </p:sp>
      <p:grpSp>
        <p:nvGrpSpPr>
          <p:cNvPr id="52" name="Google Shape;52;p8"/>
          <p:cNvGrpSpPr/>
          <p:nvPr/>
        </p:nvGrpSpPr>
        <p:grpSpPr>
          <a:xfrm>
            <a:off x="571500" y="4169375"/>
            <a:ext cx="3619500" cy="1333500"/>
            <a:chOff x="0" y="0"/>
            <a:chExt cx="3619500" cy="1333500"/>
          </a:xfrm>
        </p:grpSpPr>
        <p:sp>
          <p:nvSpPr>
            <p:cNvPr id="53" name="Google Shape;53;p8"/>
            <p:cNvSpPr/>
            <p:nvPr/>
          </p:nvSpPr>
          <p:spPr>
            <a:xfrm>
              <a:off x="0" y="0"/>
              <a:ext cx="3619500" cy="1333500"/>
            </a:xfrm>
            <a:prstGeom prst="roundRect">
              <a:avLst>
                <a:gd fmla="val 8571" name="adj"/>
              </a:avLst>
            </a:prstGeom>
            <a:solidFill>
              <a:srgbClr val="1E293B">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 name="Google Shape;54;p8"/>
            <p:cNvSpPr txBox="1"/>
            <p:nvPr/>
          </p:nvSpPr>
          <p:spPr>
            <a:xfrm>
              <a:off x="238125" y="238125"/>
              <a:ext cx="3143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FCA019"/>
                  </a:solidFill>
                  <a:latin typeface="Arial"/>
                  <a:ea typeface="Arial"/>
                  <a:cs typeface="Arial"/>
                  <a:sym typeface="Arial"/>
                </a:rPr>
                <a:t>Mr. Dat Pham</a:t>
              </a:r>
              <a:endParaRPr b="1" sz="2200">
                <a:solidFill>
                  <a:srgbClr val="FCA019"/>
                </a:solidFill>
                <a:latin typeface="Arial"/>
                <a:ea typeface="Arial"/>
                <a:cs typeface="Arial"/>
                <a:sym typeface="Arial"/>
              </a:endParaRPr>
            </a:p>
            <a:p>
              <a:pPr indent="0" lvl="0" marL="0" rtl="0" algn="l">
                <a:spcBef>
                  <a:spcPts val="600"/>
                </a:spcBef>
                <a:spcAft>
                  <a:spcPts val="0"/>
                </a:spcAft>
                <a:buNone/>
              </a:pPr>
              <a:r>
                <a:rPr lang="en-US" sz="1400">
                  <a:solidFill>
                    <a:srgbClr val="FFFFFF"/>
                  </a:solidFill>
                  <a:latin typeface="Arial"/>
                  <a:ea typeface="Arial"/>
                  <a:cs typeface="Arial"/>
                  <a:sym typeface="Arial"/>
                </a:rPr>
                <a:t>Data Analytics Engineer</a:t>
              </a:r>
              <a:endParaRPr sz="1400">
                <a:solidFill>
                  <a:srgbClr val="FFFFFF"/>
                </a:solidFill>
                <a:latin typeface="Arial"/>
                <a:ea typeface="Arial"/>
                <a:cs typeface="Arial"/>
                <a:sym typeface="Arial"/>
              </a:endParaRPr>
            </a:p>
          </p:txBody>
        </p:sp>
      </p:grpSp>
      <p:grpSp>
        <p:nvGrpSpPr>
          <p:cNvPr id="55" name="Google Shape;55;p8"/>
          <p:cNvGrpSpPr/>
          <p:nvPr/>
        </p:nvGrpSpPr>
        <p:grpSpPr>
          <a:xfrm>
            <a:off x="4381500" y="4169375"/>
            <a:ext cx="3619500" cy="1333500"/>
            <a:chOff x="0" y="359375"/>
            <a:chExt cx="3619500" cy="1333500"/>
          </a:xfrm>
        </p:grpSpPr>
        <p:sp>
          <p:nvSpPr>
            <p:cNvPr id="56" name="Google Shape;56;p8"/>
            <p:cNvSpPr/>
            <p:nvPr/>
          </p:nvSpPr>
          <p:spPr>
            <a:xfrm>
              <a:off x="0" y="359375"/>
              <a:ext cx="3619500" cy="1333500"/>
            </a:xfrm>
            <a:prstGeom prst="roundRect">
              <a:avLst>
                <a:gd fmla="val 8571" name="adj"/>
              </a:avLst>
            </a:prstGeom>
            <a:solidFill>
              <a:srgbClr val="1E293B">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8"/>
            <p:cNvSpPr txBox="1"/>
            <p:nvPr/>
          </p:nvSpPr>
          <p:spPr>
            <a:xfrm>
              <a:off x="238050" y="597425"/>
              <a:ext cx="3143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FCA019"/>
                  </a:solidFill>
                  <a:latin typeface="Arial"/>
                  <a:ea typeface="Arial"/>
                  <a:cs typeface="Arial"/>
                  <a:sym typeface="Arial"/>
                </a:rPr>
                <a:t>Mr. Cường Nguyễn</a:t>
              </a:r>
              <a:endParaRPr b="1" sz="2200">
                <a:solidFill>
                  <a:srgbClr val="FCA019"/>
                </a:solidFill>
                <a:latin typeface="Arial"/>
                <a:ea typeface="Arial"/>
                <a:cs typeface="Arial"/>
                <a:sym typeface="Arial"/>
              </a:endParaRPr>
            </a:p>
            <a:p>
              <a:pPr indent="0" lvl="0" marL="0" rtl="0" algn="l">
                <a:spcBef>
                  <a:spcPts val="600"/>
                </a:spcBef>
                <a:spcAft>
                  <a:spcPts val="0"/>
                </a:spcAft>
                <a:buNone/>
              </a:pPr>
              <a:r>
                <a:rPr lang="en-US" sz="1400">
                  <a:solidFill>
                    <a:srgbClr val="FFFFFF"/>
                  </a:solidFill>
                  <a:latin typeface="Arial"/>
                  <a:ea typeface="Arial"/>
                  <a:cs typeface="Arial"/>
                  <a:sym typeface="Arial"/>
                </a:rPr>
                <a:t>Process Engineer</a:t>
              </a:r>
              <a:endParaRPr sz="1400">
                <a:solidFill>
                  <a:srgbClr val="FFFFFF"/>
                </a:solidFill>
                <a:latin typeface="Arial"/>
                <a:ea typeface="Arial"/>
                <a:cs typeface="Arial"/>
                <a:sym typeface="Arial"/>
              </a:endParaRPr>
            </a:p>
          </p:txBody>
        </p:sp>
      </p:grpSp>
      <p:pic>
        <p:nvPicPr>
          <p:cNvPr id="58" name="Google Shape;58;p8"/>
          <p:cNvPicPr preferRelativeResize="0"/>
          <p:nvPr/>
        </p:nvPicPr>
        <p:blipFill rotWithShape="1">
          <a:blip r:embed="rId5">
            <a:alphaModFix/>
          </a:blip>
          <a:srcRect b="249" l="0" r="0" t="239"/>
          <a:stretch/>
        </p:blipFill>
        <p:spPr>
          <a:xfrm>
            <a:off x="457200" y="6269031"/>
            <a:ext cx="1555800" cy="381000"/>
          </a:xfrm>
          <a:prstGeom prst="rect">
            <a:avLst/>
          </a:prstGeom>
          <a:noFill/>
          <a:ln>
            <a:noFill/>
          </a:ln>
        </p:spPr>
      </p:pic>
      <p:sp>
        <p:nvSpPr>
          <p:cNvPr id="59" name="Google Shape;59;p8"/>
          <p:cNvSpPr txBox="1"/>
          <p:nvPr/>
        </p:nvSpPr>
        <p:spPr>
          <a:xfrm>
            <a:off x="2164556" y="6315961"/>
            <a:ext cx="4762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33">
                <a:solidFill>
                  <a:srgbClr val="7F7F7F"/>
                </a:solidFill>
                <a:latin typeface="Arial"/>
                <a:ea typeface="Arial"/>
                <a:cs typeface="Arial"/>
                <a:sym typeface="Arial"/>
              </a:rPr>
              <a:t>Amazon Web Services, Inc. or its Affiliates.</a:t>
            </a:r>
            <a:endParaRPr sz="933">
              <a:solidFill>
                <a:srgbClr val="7F7F7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 name="Shape 63"/>
        <p:cNvGrpSpPr/>
        <p:nvPr/>
      </p:nvGrpSpPr>
      <p:grpSpPr>
        <a:xfrm>
          <a:off x="0" y="0"/>
          <a:ext cx="0" cy="0"/>
          <a:chOff x="0" y="0"/>
          <a:chExt cx="0" cy="0"/>
        </a:xfrm>
      </p:grpSpPr>
      <p:pic>
        <p:nvPicPr>
          <p:cNvPr id="64" name="Google Shape;64;p9"/>
          <p:cNvPicPr preferRelativeResize="0"/>
          <p:nvPr/>
        </p:nvPicPr>
        <p:blipFill rotWithShape="1">
          <a:blip r:embed="rId4">
            <a:alphaModFix/>
          </a:blip>
          <a:srcRect b="0" l="168" r="15749" t="0"/>
          <a:stretch/>
        </p:blipFill>
        <p:spPr>
          <a:xfrm>
            <a:off x="1846000" y="-10350"/>
            <a:ext cx="10286100" cy="6878700"/>
          </a:xfrm>
          <a:prstGeom prst="rect">
            <a:avLst/>
          </a:prstGeom>
          <a:noFill/>
          <a:ln>
            <a:noFill/>
          </a:ln>
        </p:spPr>
      </p:pic>
      <p:sp>
        <p:nvSpPr>
          <p:cNvPr id="65" name="Google Shape;65;p9"/>
          <p:cNvSpPr txBox="1"/>
          <p:nvPr/>
        </p:nvSpPr>
        <p:spPr>
          <a:xfrm>
            <a:off x="2164556" y="6315961"/>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66" name="Google Shape;66;p9"/>
          <p:cNvPicPr preferRelativeResize="0"/>
          <p:nvPr/>
        </p:nvPicPr>
        <p:blipFill rotWithShape="1">
          <a:blip r:embed="rId5">
            <a:alphaModFix/>
          </a:blip>
          <a:srcRect b="249" l="0" r="0" t="239"/>
          <a:stretch/>
        </p:blipFill>
        <p:spPr>
          <a:xfrm>
            <a:off x="457200" y="6269031"/>
            <a:ext cx="1555800" cy="381000"/>
          </a:xfrm>
          <a:prstGeom prst="rect">
            <a:avLst/>
          </a:prstGeom>
          <a:noFill/>
          <a:ln>
            <a:noFill/>
          </a:ln>
        </p:spPr>
      </p:pic>
      <p:sp>
        <p:nvSpPr>
          <p:cNvPr id="67" name="Google Shape;67;p9"/>
          <p:cNvSpPr txBox="1"/>
          <p:nvPr>
            <p:ph type="title"/>
          </p:nvPr>
        </p:nvSpPr>
        <p:spPr>
          <a:xfrm>
            <a:off x="571550" y="1572375"/>
            <a:ext cx="10047900" cy="19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US" sz="5460">
                <a:latin typeface="Arial"/>
                <a:ea typeface="Arial"/>
                <a:cs typeface="Arial"/>
                <a:sym typeface="Arial"/>
              </a:rPr>
              <a:t>DATA ANALYTICS ENGINEER</a:t>
            </a:r>
            <a:endParaRPr b="1" sz="5460">
              <a:solidFill>
                <a:srgbClr val="FCA019"/>
              </a:solidFill>
              <a:latin typeface="Arial"/>
              <a:ea typeface="Arial"/>
              <a:cs typeface="Arial"/>
              <a:sym typeface="Arial"/>
            </a:endParaRPr>
          </a:p>
          <a:p>
            <a:pPr indent="0" lvl="0" marL="0" rtl="0" algn="l">
              <a:spcBef>
                <a:spcPts val="0"/>
              </a:spcBef>
              <a:spcAft>
                <a:spcPts val="0"/>
              </a:spcAft>
              <a:buNone/>
            </a:pPr>
            <a:r>
              <a:rPr lang="en-US" sz="4220">
                <a:solidFill>
                  <a:srgbClr val="FFFFFF"/>
                </a:solidFill>
                <a:latin typeface="Arial"/>
                <a:ea typeface="Arial"/>
                <a:cs typeface="Arial"/>
                <a:sym typeface="Arial"/>
              </a:rPr>
              <a:t>THỰC TẾ LÀM GÌ</a:t>
            </a:r>
            <a:endParaRPr b="1" sz="4220">
              <a:solidFill>
                <a:srgbClr val="FFFFFF"/>
              </a:solidFill>
              <a:latin typeface="Arial"/>
              <a:ea typeface="Arial"/>
              <a:cs typeface="Arial"/>
              <a:sym typeface="Arial"/>
            </a:endParaRPr>
          </a:p>
        </p:txBody>
      </p:sp>
      <p:sp>
        <p:nvSpPr>
          <p:cNvPr id="68" name="Google Shape;68;p9"/>
          <p:cNvSpPr/>
          <p:nvPr/>
        </p:nvSpPr>
        <p:spPr>
          <a:xfrm>
            <a:off x="571550" y="3782175"/>
            <a:ext cx="952500" cy="76200"/>
          </a:xfrm>
          <a:prstGeom prst="roundRect">
            <a:avLst>
              <a:gd fmla="val 50000" name="adj"/>
            </a:avLst>
          </a:prstGeom>
          <a:solidFill>
            <a:srgbClr val="FCA01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 name="Google Shape;69;p9"/>
          <p:cNvSpPr txBox="1"/>
          <p:nvPr>
            <p:ph idx="1" type="body"/>
          </p:nvPr>
        </p:nvSpPr>
        <p:spPr>
          <a:xfrm>
            <a:off x="571550" y="4135900"/>
            <a:ext cx="8228400" cy="1303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483"/>
              </a:spcBef>
              <a:spcAft>
                <a:spcPts val="0"/>
              </a:spcAft>
              <a:buNone/>
            </a:pPr>
            <a:r>
              <a:rPr b="1" lang="en-US" sz="2800">
                <a:solidFill>
                  <a:srgbClr val="FCA019"/>
                </a:solidFill>
                <a:latin typeface="Arial"/>
                <a:ea typeface="Arial"/>
                <a:cs typeface="Arial"/>
                <a:sym typeface="Arial"/>
              </a:rPr>
              <a:t>Section 1.</a:t>
            </a:r>
            <a:endParaRPr b="1" sz="2800">
              <a:solidFill>
                <a:srgbClr val="FCA019"/>
              </a:solidFill>
              <a:latin typeface="Arial"/>
              <a:ea typeface="Arial"/>
              <a:cs typeface="Arial"/>
              <a:sym typeface="Arial"/>
            </a:endParaRPr>
          </a:p>
          <a:p>
            <a:pPr indent="0" lvl="0" marL="0" rtl="0" algn="l">
              <a:spcBef>
                <a:spcPts val="600"/>
              </a:spcBef>
              <a:spcAft>
                <a:spcPts val="0"/>
              </a:spcAft>
              <a:buNone/>
            </a:pPr>
            <a:r>
              <a:rPr b="0" lang="en-US" sz="1600">
                <a:solidFill>
                  <a:srgbClr val="CBD5E1"/>
                </a:solidFill>
                <a:latin typeface="Arial"/>
                <a:ea typeface="Arial"/>
                <a:cs typeface="Arial"/>
                <a:sym typeface="Arial"/>
              </a:rPr>
              <a:t>Sinh viên năm 3 - 4 cần trang bị tư duy gì trước những biến động về yêu cầu tuyển dụng?</a:t>
            </a:r>
            <a:endParaRPr b="0" sz="1600">
              <a:solidFill>
                <a:srgbClr val="CBD5E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pic>
        <p:nvPicPr>
          <p:cNvPr id="74" name="Google Shape;74;p10"/>
          <p:cNvPicPr preferRelativeResize="0"/>
          <p:nvPr/>
        </p:nvPicPr>
        <p:blipFill rotWithShape="1">
          <a:blip r:embed="rId4">
            <a:alphaModFix/>
          </a:blip>
          <a:srcRect b="0" l="0" r="0" t="0"/>
          <a:stretch/>
        </p:blipFill>
        <p:spPr>
          <a:xfrm>
            <a:off x="1854476" y="-10362"/>
            <a:ext cx="12233100" cy="6878700"/>
          </a:xfrm>
          <a:prstGeom prst="rect">
            <a:avLst/>
          </a:prstGeom>
          <a:noFill/>
          <a:ln>
            <a:noFill/>
          </a:ln>
        </p:spPr>
      </p:pic>
      <p:sp>
        <p:nvSpPr>
          <p:cNvPr id="75" name="Google Shape;75;p10"/>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76" name="Google Shape;76;p10"/>
          <p:cNvPicPr preferRelativeResize="0"/>
          <p:nvPr/>
        </p:nvPicPr>
        <p:blipFill rotWithShape="1">
          <a:blip r:embed="rId5">
            <a:alphaModFix/>
          </a:blip>
          <a:srcRect b="249" l="0" r="0" t="239"/>
          <a:stretch/>
        </p:blipFill>
        <p:spPr>
          <a:xfrm>
            <a:off x="457200" y="6269069"/>
            <a:ext cx="1555800" cy="381000"/>
          </a:xfrm>
          <a:prstGeom prst="rect">
            <a:avLst/>
          </a:prstGeom>
          <a:noFill/>
          <a:ln>
            <a:noFill/>
          </a:ln>
        </p:spPr>
      </p:pic>
      <p:grpSp>
        <p:nvGrpSpPr>
          <p:cNvPr id="77" name="Google Shape;77;p10"/>
          <p:cNvGrpSpPr/>
          <p:nvPr/>
        </p:nvGrpSpPr>
        <p:grpSpPr>
          <a:xfrm>
            <a:off x="571500" y="530725"/>
            <a:ext cx="11049000" cy="1499188"/>
            <a:chOff x="0" y="149725"/>
            <a:chExt cx="11049000" cy="1499188"/>
          </a:xfrm>
        </p:grpSpPr>
        <p:sp>
          <p:nvSpPr>
            <p:cNvPr id="78" name="Google Shape;78;p10"/>
            <p:cNvSpPr txBox="1"/>
            <p:nvPr/>
          </p:nvSpPr>
          <p:spPr>
            <a:xfrm>
              <a:off x="0" y="149725"/>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800">
                  <a:solidFill>
                    <a:srgbClr val="FCA019"/>
                  </a:solidFill>
                  <a:latin typeface="Arial"/>
                  <a:ea typeface="Arial"/>
                  <a:cs typeface="Arial"/>
                  <a:sym typeface="Arial"/>
                </a:rPr>
                <a:t>THỰC TẾ CÔNG VIỆC TRONG DOANH NGHIỆP</a:t>
              </a:r>
              <a:endParaRPr b="1" sz="3800">
                <a:solidFill>
                  <a:srgbClr val="FCA019"/>
                </a:solidFill>
                <a:latin typeface="Arial"/>
                <a:ea typeface="Arial"/>
                <a:cs typeface="Arial"/>
                <a:sym typeface="Arial"/>
              </a:endParaRPr>
            </a:p>
          </p:txBody>
        </p:sp>
        <p:sp>
          <p:nvSpPr>
            <p:cNvPr id="79" name="Google Shape;79;p10"/>
            <p:cNvSpPr txBox="1"/>
            <p:nvPr/>
          </p:nvSpPr>
          <p:spPr>
            <a:xfrm>
              <a:off x="0" y="886913"/>
              <a:ext cx="9525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600">
                  <a:solidFill>
                    <a:srgbClr val="CBD5E1"/>
                  </a:solidFill>
                  <a:latin typeface="Arial"/>
                  <a:ea typeface="Arial"/>
                  <a:cs typeface="Arial"/>
                  <a:sym typeface="Arial"/>
                </a:rPr>
                <a:t>Công việc của Data Analytics Engineer khác nhau tùy thuộc vào ngành nghề (domain), mô hình kinh doanh và phòng ban hỗ trợ.</a:t>
              </a:r>
              <a:endParaRPr b="0" sz="1600">
                <a:solidFill>
                  <a:srgbClr val="CBD5E1"/>
                </a:solidFill>
                <a:latin typeface="Arial"/>
                <a:ea typeface="Arial"/>
                <a:cs typeface="Arial"/>
                <a:sym typeface="Arial"/>
              </a:endParaRPr>
            </a:p>
          </p:txBody>
        </p:sp>
      </p:grpSp>
      <p:grpSp>
        <p:nvGrpSpPr>
          <p:cNvPr id="80" name="Google Shape;80;p10"/>
          <p:cNvGrpSpPr/>
          <p:nvPr/>
        </p:nvGrpSpPr>
        <p:grpSpPr>
          <a:xfrm>
            <a:off x="571500" y="2105775"/>
            <a:ext cx="5238900" cy="3622053"/>
            <a:chOff x="0" y="0"/>
            <a:chExt cx="5238900" cy="4000500"/>
          </a:xfrm>
        </p:grpSpPr>
        <p:sp>
          <p:nvSpPr>
            <p:cNvPr id="81" name="Google Shape;81;p10"/>
            <p:cNvSpPr/>
            <p:nvPr/>
          </p:nvSpPr>
          <p:spPr>
            <a:xfrm>
              <a:off x="0" y="0"/>
              <a:ext cx="5238900" cy="4000500"/>
            </a:xfrm>
            <a:prstGeom prst="roundRect">
              <a:avLst>
                <a:gd fmla="val 2857"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0"/>
            <p:cNvSpPr txBox="1"/>
            <p:nvPr/>
          </p:nvSpPr>
          <p:spPr>
            <a:xfrm>
              <a:off x="285750" y="285750"/>
              <a:ext cx="46674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FCA019"/>
                  </a:solidFill>
                  <a:latin typeface="Arial"/>
                  <a:ea typeface="Arial"/>
                  <a:cs typeface="Arial"/>
                  <a:sym typeface="Arial"/>
                </a:rPr>
                <a:t>Kamereo</a:t>
              </a:r>
              <a:endParaRPr b="1" sz="2400">
                <a:solidFill>
                  <a:srgbClr val="FCA019"/>
                </a:solidFill>
                <a:latin typeface="Arial"/>
                <a:ea typeface="Arial"/>
                <a:cs typeface="Arial"/>
                <a:sym typeface="Arial"/>
              </a:endParaRPr>
            </a:p>
            <a:p>
              <a:pPr indent="-317500" lvl="0" marL="457200" rtl="0" algn="l">
                <a:spcBef>
                  <a:spcPts val="1500"/>
                </a:spcBef>
                <a:spcAft>
                  <a:spcPts val="0"/>
                </a:spcAft>
                <a:buClr>
                  <a:srgbClr val="CBD5E1"/>
                </a:buClr>
                <a:buSzPts val="1400"/>
                <a:buFont typeface="Arial"/>
                <a:buChar char="●"/>
              </a:pPr>
              <a:r>
                <a:rPr lang="en-US" sz="1400">
                  <a:solidFill>
                    <a:srgbClr val="CBD5E1"/>
                  </a:solidFill>
                  <a:latin typeface="Arial"/>
                  <a:ea typeface="Arial"/>
                  <a:cs typeface="Arial"/>
                  <a:sym typeface="Arial"/>
                </a:rPr>
                <a:t>Xây dựng báo cáo theo ngày, tuần, tháng, quý để theo dõi hiệu suất vận hành.</a:t>
              </a:r>
              <a:endParaRPr sz="1400">
                <a:solidFill>
                  <a:srgbClr val="CBD5E1"/>
                </a:solidFill>
                <a:latin typeface="Arial"/>
                <a:ea typeface="Arial"/>
                <a:cs typeface="Arial"/>
                <a:sym typeface="Arial"/>
              </a:endParaRPr>
            </a:p>
            <a:p>
              <a:pPr indent="-317500" lvl="0" marL="457200" rtl="0" algn="l">
                <a:spcBef>
                  <a:spcPts val="1125"/>
                </a:spcBef>
                <a:spcAft>
                  <a:spcPts val="0"/>
                </a:spcAft>
                <a:buClr>
                  <a:srgbClr val="CBD5E1"/>
                </a:buClr>
                <a:buSzPts val="1400"/>
                <a:buFont typeface="Arial"/>
                <a:buChar char="●"/>
              </a:pPr>
              <a:r>
                <a:rPr lang="en-US" sz="1400">
                  <a:solidFill>
                    <a:srgbClr val="CBD5E1"/>
                  </a:solidFill>
                  <a:latin typeface="Arial"/>
                  <a:ea typeface="Arial"/>
                  <a:cs typeface="Arial"/>
                  <a:sym typeface="Arial"/>
                </a:rPr>
                <a:t>Thiết kế Dashboard quản lý xu hướng dữ liệu, phát hiện bất thường và hỗ trợ ra quyết định.</a:t>
              </a:r>
              <a:endParaRPr sz="1400">
                <a:solidFill>
                  <a:srgbClr val="CBD5E1"/>
                </a:solidFill>
                <a:latin typeface="Arial"/>
                <a:ea typeface="Arial"/>
                <a:cs typeface="Arial"/>
                <a:sym typeface="Arial"/>
              </a:endParaRPr>
            </a:p>
            <a:p>
              <a:pPr indent="-317500" lvl="0" marL="457200" rtl="0" algn="l">
                <a:spcBef>
                  <a:spcPts val="1125"/>
                </a:spcBef>
                <a:spcAft>
                  <a:spcPts val="0"/>
                </a:spcAft>
                <a:buClr>
                  <a:srgbClr val="CBD5E1"/>
                </a:buClr>
                <a:buSzPts val="1400"/>
                <a:buFont typeface="Arial"/>
                <a:buChar char="●"/>
              </a:pPr>
              <a:r>
                <a:rPr lang="en-US" sz="1400">
                  <a:solidFill>
                    <a:srgbClr val="CBD5E1"/>
                  </a:solidFill>
                  <a:latin typeface="Arial"/>
                  <a:ea typeface="Arial"/>
                  <a:cs typeface="Arial"/>
                  <a:sym typeface="Arial"/>
                </a:rPr>
                <a:t>Phân tích chỉ số kinh doanh/vận hành, tìm nguyên nhân gốc rễ và đề xuất giải pháp.</a:t>
              </a:r>
              <a:endParaRPr sz="1400">
                <a:solidFill>
                  <a:srgbClr val="CBD5E1"/>
                </a:solidFill>
                <a:latin typeface="Arial"/>
                <a:ea typeface="Arial"/>
                <a:cs typeface="Arial"/>
                <a:sym typeface="Arial"/>
              </a:endParaRPr>
            </a:p>
            <a:p>
              <a:pPr indent="-317500" lvl="0" marL="457200" rtl="0" algn="l">
                <a:spcBef>
                  <a:spcPts val="1125"/>
                </a:spcBef>
                <a:spcAft>
                  <a:spcPts val="0"/>
                </a:spcAft>
                <a:buClr>
                  <a:srgbClr val="CBD5E1"/>
                </a:buClr>
                <a:buSzPts val="1400"/>
                <a:buFont typeface="Arial"/>
                <a:buChar char="●"/>
              </a:pPr>
              <a:r>
                <a:rPr lang="en-US" sz="1400">
                  <a:solidFill>
                    <a:srgbClr val="CBD5E1"/>
                  </a:solidFill>
                  <a:latin typeface="Arial"/>
                  <a:ea typeface="Arial"/>
                  <a:cs typeface="Arial"/>
                  <a:sym typeface="Arial"/>
                </a:rPr>
                <a:t>Phối hợp đa phòng ban giải quyết các bài toán thực tế phát sinh.</a:t>
              </a:r>
              <a:endParaRPr sz="1400">
                <a:solidFill>
                  <a:srgbClr val="CBD5E1"/>
                </a:solidFill>
                <a:latin typeface="Arial"/>
                <a:ea typeface="Arial"/>
                <a:cs typeface="Arial"/>
                <a:sym typeface="Arial"/>
              </a:endParaRPr>
            </a:p>
          </p:txBody>
        </p:sp>
      </p:grpSp>
      <p:grpSp>
        <p:nvGrpSpPr>
          <p:cNvPr id="83" name="Google Shape;83;p10"/>
          <p:cNvGrpSpPr/>
          <p:nvPr/>
        </p:nvGrpSpPr>
        <p:grpSpPr>
          <a:xfrm>
            <a:off x="6096000" y="2105775"/>
            <a:ext cx="5238900" cy="3622053"/>
            <a:chOff x="0" y="0"/>
            <a:chExt cx="5238900" cy="4000500"/>
          </a:xfrm>
        </p:grpSpPr>
        <p:sp>
          <p:nvSpPr>
            <p:cNvPr id="84" name="Google Shape;84;p10"/>
            <p:cNvSpPr/>
            <p:nvPr/>
          </p:nvSpPr>
          <p:spPr>
            <a:xfrm>
              <a:off x="0" y="0"/>
              <a:ext cx="5238900" cy="4000500"/>
            </a:xfrm>
            <a:prstGeom prst="roundRect">
              <a:avLst>
                <a:gd fmla="val 2857"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 name="Google Shape;85;p10"/>
            <p:cNvSpPr txBox="1"/>
            <p:nvPr/>
          </p:nvSpPr>
          <p:spPr>
            <a:xfrm>
              <a:off x="285750" y="285750"/>
              <a:ext cx="46674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FCA019"/>
                  </a:solidFill>
                  <a:latin typeface="Arial"/>
                  <a:ea typeface="Arial"/>
                  <a:cs typeface="Arial"/>
                  <a:sym typeface="Arial"/>
                </a:rPr>
                <a:t>Colgate-Palmolive</a:t>
              </a:r>
              <a:endParaRPr b="1" sz="2400">
                <a:solidFill>
                  <a:srgbClr val="FCA019"/>
                </a:solidFill>
                <a:latin typeface="Arial"/>
                <a:ea typeface="Arial"/>
                <a:cs typeface="Arial"/>
                <a:sym typeface="Arial"/>
              </a:endParaRPr>
            </a:p>
            <a:p>
              <a:pPr indent="-317500" lvl="0" marL="457200" rtl="0" algn="l">
                <a:spcBef>
                  <a:spcPts val="1500"/>
                </a:spcBef>
                <a:spcAft>
                  <a:spcPts val="0"/>
                </a:spcAft>
                <a:buClr>
                  <a:srgbClr val="CBD5E1"/>
                </a:buClr>
                <a:buSzPts val="1400"/>
                <a:buFont typeface="Arial"/>
                <a:buChar char="●"/>
              </a:pPr>
              <a:r>
                <a:rPr lang="en-US" sz="1400">
                  <a:solidFill>
                    <a:srgbClr val="CBD5E1"/>
                  </a:solidFill>
                  <a:latin typeface="Arial"/>
                  <a:ea typeface="Arial"/>
                  <a:cs typeface="Arial"/>
                  <a:sym typeface="Arial"/>
                </a:rPr>
                <a:t>Tham gia dự án dữ liệu máy móc, vận hành và thiết bị IoT trong nhà máy.</a:t>
              </a:r>
              <a:endParaRPr sz="1400">
                <a:solidFill>
                  <a:srgbClr val="CBD5E1"/>
                </a:solidFill>
                <a:latin typeface="Arial"/>
                <a:ea typeface="Arial"/>
                <a:cs typeface="Arial"/>
                <a:sym typeface="Arial"/>
              </a:endParaRPr>
            </a:p>
            <a:p>
              <a:pPr indent="-317500" lvl="0" marL="457200" rtl="0" algn="l">
                <a:spcBef>
                  <a:spcPts val="1125"/>
                </a:spcBef>
                <a:spcAft>
                  <a:spcPts val="0"/>
                </a:spcAft>
                <a:buClr>
                  <a:srgbClr val="CBD5E1"/>
                </a:buClr>
                <a:buSzPts val="1400"/>
                <a:buFont typeface="Arial"/>
                <a:buChar char="●"/>
              </a:pPr>
              <a:r>
                <a:rPr lang="en-US" sz="1400">
                  <a:solidFill>
                    <a:srgbClr val="CBD5E1"/>
                  </a:solidFill>
                  <a:latin typeface="Arial"/>
                  <a:ea typeface="Arial"/>
                  <a:cs typeface="Arial"/>
                  <a:sym typeface="Arial"/>
                </a:rPr>
                <a:t>Tìm kiếm cơ hội tối ưu chi phí sản xuất và nâng cao hiệu suất vận hành.</a:t>
              </a:r>
              <a:endParaRPr sz="1400">
                <a:solidFill>
                  <a:srgbClr val="CBD5E1"/>
                </a:solidFill>
                <a:latin typeface="Arial"/>
                <a:ea typeface="Arial"/>
                <a:cs typeface="Arial"/>
                <a:sym typeface="Arial"/>
              </a:endParaRPr>
            </a:p>
            <a:p>
              <a:pPr indent="-317500" lvl="0" marL="457200" rtl="0" algn="l">
                <a:spcBef>
                  <a:spcPts val="1125"/>
                </a:spcBef>
                <a:spcAft>
                  <a:spcPts val="0"/>
                </a:spcAft>
                <a:buClr>
                  <a:srgbClr val="CBD5E1"/>
                </a:buClr>
                <a:buSzPts val="1400"/>
                <a:buFont typeface="Arial"/>
                <a:buChar char="●"/>
              </a:pPr>
              <a:r>
                <a:rPr lang="en-US" sz="1400">
                  <a:solidFill>
                    <a:srgbClr val="CBD5E1"/>
                  </a:solidFill>
                  <a:latin typeface="Arial"/>
                  <a:ea typeface="Arial"/>
                  <a:cs typeface="Arial"/>
                  <a:sym typeface="Arial"/>
                </a:rPr>
                <a:t>Hỗ trợ các sáng kiến chuyển đổi số doanh nghiệp.</a:t>
              </a:r>
              <a:endParaRPr sz="1400">
                <a:solidFill>
                  <a:srgbClr val="CBD5E1"/>
                </a:solidFill>
                <a:latin typeface="Arial"/>
                <a:ea typeface="Arial"/>
                <a:cs typeface="Arial"/>
                <a:sym typeface="Arial"/>
              </a:endParaRPr>
            </a:p>
            <a:p>
              <a:pPr indent="-317500" lvl="0" marL="457200" rtl="0" algn="l">
                <a:spcBef>
                  <a:spcPts val="1125"/>
                </a:spcBef>
                <a:spcAft>
                  <a:spcPts val="0"/>
                </a:spcAft>
                <a:buClr>
                  <a:srgbClr val="CBD5E1"/>
                </a:buClr>
                <a:buSzPts val="1400"/>
                <a:buFont typeface="Arial"/>
                <a:buChar char="●"/>
              </a:pPr>
              <a:r>
                <a:rPr lang="en-US" sz="1400">
                  <a:solidFill>
                    <a:srgbClr val="CBD5E1"/>
                  </a:solidFill>
                  <a:latin typeface="Arial"/>
                  <a:ea typeface="Arial"/>
                  <a:cs typeface="Arial"/>
                  <a:sym typeface="Arial"/>
                </a:rPr>
                <a:t>Xây dựng giải pháp dữ liệu giúp nhà máy vận hành hiệu quả dài hạn.</a:t>
              </a:r>
              <a:endParaRPr sz="1400">
                <a:solidFill>
                  <a:srgbClr val="CBD5E1"/>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pic>
        <p:nvPicPr>
          <p:cNvPr id="90" name="Google Shape;90;p11"/>
          <p:cNvPicPr preferRelativeResize="0"/>
          <p:nvPr/>
        </p:nvPicPr>
        <p:blipFill rotWithShape="1">
          <a:blip r:embed="rId4">
            <a:alphaModFix/>
          </a:blip>
          <a:srcRect b="0" l="0" r="0" t="0"/>
          <a:stretch/>
        </p:blipFill>
        <p:spPr>
          <a:xfrm>
            <a:off x="1884426" y="-10287"/>
            <a:ext cx="12233100" cy="6878700"/>
          </a:xfrm>
          <a:prstGeom prst="rect">
            <a:avLst/>
          </a:prstGeom>
          <a:noFill/>
          <a:ln>
            <a:noFill/>
          </a:ln>
        </p:spPr>
      </p:pic>
      <p:sp>
        <p:nvSpPr>
          <p:cNvPr id="91" name="Google Shape;91;p11"/>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92" name="Google Shape;92;p11"/>
          <p:cNvPicPr preferRelativeResize="0"/>
          <p:nvPr/>
        </p:nvPicPr>
        <p:blipFill rotWithShape="1">
          <a:blip r:embed="rId5">
            <a:alphaModFix/>
          </a:blip>
          <a:srcRect b="249" l="0" r="0" t="239"/>
          <a:stretch/>
        </p:blipFill>
        <p:spPr>
          <a:xfrm>
            <a:off x="457200" y="6269069"/>
            <a:ext cx="1555800" cy="381000"/>
          </a:xfrm>
          <a:prstGeom prst="rect">
            <a:avLst/>
          </a:prstGeom>
          <a:noFill/>
          <a:ln>
            <a:noFill/>
          </a:ln>
        </p:spPr>
      </p:pic>
      <p:grpSp>
        <p:nvGrpSpPr>
          <p:cNvPr id="93" name="Google Shape;93;p11"/>
          <p:cNvGrpSpPr/>
          <p:nvPr/>
        </p:nvGrpSpPr>
        <p:grpSpPr>
          <a:xfrm>
            <a:off x="571500" y="1714500"/>
            <a:ext cx="11048925" cy="3333900"/>
            <a:chOff x="571500" y="1714500"/>
            <a:chExt cx="11048925" cy="3333900"/>
          </a:xfrm>
        </p:grpSpPr>
        <p:sp>
          <p:nvSpPr>
            <p:cNvPr id="94" name="Google Shape;94;p11"/>
            <p:cNvSpPr/>
            <p:nvPr/>
          </p:nvSpPr>
          <p:spPr>
            <a:xfrm>
              <a:off x="571500" y="1714500"/>
              <a:ext cx="2619300" cy="3333900"/>
            </a:xfrm>
            <a:prstGeom prst="roundRect">
              <a:avLst>
                <a:gd fmla="val 5454"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1"/>
            <p:cNvSpPr txBox="1"/>
            <p:nvPr/>
          </p:nvSpPr>
          <p:spPr>
            <a:xfrm>
              <a:off x="571500" y="1714500"/>
              <a:ext cx="2619300" cy="33339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lang="en-US" sz="4800">
                  <a:solidFill>
                    <a:srgbClr val="FCA019"/>
                  </a:solidFill>
                  <a:latin typeface="Material Icons"/>
                  <a:ea typeface="Material Icons"/>
                  <a:cs typeface="Material Icons"/>
                  <a:sym typeface="Material Icons"/>
                </a:rPr>
                <a:t>psychology</a:t>
              </a:r>
              <a:endParaRPr sz="4800">
                <a:solidFill>
                  <a:srgbClr val="FCA019"/>
                </a:solidFill>
                <a:latin typeface="Material Icons"/>
                <a:ea typeface="Material Icons"/>
                <a:cs typeface="Material Icons"/>
                <a:sym typeface="Material Icons"/>
              </a:endParaRPr>
            </a:p>
            <a:p>
              <a:pPr indent="0" lvl="0" marL="0" rtl="0" algn="ctr">
                <a:spcBef>
                  <a:spcPts val="1500"/>
                </a:spcBef>
                <a:spcAft>
                  <a:spcPts val="0"/>
                </a:spcAft>
                <a:buNone/>
              </a:pPr>
              <a:r>
                <a:rPr b="1" lang="en-US" sz="2000">
                  <a:solidFill>
                    <a:srgbClr val="FCA019"/>
                  </a:solidFill>
                  <a:latin typeface="Arial"/>
                  <a:ea typeface="Arial"/>
                  <a:cs typeface="Arial"/>
                  <a:sym typeface="Arial"/>
                </a:rPr>
                <a:t>Tư duy phản biện</a:t>
              </a:r>
              <a:endParaRPr b="1" sz="2000">
                <a:solidFill>
                  <a:srgbClr val="FCA019"/>
                </a:solidFill>
                <a:latin typeface="Arial"/>
                <a:ea typeface="Arial"/>
                <a:cs typeface="Arial"/>
                <a:sym typeface="Arial"/>
              </a:endParaRPr>
            </a:p>
            <a:p>
              <a:pPr indent="0" lvl="0" marL="0" rtl="0" algn="ctr">
                <a:spcBef>
                  <a:spcPts val="750"/>
                </a:spcBef>
                <a:spcAft>
                  <a:spcPts val="0"/>
                </a:spcAft>
                <a:buNone/>
              </a:pPr>
              <a:r>
                <a:rPr lang="en-US" sz="1100">
                  <a:solidFill>
                    <a:srgbClr val="CBD5E1"/>
                  </a:solidFill>
                  <a:latin typeface="Arial"/>
                  <a:ea typeface="Arial"/>
                  <a:cs typeface="Arial"/>
                  <a:sym typeface="Arial"/>
                </a:rPr>
                <a:t>Khả năng phân tích thông tin một cách khách quan để đưa ra những nhận định sáng suốt.</a:t>
              </a:r>
              <a:endParaRPr sz="1100">
                <a:solidFill>
                  <a:srgbClr val="CBD5E1"/>
                </a:solidFill>
                <a:latin typeface="Arial"/>
                <a:ea typeface="Arial"/>
                <a:cs typeface="Arial"/>
                <a:sym typeface="Arial"/>
              </a:endParaRPr>
            </a:p>
          </p:txBody>
        </p:sp>
        <p:sp>
          <p:nvSpPr>
            <p:cNvPr id="96" name="Google Shape;96;p11"/>
            <p:cNvSpPr/>
            <p:nvPr/>
          </p:nvSpPr>
          <p:spPr>
            <a:xfrm>
              <a:off x="3381375" y="1714500"/>
              <a:ext cx="2619300" cy="3333900"/>
            </a:xfrm>
            <a:prstGeom prst="roundRect">
              <a:avLst>
                <a:gd fmla="val 5454"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1"/>
            <p:cNvSpPr txBox="1"/>
            <p:nvPr/>
          </p:nvSpPr>
          <p:spPr>
            <a:xfrm>
              <a:off x="3381375" y="1714500"/>
              <a:ext cx="2619300" cy="33339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lang="en-US" sz="4800">
                  <a:solidFill>
                    <a:srgbClr val="FCA019"/>
                  </a:solidFill>
                  <a:latin typeface="Material Icons"/>
                  <a:ea typeface="Material Icons"/>
                  <a:cs typeface="Material Icons"/>
                  <a:sym typeface="Material Icons"/>
                </a:rPr>
                <a:t>forum</a:t>
              </a:r>
              <a:endParaRPr sz="4800">
                <a:solidFill>
                  <a:srgbClr val="FCA019"/>
                </a:solidFill>
                <a:latin typeface="Material Icons"/>
                <a:ea typeface="Material Icons"/>
                <a:cs typeface="Material Icons"/>
                <a:sym typeface="Material Icons"/>
              </a:endParaRPr>
            </a:p>
            <a:p>
              <a:pPr indent="0" lvl="0" marL="0" rtl="0" algn="ctr">
                <a:spcBef>
                  <a:spcPts val="1500"/>
                </a:spcBef>
                <a:spcAft>
                  <a:spcPts val="0"/>
                </a:spcAft>
                <a:buNone/>
              </a:pPr>
              <a:r>
                <a:rPr b="1" lang="en-US" sz="2000">
                  <a:solidFill>
                    <a:srgbClr val="FCA019"/>
                  </a:solidFill>
                  <a:latin typeface="Arial"/>
                  <a:ea typeface="Arial"/>
                  <a:cs typeface="Arial"/>
                  <a:sym typeface="Arial"/>
                </a:rPr>
                <a:t>Kỹ năng giao tiếp</a:t>
              </a:r>
              <a:endParaRPr b="1" sz="2000">
                <a:solidFill>
                  <a:srgbClr val="FCA019"/>
                </a:solidFill>
                <a:latin typeface="Arial"/>
                <a:ea typeface="Arial"/>
                <a:cs typeface="Arial"/>
                <a:sym typeface="Arial"/>
              </a:endParaRPr>
            </a:p>
            <a:p>
              <a:pPr indent="0" lvl="0" marL="0" rtl="0" algn="ctr">
                <a:spcBef>
                  <a:spcPts val="750"/>
                </a:spcBef>
                <a:spcAft>
                  <a:spcPts val="0"/>
                </a:spcAft>
                <a:buNone/>
              </a:pPr>
              <a:r>
                <a:rPr lang="en-US" sz="1100">
                  <a:solidFill>
                    <a:srgbClr val="CBD5E1"/>
                  </a:solidFill>
                  <a:latin typeface="Arial"/>
                  <a:ea typeface="Arial"/>
                  <a:cs typeface="Arial"/>
                  <a:sym typeface="Arial"/>
                </a:rPr>
                <a:t>Truyền đạt ý tưởng và kết quả phân tích một cách rõ ràng, dễ hiểu đến mọi đối tượng.</a:t>
              </a:r>
              <a:endParaRPr sz="1100">
                <a:solidFill>
                  <a:srgbClr val="CBD5E1"/>
                </a:solidFill>
                <a:latin typeface="Arial"/>
                <a:ea typeface="Arial"/>
                <a:cs typeface="Arial"/>
                <a:sym typeface="Arial"/>
              </a:endParaRPr>
            </a:p>
          </p:txBody>
        </p:sp>
        <p:sp>
          <p:nvSpPr>
            <p:cNvPr id="98" name="Google Shape;98;p11"/>
            <p:cNvSpPr/>
            <p:nvPr/>
          </p:nvSpPr>
          <p:spPr>
            <a:xfrm>
              <a:off x="6191250" y="1714500"/>
              <a:ext cx="2619300" cy="3333900"/>
            </a:xfrm>
            <a:prstGeom prst="roundRect">
              <a:avLst>
                <a:gd fmla="val 5454"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1"/>
            <p:cNvSpPr txBox="1"/>
            <p:nvPr/>
          </p:nvSpPr>
          <p:spPr>
            <a:xfrm>
              <a:off x="6191250" y="1714500"/>
              <a:ext cx="2619300" cy="33339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lang="en-US" sz="4800">
                  <a:solidFill>
                    <a:srgbClr val="FCA019"/>
                  </a:solidFill>
                  <a:latin typeface="Material Icons"/>
                  <a:ea typeface="Material Icons"/>
                  <a:cs typeface="Material Icons"/>
                  <a:sym typeface="Material Icons"/>
                </a:rPr>
                <a:t>auto_graph</a:t>
              </a:r>
              <a:endParaRPr sz="4800">
                <a:solidFill>
                  <a:srgbClr val="FCA019"/>
                </a:solidFill>
                <a:latin typeface="Material Icons"/>
                <a:ea typeface="Material Icons"/>
                <a:cs typeface="Material Icons"/>
                <a:sym typeface="Material Icons"/>
              </a:endParaRPr>
            </a:p>
            <a:p>
              <a:pPr indent="0" lvl="0" marL="0" rtl="0" algn="ctr">
                <a:spcBef>
                  <a:spcPts val="1500"/>
                </a:spcBef>
                <a:spcAft>
                  <a:spcPts val="0"/>
                </a:spcAft>
                <a:buNone/>
              </a:pPr>
              <a:r>
                <a:rPr b="1" lang="en-US" sz="2000">
                  <a:solidFill>
                    <a:srgbClr val="FCA019"/>
                  </a:solidFill>
                  <a:latin typeface="Arial"/>
                  <a:ea typeface="Arial"/>
                  <a:cs typeface="Arial"/>
                  <a:sym typeface="Arial"/>
                </a:rPr>
                <a:t>Kể chuyện với dữ liệu</a:t>
              </a:r>
              <a:endParaRPr b="1" sz="2000">
                <a:solidFill>
                  <a:srgbClr val="FCA019"/>
                </a:solidFill>
                <a:latin typeface="Arial"/>
                <a:ea typeface="Arial"/>
                <a:cs typeface="Arial"/>
                <a:sym typeface="Arial"/>
              </a:endParaRPr>
            </a:p>
            <a:p>
              <a:pPr indent="0" lvl="0" marL="0" rtl="0" algn="ctr">
                <a:spcBef>
                  <a:spcPts val="750"/>
                </a:spcBef>
                <a:spcAft>
                  <a:spcPts val="0"/>
                </a:spcAft>
                <a:buNone/>
              </a:pPr>
              <a:r>
                <a:rPr lang="en-US" sz="1100">
                  <a:solidFill>
                    <a:srgbClr val="CBD5E1"/>
                  </a:solidFill>
                  <a:latin typeface="Arial"/>
                  <a:ea typeface="Arial"/>
                  <a:cs typeface="Arial"/>
                  <a:sym typeface="Arial"/>
                </a:rPr>
                <a:t>Biến những con số khô khan thành những câu chuyện có ý nghĩa và thúc đẩy hành động.</a:t>
              </a:r>
              <a:endParaRPr sz="1100">
                <a:solidFill>
                  <a:srgbClr val="CBD5E1"/>
                </a:solidFill>
                <a:latin typeface="Arial"/>
                <a:ea typeface="Arial"/>
                <a:cs typeface="Arial"/>
                <a:sym typeface="Arial"/>
              </a:endParaRPr>
            </a:p>
          </p:txBody>
        </p:sp>
        <p:sp>
          <p:nvSpPr>
            <p:cNvPr id="100" name="Google Shape;100;p11"/>
            <p:cNvSpPr/>
            <p:nvPr/>
          </p:nvSpPr>
          <p:spPr>
            <a:xfrm>
              <a:off x="9001125" y="1714500"/>
              <a:ext cx="2619300" cy="3333900"/>
            </a:xfrm>
            <a:prstGeom prst="roundRect">
              <a:avLst>
                <a:gd fmla="val 5454"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1"/>
            <p:cNvSpPr txBox="1"/>
            <p:nvPr/>
          </p:nvSpPr>
          <p:spPr>
            <a:xfrm>
              <a:off x="9001125" y="1714500"/>
              <a:ext cx="2619300" cy="33339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lang="en-US" sz="4800">
                  <a:solidFill>
                    <a:srgbClr val="FCA019"/>
                  </a:solidFill>
                  <a:latin typeface="Material Icons"/>
                  <a:ea typeface="Material Icons"/>
                  <a:cs typeface="Material Icons"/>
                  <a:sym typeface="Material Icons"/>
                </a:rPr>
                <a:t>lightbulb</a:t>
              </a:r>
              <a:endParaRPr sz="4800">
                <a:solidFill>
                  <a:srgbClr val="FCA019"/>
                </a:solidFill>
                <a:latin typeface="Material Icons"/>
                <a:ea typeface="Material Icons"/>
                <a:cs typeface="Material Icons"/>
                <a:sym typeface="Material Icons"/>
              </a:endParaRPr>
            </a:p>
            <a:p>
              <a:pPr indent="0" lvl="0" marL="0" rtl="0" algn="ctr">
                <a:spcBef>
                  <a:spcPts val="1500"/>
                </a:spcBef>
                <a:spcAft>
                  <a:spcPts val="0"/>
                </a:spcAft>
                <a:buNone/>
              </a:pPr>
              <a:r>
                <a:rPr b="1" lang="en-US" sz="2000">
                  <a:solidFill>
                    <a:srgbClr val="FCA019"/>
                  </a:solidFill>
                  <a:latin typeface="Arial"/>
                  <a:ea typeface="Arial"/>
                  <a:cs typeface="Arial"/>
                  <a:sym typeface="Arial"/>
                </a:rPr>
                <a:t>Giải quyết vấn đề</a:t>
              </a:r>
              <a:endParaRPr b="1" sz="2000">
                <a:solidFill>
                  <a:srgbClr val="FCA019"/>
                </a:solidFill>
                <a:latin typeface="Arial"/>
                <a:ea typeface="Arial"/>
                <a:cs typeface="Arial"/>
                <a:sym typeface="Arial"/>
              </a:endParaRPr>
            </a:p>
            <a:p>
              <a:pPr indent="0" lvl="0" marL="0" rtl="0" algn="ctr">
                <a:spcBef>
                  <a:spcPts val="750"/>
                </a:spcBef>
                <a:spcAft>
                  <a:spcPts val="0"/>
                </a:spcAft>
                <a:buNone/>
              </a:pPr>
              <a:r>
                <a:rPr lang="en-US" sz="1100">
                  <a:solidFill>
                    <a:srgbClr val="CBD5E1"/>
                  </a:solidFill>
                  <a:latin typeface="Arial"/>
                  <a:ea typeface="Arial"/>
                  <a:cs typeface="Arial"/>
                  <a:sym typeface="Arial"/>
                </a:rPr>
                <a:t>Xác định các thách thức và tìm kiếm những giải pháp tối ưu dựa trên nền tảng dữ liệu.</a:t>
              </a:r>
              <a:endParaRPr sz="1100">
                <a:solidFill>
                  <a:srgbClr val="CBD5E1"/>
                </a:solidFill>
                <a:latin typeface="Arial"/>
                <a:ea typeface="Arial"/>
                <a:cs typeface="Arial"/>
                <a:sym typeface="Arial"/>
              </a:endParaRPr>
            </a:p>
          </p:txBody>
        </p:sp>
      </p:grpSp>
      <p:sp>
        <p:nvSpPr>
          <p:cNvPr id="102" name="Google Shape;102;p11"/>
          <p:cNvSpPr txBox="1"/>
          <p:nvPr/>
        </p:nvSpPr>
        <p:spPr>
          <a:xfrm>
            <a:off x="571500" y="476250"/>
            <a:ext cx="11049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3515">
                <a:solidFill>
                  <a:srgbClr val="FCA019"/>
                </a:solidFill>
                <a:latin typeface="Arial"/>
                <a:ea typeface="Arial"/>
                <a:cs typeface="Arial"/>
                <a:sym typeface="Arial"/>
              </a:rPr>
              <a:t>NHỮNG KỸ NĂNG CẦN THIẾT</a:t>
            </a:r>
            <a:endParaRPr b="1" i="0" sz="3515">
              <a:solidFill>
                <a:srgbClr val="FCA019"/>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pic>
        <p:nvPicPr>
          <p:cNvPr id="107" name="Google Shape;107;p12"/>
          <p:cNvPicPr preferRelativeResize="0"/>
          <p:nvPr/>
        </p:nvPicPr>
        <p:blipFill rotWithShape="1">
          <a:blip r:embed="rId4">
            <a:alphaModFix/>
          </a:blip>
          <a:srcRect b="0" l="0" r="0" t="0"/>
          <a:stretch/>
        </p:blipFill>
        <p:spPr>
          <a:xfrm>
            <a:off x="1884426" y="-10287"/>
            <a:ext cx="12233100" cy="6878700"/>
          </a:xfrm>
          <a:prstGeom prst="rect">
            <a:avLst/>
          </a:prstGeom>
          <a:noFill/>
          <a:ln>
            <a:noFill/>
          </a:ln>
        </p:spPr>
      </p:pic>
      <p:pic>
        <p:nvPicPr>
          <p:cNvPr id="108" name="Google Shape;108;p12"/>
          <p:cNvPicPr preferRelativeResize="0"/>
          <p:nvPr/>
        </p:nvPicPr>
        <p:blipFill rotWithShape="1">
          <a:blip r:embed="rId5">
            <a:alphaModFix/>
          </a:blip>
          <a:srcRect b="249" l="0" r="0" t="239"/>
          <a:stretch/>
        </p:blipFill>
        <p:spPr>
          <a:xfrm>
            <a:off x="457200" y="6269069"/>
            <a:ext cx="1555800" cy="381000"/>
          </a:xfrm>
          <a:prstGeom prst="rect">
            <a:avLst/>
          </a:prstGeom>
          <a:noFill/>
          <a:ln>
            <a:noFill/>
          </a:ln>
        </p:spPr>
      </p:pic>
      <p:grpSp>
        <p:nvGrpSpPr>
          <p:cNvPr id="109" name="Google Shape;109;p12"/>
          <p:cNvGrpSpPr/>
          <p:nvPr/>
        </p:nvGrpSpPr>
        <p:grpSpPr>
          <a:xfrm>
            <a:off x="571500" y="2000250"/>
            <a:ext cx="11049000" cy="4000500"/>
            <a:chOff x="0" y="0"/>
            <a:chExt cx="11049000" cy="4000500"/>
          </a:xfrm>
        </p:grpSpPr>
        <p:sp>
          <p:nvSpPr>
            <p:cNvPr id="110" name="Google Shape;110;p12"/>
            <p:cNvSpPr/>
            <p:nvPr/>
          </p:nvSpPr>
          <p:spPr>
            <a:xfrm>
              <a:off x="0" y="0"/>
              <a:ext cx="11049000" cy="4000500"/>
            </a:xfrm>
            <a:prstGeom prst="roundRect">
              <a:avLst>
                <a:gd fmla="val 2857"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1" name="Google Shape;111;p12"/>
            <p:cNvGrpSpPr/>
            <p:nvPr/>
          </p:nvGrpSpPr>
          <p:grpSpPr>
            <a:xfrm>
              <a:off x="285750" y="190575"/>
              <a:ext cx="5048400" cy="3625150"/>
              <a:chOff x="0" y="-95175"/>
              <a:chExt cx="5048400" cy="3625150"/>
            </a:xfrm>
          </p:grpSpPr>
          <p:sp>
            <p:nvSpPr>
              <p:cNvPr id="112" name="Google Shape;112;p12"/>
              <p:cNvSpPr/>
              <p:nvPr/>
            </p:nvSpPr>
            <p:spPr>
              <a:xfrm>
                <a:off x="0" y="0"/>
                <a:ext cx="5048400" cy="3429000"/>
              </a:xfrm>
              <a:prstGeom prst="roundRect">
                <a:avLst>
                  <a:gd fmla="val 2222" name="adj"/>
                </a:avLst>
              </a:prstGeom>
              <a:solidFill>
                <a:srgbClr val="0F172A">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3" name="Google Shape;113;p12"/>
              <p:cNvPicPr preferRelativeResize="0"/>
              <p:nvPr/>
            </p:nvPicPr>
            <p:blipFill rotWithShape="1">
              <a:blip r:embed="rId6">
                <a:alphaModFix/>
              </a:blip>
              <a:srcRect b="12263" l="0" r="0" t="12271"/>
              <a:stretch/>
            </p:blipFill>
            <p:spPr>
              <a:xfrm>
                <a:off x="190500" y="-95175"/>
                <a:ext cx="4857900" cy="3238500"/>
              </a:xfrm>
              <a:prstGeom prst="rect">
                <a:avLst/>
              </a:prstGeom>
              <a:noFill/>
              <a:ln>
                <a:noFill/>
              </a:ln>
            </p:spPr>
          </p:pic>
          <p:sp>
            <p:nvSpPr>
              <p:cNvPr id="114" name="Google Shape;114;p12"/>
              <p:cNvSpPr txBox="1"/>
              <p:nvPr/>
            </p:nvSpPr>
            <p:spPr>
              <a:xfrm>
                <a:off x="95250" y="3244075"/>
                <a:ext cx="4857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a:solidFill>
                      <a:srgbClr val="94A3B8"/>
                    </a:solidFill>
                    <a:latin typeface="Arial"/>
                    <a:ea typeface="Arial"/>
                    <a:cs typeface="Arial"/>
                    <a:sym typeface="Arial"/>
                  </a:rPr>
                  <a:t>Phân tích dữ liệu lịch sử và xu hướng</a:t>
                </a:r>
                <a:endParaRPr>
                  <a:solidFill>
                    <a:srgbClr val="94A3B8"/>
                  </a:solidFill>
                  <a:latin typeface="Arial"/>
                  <a:ea typeface="Arial"/>
                  <a:cs typeface="Arial"/>
                  <a:sym typeface="Arial"/>
                </a:endParaRPr>
              </a:p>
            </p:txBody>
          </p:sp>
        </p:grpSp>
        <p:grpSp>
          <p:nvGrpSpPr>
            <p:cNvPr id="115" name="Google Shape;115;p12"/>
            <p:cNvGrpSpPr/>
            <p:nvPr/>
          </p:nvGrpSpPr>
          <p:grpSpPr>
            <a:xfrm>
              <a:off x="5715000" y="190575"/>
              <a:ext cx="5048400" cy="3625150"/>
              <a:chOff x="0" y="-95175"/>
              <a:chExt cx="5048400" cy="3625150"/>
            </a:xfrm>
          </p:grpSpPr>
          <p:sp>
            <p:nvSpPr>
              <p:cNvPr id="116" name="Google Shape;116;p12"/>
              <p:cNvSpPr/>
              <p:nvPr/>
            </p:nvSpPr>
            <p:spPr>
              <a:xfrm>
                <a:off x="0" y="0"/>
                <a:ext cx="5048400" cy="3429000"/>
              </a:xfrm>
              <a:prstGeom prst="roundRect">
                <a:avLst>
                  <a:gd fmla="val 2222" name="adj"/>
                </a:avLst>
              </a:prstGeom>
              <a:solidFill>
                <a:srgbClr val="0F172A">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7" name="Google Shape;117;p12"/>
              <p:cNvPicPr preferRelativeResize="0"/>
              <p:nvPr/>
            </p:nvPicPr>
            <p:blipFill rotWithShape="1">
              <a:blip r:embed="rId7">
                <a:alphaModFix/>
              </a:blip>
              <a:srcRect b="13566" l="0" r="0" t="13574"/>
              <a:stretch/>
            </p:blipFill>
            <p:spPr>
              <a:xfrm>
                <a:off x="95250" y="-95175"/>
                <a:ext cx="4857900" cy="3238500"/>
              </a:xfrm>
              <a:prstGeom prst="rect">
                <a:avLst/>
              </a:prstGeom>
              <a:noFill/>
              <a:ln>
                <a:noFill/>
              </a:ln>
            </p:spPr>
          </p:pic>
          <p:sp>
            <p:nvSpPr>
              <p:cNvPr id="118" name="Google Shape;118;p12"/>
              <p:cNvSpPr txBox="1"/>
              <p:nvPr/>
            </p:nvSpPr>
            <p:spPr>
              <a:xfrm>
                <a:off x="95250" y="3244075"/>
                <a:ext cx="4857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a:solidFill>
                      <a:srgbClr val="94A3B8"/>
                    </a:solidFill>
                  </a:rPr>
                  <a:t>Tìm hiểu</a:t>
                </a:r>
                <a:r>
                  <a:rPr lang="en-US">
                    <a:solidFill>
                      <a:srgbClr val="94A3B8"/>
                    </a:solidFill>
                    <a:latin typeface="Arial"/>
                    <a:ea typeface="Arial"/>
                    <a:cs typeface="Arial"/>
                    <a:sym typeface="Arial"/>
                  </a:rPr>
                  <a:t> chi tiết và đề xuất giải pháp</a:t>
                </a:r>
                <a:endParaRPr>
                  <a:solidFill>
                    <a:srgbClr val="94A3B8"/>
                  </a:solidFill>
                  <a:latin typeface="Arial"/>
                  <a:ea typeface="Arial"/>
                  <a:cs typeface="Arial"/>
                  <a:sym typeface="Arial"/>
                </a:endParaRPr>
              </a:p>
            </p:txBody>
          </p:sp>
        </p:grpSp>
      </p:grpSp>
      <p:sp>
        <p:nvSpPr>
          <p:cNvPr id="119" name="Google Shape;119;p12"/>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sp>
        <p:nvSpPr>
          <p:cNvPr id="120" name="Google Shape;120;p12"/>
          <p:cNvSpPr txBox="1"/>
          <p:nvPr/>
        </p:nvSpPr>
        <p:spPr>
          <a:xfrm>
            <a:off x="571500" y="455875"/>
            <a:ext cx="11049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900">
                <a:solidFill>
                  <a:srgbClr val="FCA019"/>
                </a:solidFill>
                <a:latin typeface="Arial"/>
                <a:ea typeface="Arial"/>
                <a:cs typeface="Arial"/>
                <a:sym typeface="Arial"/>
              </a:rPr>
              <a:t>TƯ DUY PHẢN BIỆN &amp; GIAO TIẾP &amp; GIẢI QUYẾT VẤN ĐỀ</a:t>
            </a:r>
            <a:endParaRPr b="1" sz="3900">
              <a:solidFill>
                <a:srgbClr val="FCA019"/>
              </a:solidFill>
              <a:latin typeface="Arial"/>
              <a:ea typeface="Arial"/>
              <a:cs typeface="Arial"/>
              <a:sym typeface="Arial"/>
            </a:endParaRPr>
          </a:p>
        </p:txBody>
      </p:sp>
      <p:sp>
        <p:nvSpPr>
          <p:cNvPr id="121" name="Google Shape;121;p12"/>
          <p:cNvSpPr txBox="1"/>
          <p:nvPr/>
        </p:nvSpPr>
        <p:spPr>
          <a:xfrm>
            <a:off x="571500" y="1238238"/>
            <a:ext cx="11049000" cy="7620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lang="en-US" sz="1600">
                <a:solidFill>
                  <a:srgbClr val="CBD5E1"/>
                </a:solidFill>
                <a:latin typeface="Arial"/>
                <a:ea typeface="Arial"/>
                <a:cs typeface="Arial"/>
                <a:sym typeface="Arial"/>
              </a:rPr>
              <a:t>Khi làm báo cáo mình không chỉ đưa ra số liệu cho sếp mà còn tìm hiểu nguyên nhân biến động GMV của công ty, xác định những điểm chưa tốt để cải thiện.</a:t>
            </a:r>
            <a:endParaRPr sz="1600">
              <a:solidFill>
                <a:srgbClr val="CBD5E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sp>
        <p:nvSpPr>
          <p:cNvPr id="126" name="Google Shape;126;p13"/>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127" name="Google Shape;127;p13"/>
          <p:cNvPicPr preferRelativeResize="0"/>
          <p:nvPr/>
        </p:nvPicPr>
        <p:blipFill rotWithShape="1">
          <a:blip r:embed="rId4">
            <a:alphaModFix/>
          </a:blip>
          <a:srcRect b="249" l="0" r="0" t="239"/>
          <a:stretch/>
        </p:blipFill>
        <p:spPr>
          <a:xfrm>
            <a:off x="457200" y="6269069"/>
            <a:ext cx="1555800" cy="381000"/>
          </a:xfrm>
          <a:prstGeom prst="rect">
            <a:avLst/>
          </a:prstGeom>
          <a:noFill/>
          <a:ln>
            <a:noFill/>
          </a:ln>
        </p:spPr>
      </p:pic>
      <p:sp>
        <p:nvSpPr>
          <p:cNvPr id="128" name="Google Shape;128;p13"/>
          <p:cNvSpPr txBox="1"/>
          <p:nvPr/>
        </p:nvSpPr>
        <p:spPr>
          <a:xfrm>
            <a:off x="571500" y="476250"/>
            <a:ext cx="11049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600">
                <a:solidFill>
                  <a:srgbClr val="FCA019"/>
                </a:solidFill>
                <a:latin typeface="Arial"/>
                <a:ea typeface="Arial"/>
                <a:cs typeface="Arial"/>
                <a:sym typeface="Arial"/>
              </a:rPr>
              <a:t>KỂ CHUYỆN VỚI DỮ LIỆU</a:t>
            </a:r>
            <a:endParaRPr b="1" sz="3600">
              <a:solidFill>
                <a:srgbClr val="FCA019"/>
              </a:solidFill>
              <a:latin typeface="Arial"/>
              <a:ea typeface="Arial"/>
              <a:cs typeface="Arial"/>
              <a:sym typeface="Arial"/>
            </a:endParaRPr>
          </a:p>
        </p:txBody>
      </p:sp>
      <p:grpSp>
        <p:nvGrpSpPr>
          <p:cNvPr id="129" name="Google Shape;129;p13"/>
          <p:cNvGrpSpPr/>
          <p:nvPr/>
        </p:nvGrpSpPr>
        <p:grpSpPr>
          <a:xfrm>
            <a:off x="571500" y="1428750"/>
            <a:ext cx="4286400" cy="4000500"/>
            <a:chOff x="571500" y="1428750"/>
            <a:chExt cx="4286400" cy="4000500"/>
          </a:xfrm>
        </p:grpSpPr>
        <p:sp>
          <p:nvSpPr>
            <p:cNvPr id="130" name="Google Shape;130;p13"/>
            <p:cNvSpPr/>
            <p:nvPr/>
          </p:nvSpPr>
          <p:spPr>
            <a:xfrm>
              <a:off x="571500" y="1428750"/>
              <a:ext cx="4286400" cy="4000500"/>
            </a:xfrm>
            <a:prstGeom prst="roundRect">
              <a:avLst>
                <a:gd fmla="val 3571"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31" name="Google Shape;131;p13"/>
            <p:cNvPicPr preferRelativeResize="0"/>
            <p:nvPr/>
          </p:nvPicPr>
          <p:blipFill rotWithShape="1">
            <a:blip r:embed="rId5">
              <a:alphaModFix/>
            </a:blip>
            <a:srcRect b="0" l="1607" r="1607" t="0"/>
            <a:stretch/>
          </p:blipFill>
          <p:spPr>
            <a:xfrm>
              <a:off x="762000" y="1619250"/>
              <a:ext cx="3905400" cy="2286000"/>
            </a:xfrm>
            <a:prstGeom prst="roundRect">
              <a:avLst>
                <a:gd fmla="val 4166" name="adj"/>
              </a:avLst>
            </a:prstGeom>
            <a:noFill/>
            <a:ln>
              <a:noFill/>
            </a:ln>
          </p:spPr>
        </p:pic>
        <p:sp>
          <p:nvSpPr>
            <p:cNvPr id="132" name="Google Shape;132;p13"/>
            <p:cNvSpPr txBox="1"/>
            <p:nvPr/>
          </p:nvSpPr>
          <p:spPr>
            <a:xfrm>
              <a:off x="762000" y="4048125"/>
              <a:ext cx="3905400" cy="1238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FCA019"/>
                  </a:solidFill>
                  <a:latin typeface="Arial"/>
                  <a:ea typeface="Arial"/>
                  <a:cs typeface="Arial"/>
                  <a:sym typeface="Arial"/>
                </a:rPr>
                <a:t>Tổng quan các mục tiêu, các chỉ số mà các công ty đề ra</a:t>
              </a:r>
              <a:endParaRPr b="1" sz="1800">
                <a:solidFill>
                  <a:srgbClr val="FCA019"/>
                </a:solidFill>
                <a:latin typeface="Arial"/>
                <a:ea typeface="Arial"/>
                <a:cs typeface="Arial"/>
                <a:sym typeface="Arial"/>
              </a:endParaRPr>
            </a:p>
          </p:txBody>
        </p:sp>
      </p:grpSp>
      <p:grpSp>
        <p:nvGrpSpPr>
          <p:cNvPr id="133" name="Google Shape;133;p13"/>
          <p:cNvGrpSpPr/>
          <p:nvPr/>
        </p:nvGrpSpPr>
        <p:grpSpPr>
          <a:xfrm>
            <a:off x="5334000" y="1428750"/>
            <a:ext cx="6286500" cy="4000500"/>
            <a:chOff x="5334000" y="1428750"/>
            <a:chExt cx="6286500" cy="4000500"/>
          </a:xfrm>
        </p:grpSpPr>
        <p:grpSp>
          <p:nvGrpSpPr>
            <p:cNvPr id="134" name="Google Shape;134;p13"/>
            <p:cNvGrpSpPr/>
            <p:nvPr/>
          </p:nvGrpSpPr>
          <p:grpSpPr>
            <a:xfrm>
              <a:off x="5334000" y="1428750"/>
              <a:ext cx="6286500" cy="1143000"/>
              <a:chOff x="5334000" y="1428750"/>
              <a:chExt cx="6286500" cy="1143000"/>
            </a:xfrm>
          </p:grpSpPr>
          <p:sp>
            <p:nvSpPr>
              <p:cNvPr id="135" name="Google Shape;135;p13"/>
              <p:cNvSpPr/>
              <p:nvPr/>
            </p:nvSpPr>
            <p:spPr>
              <a:xfrm>
                <a:off x="5334000" y="1428750"/>
                <a:ext cx="6286500" cy="1143000"/>
              </a:xfrm>
              <a:prstGeom prst="roundRect">
                <a:avLst>
                  <a:gd fmla="val 10000"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36" name="Google Shape;136;p13"/>
              <p:cNvPicPr preferRelativeResize="0"/>
              <p:nvPr/>
            </p:nvPicPr>
            <p:blipFill rotWithShape="1">
              <a:blip r:embed="rId6">
                <a:alphaModFix/>
              </a:blip>
              <a:srcRect b="278" l="0" r="0" t="278"/>
              <a:stretch/>
            </p:blipFill>
            <p:spPr>
              <a:xfrm>
                <a:off x="5429250" y="1524000"/>
                <a:ext cx="1524000" cy="952500"/>
              </a:xfrm>
              <a:prstGeom prst="roundRect">
                <a:avLst>
                  <a:gd fmla="val 8000" name="adj"/>
                </a:avLst>
              </a:prstGeom>
              <a:noFill/>
              <a:ln>
                <a:noFill/>
              </a:ln>
            </p:spPr>
          </p:pic>
          <p:sp>
            <p:nvSpPr>
              <p:cNvPr id="137" name="Google Shape;137;p13"/>
              <p:cNvSpPr txBox="1"/>
              <p:nvPr/>
            </p:nvSpPr>
            <p:spPr>
              <a:xfrm>
                <a:off x="7096125" y="1524000"/>
                <a:ext cx="4381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FCA019"/>
                    </a:solidFill>
                    <a:latin typeface="Arial"/>
                    <a:ea typeface="Arial"/>
                    <a:cs typeface="Arial"/>
                    <a:sym typeface="Arial"/>
                  </a:rPr>
                  <a:t>Operation Performance</a:t>
                </a:r>
                <a:endParaRPr b="1" sz="1800">
                  <a:solidFill>
                    <a:srgbClr val="FCA019"/>
                  </a:solidFill>
                  <a:latin typeface="Arial"/>
                  <a:ea typeface="Arial"/>
                  <a:cs typeface="Arial"/>
                  <a:sym typeface="Arial"/>
                </a:endParaRPr>
              </a:p>
              <a:p>
                <a:pPr indent="0" lvl="0" marL="0" rtl="0" algn="l">
                  <a:spcBef>
                    <a:spcPts val="375"/>
                  </a:spcBef>
                  <a:spcAft>
                    <a:spcPts val="0"/>
                  </a:spcAft>
                  <a:buNone/>
                </a:pPr>
                <a:r>
                  <a:rPr lang="en-US" sz="1300">
                    <a:solidFill>
                      <a:srgbClr val="CBD5E1"/>
                    </a:solidFill>
                    <a:latin typeface="Arial"/>
                    <a:ea typeface="Arial"/>
                    <a:cs typeface="Arial"/>
                    <a:sym typeface="Arial"/>
                  </a:rPr>
                  <a:t>Phân tích chi tiết về chi phí: Fulfillment &amp; Last Mile Cost</a:t>
                </a:r>
                <a:endParaRPr sz="1300">
                  <a:solidFill>
                    <a:srgbClr val="CBD5E1"/>
                  </a:solidFill>
                  <a:latin typeface="Arial"/>
                  <a:ea typeface="Arial"/>
                  <a:cs typeface="Arial"/>
                  <a:sym typeface="Arial"/>
                </a:endParaRPr>
              </a:p>
            </p:txBody>
          </p:sp>
        </p:grpSp>
        <p:grpSp>
          <p:nvGrpSpPr>
            <p:cNvPr id="138" name="Google Shape;138;p13"/>
            <p:cNvGrpSpPr/>
            <p:nvPr/>
          </p:nvGrpSpPr>
          <p:grpSpPr>
            <a:xfrm>
              <a:off x="5334000" y="2857500"/>
              <a:ext cx="6286500" cy="1143000"/>
              <a:chOff x="5334000" y="2857500"/>
              <a:chExt cx="6286500" cy="1143000"/>
            </a:xfrm>
          </p:grpSpPr>
          <p:sp>
            <p:nvSpPr>
              <p:cNvPr id="139" name="Google Shape;139;p13"/>
              <p:cNvSpPr/>
              <p:nvPr/>
            </p:nvSpPr>
            <p:spPr>
              <a:xfrm>
                <a:off x="5334000" y="2857500"/>
                <a:ext cx="6286500" cy="1143000"/>
              </a:xfrm>
              <a:prstGeom prst="roundRect">
                <a:avLst>
                  <a:gd fmla="val 10000"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0" name="Google Shape;140;p13"/>
              <p:cNvPicPr preferRelativeResize="0"/>
              <p:nvPr/>
            </p:nvPicPr>
            <p:blipFill rotWithShape="1">
              <a:blip r:embed="rId7">
                <a:alphaModFix/>
              </a:blip>
              <a:srcRect b="298" l="0" r="0" t="288"/>
              <a:stretch/>
            </p:blipFill>
            <p:spPr>
              <a:xfrm>
                <a:off x="5429250" y="2952750"/>
                <a:ext cx="1524000" cy="952500"/>
              </a:xfrm>
              <a:prstGeom prst="roundRect">
                <a:avLst>
                  <a:gd fmla="val 8000" name="adj"/>
                </a:avLst>
              </a:prstGeom>
              <a:noFill/>
              <a:ln>
                <a:noFill/>
              </a:ln>
            </p:spPr>
          </p:pic>
          <p:sp>
            <p:nvSpPr>
              <p:cNvPr id="141" name="Google Shape;141;p13"/>
              <p:cNvSpPr txBox="1"/>
              <p:nvPr/>
            </p:nvSpPr>
            <p:spPr>
              <a:xfrm>
                <a:off x="7096125" y="2952750"/>
                <a:ext cx="4381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FCA019"/>
                    </a:solidFill>
                    <a:latin typeface="Arial"/>
                    <a:ea typeface="Arial"/>
                    <a:cs typeface="Arial"/>
                    <a:sym typeface="Arial"/>
                  </a:rPr>
                  <a:t>Backup Performance</a:t>
                </a:r>
                <a:endParaRPr b="1" sz="1800">
                  <a:solidFill>
                    <a:srgbClr val="FCA019"/>
                  </a:solidFill>
                  <a:latin typeface="Arial"/>
                  <a:ea typeface="Arial"/>
                  <a:cs typeface="Arial"/>
                  <a:sym typeface="Arial"/>
                </a:endParaRPr>
              </a:p>
              <a:p>
                <a:pPr indent="0" lvl="0" marL="0" rtl="0" algn="l">
                  <a:spcBef>
                    <a:spcPts val="375"/>
                  </a:spcBef>
                  <a:spcAft>
                    <a:spcPts val="0"/>
                  </a:spcAft>
                  <a:buNone/>
                </a:pPr>
                <a:r>
                  <a:rPr lang="en-US" sz="1300">
                    <a:solidFill>
                      <a:srgbClr val="CBD5E1"/>
                    </a:solidFill>
                    <a:latin typeface="Arial"/>
                    <a:ea typeface="Arial"/>
                    <a:cs typeface="Arial"/>
                    <a:sym typeface="Arial"/>
                  </a:rPr>
                  <a:t>Chi phí dự phòng rủi ro nhằm đảm bảo an toàn vận hành</a:t>
                </a:r>
                <a:endParaRPr sz="1300">
                  <a:solidFill>
                    <a:srgbClr val="CBD5E1"/>
                  </a:solidFill>
                  <a:latin typeface="Arial"/>
                  <a:ea typeface="Arial"/>
                  <a:cs typeface="Arial"/>
                  <a:sym typeface="Arial"/>
                </a:endParaRPr>
              </a:p>
            </p:txBody>
          </p:sp>
        </p:grpSp>
        <p:grpSp>
          <p:nvGrpSpPr>
            <p:cNvPr id="142" name="Google Shape;142;p13"/>
            <p:cNvGrpSpPr/>
            <p:nvPr/>
          </p:nvGrpSpPr>
          <p:grpSpPr>
            <a:xfrm>
              <a:off x="5334000" y="4286250"/>
              <a:ext cx="6286500" cy="1143000"/>
              <a:chOff x="5334000" y="4286250"/>
              <a:chExt cx="6286500" cy="1143000"/>
            </a:xfrm>
          </p:grpSpPr>
          <p:sp>
            <p:nvSpPr>
              <p:cNvPr id="143" name="Google Shape;143;p13"/>
              <p:cNvSpPr/>
              <p:nvPr/>
            </p:nvSpPr>
            <p:spPr>
              <a:xfrm>
                <a:off x="5334000" y="4286250"/>
                <a:ext cx="6286500" cy="1143000"/>
              </a:xfrm>
              <a:prstGeom prst="roundRect">
                <a:avLst>
                  <a:gd fmla="val 10000"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4" name="Google Shape;144;p13"/>
              <p:cNvPicPr preferRelativeResize="0"/>
              <p:nvPr/>
            </p:nvPicPr>
            <p:blipFill rotWithShape="1">
              <a:blip r:embed="rId8">
                <a:alphaModFix/>
              </a:blip>
              <a:srcRect b="110" l="0" r="0" t="110"/>
              <a:stretch/>
            </p:blipFill>
            <p:spPr>
              <a:xfrm>
                <a:off x="5429250" y="4381500"/>
                <a:ext cx="1524000" cy="952500"/>
              </a:xfrm>
              <a:prstGeom prst="roundRect">
                <a:avLst>
                  <a:gd fmla="val 8000" name="adj"/>
                </a:avLst>
              </a:prstGeom>
              <a:noFill/>
              <a:ln>
                <a:noFill/>
              </a:ln>
            </p:spPr>
          </p:pic>
          <p:sp>
            <p:nvSpPr>
              <p:cNvPr id="145" name="Google Shape;145;p13"/>
              <p:cNvSpPr txBox="1"/>
              <p:nvPr/>
            </p:nvSpPr>
            <p:spPr>
              <a:xfrm>
                <a:off x="7096125" y="4381500"/>
                <a:ext cx="4381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FCA019"/>
                    </a:solidFill>
                    <a:latin typeface="Arial"/>
                    <a:ea typeface="Arial"/>
                    <a:cs typeface="Arial"/>
                    <a:sym typeface="Arial"/>
                  </a:rPr>
                  <a:t>Fill Rate Performance</a:t>
                </a:r>
                <a:endParaRPr b="1" sz="1800">
                  <a:solidFill>
                    <a:srgbClr val="FCA019"/>
                  </a:solidFill>
                  <a:latin typeface="Arial"/>
                  <a:ea typeface="Arial"/>
                  <a:cs typeface="Arial"/>
                  <a:sym typeface="Arial"/>
                </a:endParaRPr>
              </a:p>
              <a:p>
                <a:pPr indent="0" lvl="0" marL="0" rtl="0" algn="l">
                  <a:spcBef>
                    <a:spcPts val="375"/>
                  </a:spcBef>
                  <a:spcAft>
                    <a:spcPts val="0"/>
                  </a:spcAft>
                  <a:buNone/>
                </a:pPr>
                <a:r>
                  <a:rPr lang="en-US" sz="1300">
                    <a:solidFill>
                      <a:srgbClr val="CBD5E1"/>
                    </a:solidFill>
                    <a:latin typeface="Arial"/>
                    <a:ea typeface="Arial"/>
                    <a:cs typeface="Arial"/>
                    <a:sym typeface="Arial"/>
                  </a:rPr>
                  <a:t>Tỷ lệ đơn hàng đạt 85% đủ hàng cung ứng cho khách</a:t>
                </a:r>
                <a:endParaRPr sz="1300">
                  <a:solidFill>
                    <a:srgbClr val="CBD5E1"/>
                  </a:solidFill>
                  <a:latin typeface="Arial"/>
                  <a:ea typeface="Arial"/>
                  <a:cs typeface="Arial"/>
                  <a:sym typeface="Arial"/>
                </a:endParaRPr>
              </a:p>
            </p:txBody>
          </p:sp>
        </p:grpSp>
      </p:grpSp>
      <p:cxnSp>
        <p:nvCxnSpPr>
          <p:cNvPr id="146" name="Google Shape;146;p13"/>
          <p:cNvCxnSpPr>
            <a:stCxn id="130" idx="3"/>
            <a:endCxn id="136" idx="1"/>
          </p:cNvCxnSpPr>
          <p:nvPr/>
        </p:nvCxnSpPr>
        <p:spPr>
          <a:xfrm flipH="1" rot="10800000">
            <a:off x="4857900" y="2000400"/>
            <a:ext cx="571500" cy="1428600"/>
          </a:xfrm>
          <a:prstGeom prst="straightConnector1">
            <a:avLst/>
          </a:prstGeom>
          <a:noFill/>
          <a:ln cap="flat" cmpd="sng" w="19050">
            <a:solidFill>
              <a:schemeClr val="accent2"/>
            </a:solidFill>
            <a:prstDash val="solid"/>
            <a:round/>
            <a:headEnd len="med" w="med" type="none"/>
            <a:tailEnd len="med" w="med" type="triangle"/>
          </a:ln>
        </p:spPr>
      </p:cxnSp>
      <p:cxnSp>
        <p:nvCxnSpPr>
          <p:cNvPr id="147" name="Google Shape;147;p13"/>
          <p:cNvCxnSpPr>
            <a:stCxn id="130" idx="3"/>
            <a:endCxn id="140" idx="1"/>
          </p:cNvCxnSpPr>
          <p:nvPr/>
        </p:nvCxnSpPr>
        <p:spPr>
          <a:xfrm>
            <a:off x="4857900" y="3429000"/>
            <a:ext cx="571500" cy="0"/>
          </a:xfrm>
          <a:prstGeom prst="straightConnector1">
            <a:avLst/>
          </a:prstGeom>
          <a:noFill/>
          <a:ln cap="flat" cmpd="sng" w="19050">
            <a:solidFill>
              <a:schemeClr val="accent2"/>
            </a:solidFill>
            <a:prstDash val="solid"/>
            <a:round/>
            <a:headEnd len="med" w="med" type="none"/>
            <a:tailEnd len="med" w="med" type="triangle"/>
          </a:ln>
        </p:spPr>
      </p:cxnSp>
      <p:cxnSp>
        <p:nvCxnSpPr>
          <p:cNvPr id="148" name="Google Shape;148;p13"/>
          <p:cNvCxnSpPr>
            <a:stCxn id="130" idx="3"/>
            <a:endCxn id="143" idx="1"/>
          </p:cNvCxnSpPr>
          <p:nvPr/>
        </p:nvCxnSpPr>
        <p:spPr>
          <a:xfrm>
            <a:off x="4857900" y="3429000"/>
            <a:ext cx="476100" cy="1428900"/>
          </a:xfrm>
          <a:prstGeom prst="straightConnector1">
            <a:avLst/>
          </a:prstGeom>
          <a:noFill/>
          <a:ln cap="flat" cmpd="sng" w="19050">
            <a:solidFill>
              <a:schemeClr val="accent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pic>
        <p:nvPicPr>
          <p:cNvPr id="153" name="Google Shape;153;p14"/>
          <p:cNvPicPr preferRelativeResize="0"/>
          <p:nvPr/>
        </p:nvPicPr>
        <p:blipFill rotWithShape="1">
          <a:blip r:embed="rId4">
            <a:alphaModFix/>
          </a:blip>
          <a:srcRect b="0" l="0" r="0" t="0"/>
          <a:stretch/>
        </p:blipFill>
        <p:spPr>
          <a:xfrm>
            <a:off x="1884426" y="-10287"/>
            <a:ext cx="12233100" cy="6878700"/>
          </a:xfrm>
          <a:prstGeom prst="rect">
            <a:avLst/>
          </a:prstGeom>
          <a:noFill/>
          <a:ln>
            <a:noFill/>
          </a:ln>
        </p:spPr>
      </p:pic>
      <p:sp>
        <p:nvSpPr>
          <p:cNvPr id="154" name="Google Shape;154;p14"/>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155" name="Google Shape;155;p14"/>
          <p:cNvPicPr preferRelativeResize="0"/>
          <p:nvPr/>
        </p:nvPicPr>
        <p:blipFill rotWithShape="1">
          <a:blip r:embed="rId5">
            <a:alphaModFix/>
          </a:blip>
          <a:srcRect b="249" l="0" r="0" t="239"/>
          <a:stretch/>
        </p:blipFill>
        <p:spPr>
          <a:xfrm>
            <a:off x="457200" y="6269069"/>
            <a:ext cx="1555800" cy="381000"/>
          </a:xfrm>
          <a:prstGeom prst="rect">
            <a:avLst/>
          </a:prstGeom>
          <a:noFill/>
          <a:ln>
            <a:noFill/>
          </a:ln>
        </p:spPr>
      </p:pic>
      <p:grpSp>
        <p:nvGrpSpPr>
          <p:cNvPr id="156" name="Google Shape;156;p14"/>
          <p:cNvGrpSpPr/>
          <p:nvPr/>
        </p:nvGrpSpPr>
        <p:grpSpPr>
          <a:xfrm>
            <a:off x="571500" y="381000"/>
            <a:ext cx="11049000" cy="1428750"/>
            <a:chOff x="0" y="0"/>
            <a:chExt cx="11049000" cy="1428750"/>
          </a:xfrm>
        </p:grpSpPr>
        <p:sp>
          <p:nvSpPr>
            <p:cNvPr id="157" name="Google Shape;157;p14"/>
            <p:cNvSpPr txBox="1"/>
            <p:nvPr/>
          </p:nvSpPr>
          <p:spPr>
            <a:xfrm>
              <a:off x="0" y="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4400">
                  <a:solidFill>
                    <a:srgbClr val="FCA019"/>
                  </a:solidFill>
                  <a:latin typeface="Arial"/>
                  <a:ea typeface="Arial"/>
                  <a:cs typeface="Arial"/>
                  <a:sym typeface="Arial"/>
                </a:rPr>
                <a:t>TƯ DUY PHÁT TRIỂN NGHỀ NGHIỆP</a:t>
              </a:r>
              <a:endParaRPr b="1" sz="4400">
                <a:solidFill>
                  <a:srgbClr val="FCA019"/>
                </a:solidFill>
                <a:latin typeface="Arial"/>
                <a:ea typeface="Arial"/>
                <a:cs typeface="Arial"/>
                <a:sym typeface="Arial"/>
              </a:endParaRPr>
            </a:p>
          </p:txBody>
        </p:sp>
        <p:sp>
          <p:nvSpPr>
            <p:cNvPr id="158" name="Google Shape;158;p14"/>
            <p:cNvSpPr txBox="1"/>
            <p:nvPr/>
          </p:nvSpPr>
          <p:spPr>
            <a:xfrm>
              <a:off x="51300" y="666750"/>
              <a:ext cx="10946400" cy="7620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None/>
              </a:pPr>
              <a:r>
                <a:rPr b="0" lang="en-US" sz="1500">
                  <a:solidFill>
                    <a:srgbClr val="CBD5E1"/>
                  </a:solidFill>
                  <a:latin typeface="Arial"/>
                  <a:ea typeface="Arial"/>
                  <a:cs typeface="Arial"/>
                  <a:sym typeface="Arial"/>
                </a:rPr>
                <a:t>Đây là mô hình phát triển cá nhân mà mình thường sử dụng để định hướng sự nghiệp của bản thân. Mình không quá đặt nặng việc phải đạt được một chức danh cụ thể, mà tập trung vào việc nâng cao năn</a:t>
              </a:r>
              <a:r>
                <a:rPr lang="en-US" sz="1500">
                  <a:solidFill>
                    <a:srgbClr val="CBD5E1"/>
                  </a:solidFill>
                </a:rPr>
                <a:t>g </a:t>
              </a:r>
              <a:r>
                <a:rPr b="0" lang="en-US" sz="1500">
                  <a:solidFill>
                    <a:srgbClr val="CBD5E1"/>
                  </a:solidFill>
                  <a:latin typeface="Arial"/>
                  <a:ea typeface="Arial"/>
                  <a:cs typeface="Arial"/>
                  <a:sym typeface="Arial"/>
                </a:rPr>
                <a:t>lực qua từng giai đoạn.</a:t>
              </a:r>
              <a:endParaRPr b="0" sz="1500">
                <a:solidFill>
                  <a:srgbClr val="CBD5E1"/>
                </a:solidFill>
                <a:latin typeface="Arial"/>
                <a:ea typeface="Arial"/>
                <a:cs typeface="Arial"/>
                <a:sym typeface="Arial"/>
              </a:endParaRPr>
            </a:p>
          </p:txBody>
        </p:sp>
      </p:grpSp>
      <p:grpSp>
        <p:nvGrpSpPr>
          <p:cNvPr id="159" name="Google Shape;159;p14"/>
          <p:cNvGrpSpPr/>
          <p:nvPr/>
        </p:nvGrpSpPr>
        <p:grpSpPr>
          <a:xfrm>
            <a:off x="571500" y="1714500"/>
            <a:ext cx="3429000" cy="4000500"/>
            <a:chOff x="0" y="0"/>
            <a:chExt cx="3429000" cy="4000500"/>
          </a:xfrm>
        </p:grpSpPr>
        <p:sp>
          <p:nvSpPr>
            <p:cNvPr id="160" name="Google Shape;160;p14"/>
            <p:cNvSpPr/>
            <p:nvPr/>
          </p:nvSpPr>
          <p:spPr>
            <a:xfrm>
              <a:off x="0" y="0"/>
              <a:ext cx="3429000" cy="4000500"/>
            </a:xfrm>
            <a:prstGeom prst="roundRect">
              <a:avLst>
                <a:gd fmla="val 3333"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1" name="Google Shape;161;p14"/>
            <p:cNvPicPr preferRelativeResize="0"/>
            <p:nvPr/>
          </p:nvPicPr>
          <p:blipFill rotWithShape="1">
            <a:blip r:embed="rId6">
              <a:alphaModFix/>
            </a:blip>
            <a:srcRect b="0" l="0" r="0" t="0"/>
            <a:stretch/>
          </p:blipFill>
          <p:spPr>
            <a:xfrm>
              <a:off x="1428750" y="285750"/>
              <a:ext cx="571500" cy="571500"/>
            </a:xfrm>
            <a:prstGeom prst="rect">
              <a:avLst/>
            </a:prstGeom>
            <a:noFill/>
            <a:ln>
              <a:noFill/>
            </a:ln>
          </p:spPr>
        </p:pic>
        <p:sp>
          <p:nvSpPr>
            <p:cNvPr id="162" name="Google Shape;162;p14"/>
            <p:cNvSpPr txBox="1"/>
            <p:nvPr/>
          </p:nvSpPr>
          <p:spPr>
            <a:xfrm>
              <a:off x="190500" y="1047750"/>
              <a:ext cx="3048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FCA019"/>
                  </a:solidFill>
                  <a:latin typeface="Outfit SemiBold"/>
                  <a:ea typeface="Outfit SemiBold"/>
                  <a:cs typeface="Outfit SemiBold"/>
                  <a:sym typeface="Outfit SemiBold"/>
                </a:rPr>
                <a:t>Follower</a:t>
              </a:r>
              <a:endParaRPr b="0" sz="1800">
                <a:solidFill>
                  <a:srgbClr val="FCA019"/>
                </a:solidFill>
                <a:latin typeface="Outfit SemiBold"/>
                <a:ea typeface="Outfit SemiBold"/>
                <a:cs typeface="Outfit SemiBold"/>
                <a:sym typeface="Outfit SemiBold"/>
              </a:endParaRPr>
            </a:p>
          </p:txBody>
        </p:sp>
        <p:sp>
          <p:nvSpPr>
            <p:cNvPr id="163" name="Google Shape;163;p14"/>
            <p:cNvSpPr txBox="1"/>
            <p:nvPr/>
          </p:nvSpPr>
          <p:spPr>
            <a:xfrm>
              <a:off x="190500" y="1428750"/>
              <a:ext cx="3048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CBD5E1"/>
                  </a:solidFill>
                </a:rPr>
                <a:t>(Người thực thi)</a:t>
              </a:r>
              <a:endParaRPr b="1" sz="1800">
                <a:solidFill>
                  <a:srgbClr val="CBD5E1"/>
                </a:solidFill>
              </a:endParaRPr>
            </a:p>
          </p:txBody>
        </p:sp>
        <p:sp>
          <p:nvSpPr>
            <p:cNvPr id="164" name="Google Shape;164;p14"/>
            <p:cNvSpPr txBox="1"/>
            <p:nvPr/>
          </p:nvSpPr>
          <p:spPr>
            <a:xfrm>
              <a:off x="285750" y="1905000"/>
              <a:ext cx="2857500" cy="1809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lang="en-US" sz="1450">
                  <a:solidFill>
                    <a:srgbClr val="CBD5E1"/>
                  </a:solidFill>
                </a:rPr>
                <a:t>Giai đoạn mới bắt đầu (Thực tập sinh/Junior mới). Bạn được hướng dẫn chi tiết từng bước bởi các anh chị đi trước, chủ yếu làm quen với môi trường và tích lũy kỹ năng nền tảng cơ bản.</a:t>
              </a:r>
              <a:endParaRPr sz="1450">
                <a:solidFill>
                  <a:srgbClr val="CBD5E1"/>
                </a:solidFill>
              </a:endParaRPr>
            </a:p>
          </p:txBody>
        </p:sp>
      </p:grpSp>
      <p:grpSp>
        <p:nvGrpSpPr>
          <p:cNvPr id="165" name="Google Shape;165;p14"/>
          <p:cNvGrpSpPr/>
          <p:nvPr/>
        </p:nvGrpSpPr>
        <p:grpSpPr>
          <a:xfrm>
            <a:off x="4381500" y="1714500"/>
            <a:ext cx="3429000" cy="4000500"/>
            <a:chOff x="0" y="0"/>
            <a:chExt cx="3429000" cy="4000500"/>
          </a:xfrm>
        </p:grpSpPr>
        <p:sp>
          <p:nvSpPr>
            <p:cNvPr id="166" name="Google Shape;166;p14"/>
            <p:cNvSpPr/>
            <p:nvPr/>
          </p:nvSpPr>
          <p:spPr>
            <a:xfrm>
              <a:off x="0" y="0"/>
              <a:ext cx="3429000" cy="4000500"/>
            </a:xfrm>
            <a:prstGeom prst="roundRect">
              <a:avLst>
                <a:gd fmla="val 3333"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67" name="Google Shape;167;p14"/>
            <p:cNvPicPr preferRelativeResize="0"/>
            <p:nvPr/>
          </p:nvPicPr>
          <p:blipFill rotWithShape="1">
            <a:blip r:embed="rId7">
              <a:alphaModFix/>
            </a:blip>
            <a:srcRect b="0" l="0" r="0" t="0"/>
            <a:stretch/>
          </p:blipFill>
          <p:spPr>
            <a:xfrm>
              <a:off x="1428750" y="285750"/>
              <a:ext cx="571500" cy="571500"/>
            </a:xfrm>
            <a:prstGeom prst="rect">
              <a:avLst/>
            </a:prstGeom>
            <a:noFill/>
            <a:ln>
              <a:noFill/>
            </a:ln>
          </p:spPr>
        </p:pic>
        <p:sp>
          <p:nvSpPr>
            <p:cNvPr id="168" name="Google Shape;168;p14"/>
            <p:cNvSpPr txBox="1"/>
            <p:nvPr/>
          </p:nvSpPr>
          <p:spPr>
            <a:xfrm>
              <a:off x="190500" y="1047750"/>
              <a:ext cx="3048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FCA019"/>
                  </a:solidFill>
                  <a:latin typeface="Outfit SemiBold"/>
                  <a:ea typeface="Outfit SemiBold"/>
                  <a:cs typeface="Outfit SemiBold"/>
                  <a:sym typeface="Outfit SemiBold"/>
                </a:rPr>
                <a:t>Learner</a:t>
              </a:r>
              <a:endParaRPr b="0" sz="1800">
                <a:solidFill>
                  <a:srgbClr val="FCA019"/>
                </a:solidFill>
                <a:latin typeface="Outfit SemiBold"/>
                <a:ea typeface="Outfit SemiBold"/>
                <a:cs typeface="Outfit SemiBold"/>
                <a:sym typeface="Outfit SemiBold"/>
              </a:endParaRPr>
            </a:p>
          </p:txBody>
        </p:sp>
        <p:sp>
          <p:nvSpPr>
            <p:cNvPr id="169" name="Google Shape;169;p14"/>
            <p:cNvSpPr txBox="1"/>
            <p:nvPr/>
          </p:nvSpPr>
          <p:spPr>
            <a:xfrm>
              <a:off x="190500" y="1428750"/>
              <a:ext cx="3048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CBD5E1"/>
                  </a:solidFill>
                </a:rPr>
                <a:t>(Người học chủ động)</a:t>
              </a:r>
              <a:endParaRPr b="1" sz="1800">
                <a:solidFill>
                  <a:srgbClr val="CBD5E1"/>
                </a:solidFill>
              </a:endParaRPr>
            </a:p>
          </p:txBody>
        </p:sp>
        <p:sp>
          <p:nvSpPr>
            <p:cNvPr id="170" name="Google Shape;170;p14"/>
            <p:cNvSpPr txBox="1"/>
            <p:nvPr/>
          </p:nvSpPr>
          <p:spPr>
            <a:xfrm>
              <a:off x="285750" y="1905000"/>
              <a:ext cx="2857500" cy="1809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lang="en-US" sz="1450">
                  <a:solidFill>
                    <a:srgbClr val="CBD5E1"/>
                  </a:solidFill>
                </a:rPr>
                <a:t>Bạn bắt đầu thấu hiểu các phương án giải quyết bài toán nhưng vẫn cần định hướng của mentor. Giai đoạn này đòi hỏi bạn học nhanh, liên tục hỏi những câu hỏi có chiều sâu để tích lũy thực chiến.</a:t>
              </a:r>
              <a:endParaRPr sz="1450">
                <a:solidFill>
                  <a:srgbClr val="CBD5E1"/>
                </a:solidFill>
              </a:endParaRPr>
            </a:p>
          </p:txBody>
        </p:sp>
      </p:grpSp>
      <p:grpSp>
        <p:nvGrpSpPr>
          <p:cNvPr id="171" name="Google Shape;171;p14"/>
          <p:cNvGrpSpPr/>
          <p:nvPr/>
        </p:nvGrpSpPr>
        <p:grpSpPr>
          <a:xfrm>
            <a:off x="8191500" y="1714500"/>
            <a:ext cx="3429000" cy="4000500"/>
            <a:chOff x="0" y="0"/>
            <a:chExt cx="3429000" cy="4000500"/>
          </a:xfrm>
        </p:grpSpPr>
        <p:sp>
          <p:nvSpPr>
            <p:cNvPr id="172" name="Google Shape;172;p14"/>
            <p:cNvSpPr/>
            <p:nvPr/>
          </p:nvSpPr>
          <p:spPr>
            <a:xfrm>
              <a:off x="0" y="0"/>
              <a:ext cx="3429000" cy="4000500"/>
            </a:xfrm>
            <a:prstGeom prst="roundRect">
              <a:avLst>
                <a:gd fmla="val 3333"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73" name="Google Shape;173;p14"/>
            <p:cNvPicPr preferRelativeResize="0"/>
            <p:nvPr/>
          </p:nvPicPr>
          <p:blipFill rotWithShape="1">
            <a:blip r:embed="rId8">
              <a:alphaModFix/>
            </a:blip>
            <a:srcRect b="0" l="0" r="0" t="0"/>
            <a:stretch/>
          </p:blipFill>
          <p:spPr>
            <a:xfrm>
              <a:off x="1428750" y="285750"/>
              <a:ext cx="571500" cy="571500"/>
            </a:xfrm>
            <a:prstGeom prst="rect">
              <a:avLst/>
            </a:prstGeom>
            <a:noFill/>
            <a:ln>
              <a:noFill/>
            </a:ln>
          </p:spPr>
        </p:pic>
        <p:sp>
          <p:nvSpPr>
            <p:cNvPr id="174" name="Google Shape;174;p14"/>
            <p:cNvSpPr txBox="1"/>
            <p:nvPr/>
          </p:nvSpPr>
          <p:spPr>
            <a:xfrm>
              <a:off x="190500" y="1047750"/>
              <a:ext cx="3048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FCA019"/>
                  </a:solidFill>
                  <a:latin typeface="Outfit SemiBold"/>
                  <a:ea typeface="Outfit SemiBold"/>
                  <a:cs typeface="Outfit SemiBold"/>
                  <a:sym typeface="Outfit SemiBold"/>
                </a:rPr>
                <a:t>Problem Solver</a:t>
              </a:r>
              <a:endParaRPr b="0" sz="1800">
                <a:solidFill>
                  <a:srgbClr val="FCA019"/>
                </a:solidFill>
                <a:latin typeface="Outfit SemiBold"/>
                <a:ea typeface="Outfit SemiBold"/>
                <a:cs typeface="Outfit SemiBold"/>
                <a:sym typeface="Outfit SemiBold"/>
              </a:endParaRPr>
            </a:p>
          </p:txBody>
        </p:sp>
        <p:sp>
          <p:nvSpPr>
            <p:cNvPr id="175" name="Google Shape;175;p14"/>
            <p:cNvSpPr txBox="1"/>
            <p:nvPr/>
          </p:nvSpPr>
          <p:spPr>
            <a:xfrm>
              <a:off x="190500" y="1428750"/>
              <a:ext cx="3048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CBD5E1"/>
                  </a:solidFill>
                </a:rPr>
                <a:t>(Người giải quyết vấn đề)</a:t>
              </a:r>
              <a:endParaRPr b="1" sz="1800">
                <a:solidFill>
                  <a:srgbClr val="CBD5E1"/>
                </a:solidFill>
              </a:endParaRPr>
            </a:p>
          </p:txBody>
        </p:sp>
        <p:sp>
          <p:nvSpPr>
            <p:cNvPr id="176" name="Google Shape;176;p14"/>
            <p:cNvSpPr txBox="1"/>
            <p:nvPr/>
          </p:nvSpPr>
          <p:spPr>
            <a:xfrm>
              <a:off x="285750" y="1905000"/>
              <a:ext cx="2857500" cy="1809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lang="en-US" sz="1450">
                  <a:solidFill>
                    <a:srgbClr val="CBD5E1"/>
                  </a:solidFill>
                </a:rPr>
                <a:t>Cột mốc quan trọng. Bạn không chỉ làm việc theo checklist yêu cầu nữa. Khi đối mặt với một bài kinh doanh khó, bạn chủ động phân tích </a:t>
              </a:r>
              <a:r>
                <a:rPr lang="en-US" sz="1450">
                  <a:solidFill>
                    <a:srgbClr val="CBD5E1"/>
                  </a:solidFill>
                </a:rPr>
                <a:t>toán</a:t>
              </a:r>
              <a:r>
                <a:rPr lang="en-US" sz="1450">
                  <a:solidFill>
                    <a:srgbClr val="CBD5E1"/>
                  </a:solidFill>
                </a:rPr>
                <a:t> sâu, đề xuất giải pháp tối ưu và cam kết chất lượng đầu ra.</a:t>
              </a:r>
              <a:endParaRPr sz="1450">
                <a:solidFill>
                  <a:srgbClr val="CBD5E1"/>
                </a:solidFi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0" name="Shape 180"/>
        <p:cNvGrpSpPr/>
        <p:nvPr/>
      </p:nvGrpSpPr>
      <p:grpSpPr>
        <a:xfrm>
          <a:off x="0" y="0"/>
          <a:ext cx="0" cy="0"/>
          <a:chOff x="0" y="0"/>
          <a:chExt cx="0" cy="0"/>
        </a:xfrm>
      </p:grpSpPr>
      <p:sp>
        <p:nvSpPr>
          <p:cNvPr id="181" name="Google Shape;181;p15"/>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182" name="Google Shape;182;p15"/>
          <p:cNvPicPr preferRelativeResize="0"/>
          <p:nvPr/>
        </p:nvPicPr>
        <p:blipFill rotWithShape="1">
          <a:blip r:embed="rId4">
            <a:alphaModFix/>
          </a:blip>
          <a:srcRect b="249" l="0" r="0" t="239"/>
          <a:stretch/>
        </p:blipFill>
        <p:spPr>
          <a:xfrm>
            <a:off x="457200" y="6269069"/>
            <a:ext cx="1555800" cy="381000"/>
          </a:xfrm>
          <a:prstGeom prst="rect">
            <a:avLst/>
          </a:prstGeom>
          <a:noFill/>
          <a:ln>
            <a:noFill/>
          </a:ln>
        </p:spPr>
      </p:pic>
      <p:grpSp>
        <p:nvGrpSpPr>
          <p:cNvPr id="183" name="Google Shape;183;p15"/>
          <p:cNvGrpSpPr/>
          <p:nvPr/>
        </p:nvGrpSpPr>
        <p:grpSpPr>
          <a:xfrm>
            <a:off x="571500" y="381000"/>
            <a:ext cx="11049000" cy="1428750"/>
            <a:chOff x="0" y="0"/>
            <a:chExt cx="11049000" cy="1428750"/>
          </a:xfrm>
        </p:grpSpPr>
        <p:sp>
          <p:nvSpPr>
            <p:cNvPr id="184" name="Google Shape;184;p15"/>
            <p:cNvSpPr txBox="1"/>
            <p:nvPr/>
          </p:nvSpPr>
          <p:spPr>
            <a:xfrm>
              <a:off x="0" y="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4200">
                  <a:solidFill>
                    <a:srgbClr val="FCA019"/>
                  </a:solidFill>
                  <a:latin typeface="Arial"/>
                  <a:ea typeface="Arial"/>
                  <a:cs typeface="Arial"/>
                  <a:sym typeface="Arial"/>
                </a:rPr>
                <a:t>TƯ DUY PHÁT TRIỂN NGHỀ NGHIỆP</a:t>
              </a:r>
              <a:endParaRPr b="1" sz="4200">
                <a:solidFill>
                  <a:srgbClr val="FCA019"/>
                </a:solidFill>
                <a:latin typeface="Arial"/>
                <a:ea typeface="Arial"/>
                <a:cs typeface="Arial"/>
                <a:sym typeface="Arial"/>
              </a:endParaRPr>
            </a:p>
          </p:txBody>
        </p:sp>
        <p:sp>
          <p:nvSpPr>
            <p:cNvPr id="185" name="Google Shape;185;p15"/>
            <p:cNvSpPr txBox="1"/>
            <p:nvPr/>
          </p:nvSpPr>
          <p:spPr>
            <a:xfrm>
              <a:off x="0" y="666750"/>
              <a:ext cx="11049000" cy="7620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None/>
              </a:pPr>
              <a:r>
                <a:rPr lang="en-US" sz="1500">
                  <a:solidFill>
                    <a:srgbClr val="CBD5E1"/>
                  </a:solidFill>
                </a:rPr>
                <a:t>Đây là mô hình phát triển cá nhân mà mình thường sử dụng để định hướng sự nghiệp của bản thân. Mình không quá đặt nặng việc phải đạt được một chức danh cụ thể, mà tập trung vào việc nâng cao năng lực qua từng giai đoạn. </a:t>
              </a:r>
              <a:endParaRPr b="0" sz="1500">
                <a:solidFill>
                  <a:srgbClr val="CBD5E1"/>
                </a:solidFill>
                <a:latin typeface="Arial"/>
                <a:ea typeface="Arial"/>
                <a:cs typeface="Arial"/>
                <a:sym typeface="Arial"/>
              </a:endParaRPr>
            </a:p>
          </p:txBody>
        </p:sp>
      </p:grpSp>
      <p:pic>
        <p:nvPicPr>
          <p:cNvPr id="186" name="Google Shape;186;p15"/>
          <p:cNvPicPr preferRelativeResize="0"/>
          <p:nvPr/>
        </p:nvPicPr>
        <p:blipFill>
          <a:blip r:embed="rId5">
            <a:alphaModFix/>
          </a:blip>
          <a:stretch>
            <a:fillRect/>
          </a:stretch>
        </p:blipFill>
        <p:spPr>
          <a:xfrm>
            <a:off x="7402606" y="1886250"/>
            <a:ext cx="3751318" cy="3923699"/>
          </a:xfrm>
          <a:prstGeom prst="rect">
            <a:avLst/>
          </a:prstGeom>
          <a:noFill/>
          <a:ln cap="flat" cmpd="sng" w="9525">
            <a:solidFill>
              <a:srgbClr val="0068FF"/>
            </a:solidFill>
            <a:prstDash val="solid"/>
            <a:round/>
            <a:headEnd len="sm" w="sm" type="none"/>
            <a:tailEnd len="sm" w="sm" type="none"/>
          </a:ln>
          <a:effectLst>
            <a:outerShdw blurRad="57150" rotWithShape="0" algn="bl" dir="5400000" dist="19050">
              <a:srgbClr val="000000">
                <a:alpha val="50000"/>
              </a:srgbClr>
            </a:outerShdw>
          </a:effectLst>
        </p:spPr>
      </p:pic>
      <p:grpSp>
        <p:nvGrpSpPr>
          <p:cNvPr id="187" name="Google Shape;187;p15"/>
          <p:cNvGrpSpPr/>
          <p:nvPr/>
        </p:nvGrpSpPr>
        <p:grpSpPr>
          <a:xfrm>
            <a:off x="571500" y="1886242"/>
            <a:ext cx="6529200" cy="1825607"/>
            <a:chOff x="0" y="156775"/>
            <a:chExt cx="6529200" cy="1899300"/>
          </a:xfrm>
        </p:grpSpPr>
        <p:sp>
          <p:nvSpPr>
            <p:cNvPr id="188" name="Google Shape;188;p15"/>
            <p:cNvSpPr/>
            <p:nvPr/>
          </p:nvSpPr>
          <p:spPr>
            <a:xfrm>
              <a:off x="0" y="156775"/>
              <a:ext cx="6529200" cy="1899300"/>
            </a:xfrm>
            <a:prstGeom prst="roundRect">
              <a:avLst>
                <a:gd fmla="val 3333"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5"/>
            <p:cNvSpPr txBox="1"/>
            <p:nvPr/>
          </p:nvSpPr>
          <p:spPr>
            <a:xfrm>
              <a:off x="960700" y="277625"/>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800">
                  <a:solidFill>
                    <a:srgbClr val="FCA019"/>
                  </a:solidFill>
                  <a:latin typeface="Outfit SemiBold"/>
                  <a:ea typeface="Outfit SemiBold"/>
                  <a:cs typeface="Outfit SemiBold"/>
                  <a:sym typeface="Outfit SemiBold"/>
                </a:rPr>
                <a:t>System Thinker</a:t>
              </a:r>
              <a:endParaRPr b="0" sz="1800">
                <a:solidFill>
                  <a:srgbClr val="FCA019"/>
                </a:solidFill>
                <a:latin typeface="Outfit SemiBold"/>
                <a:ea typeface="Outfit SemiBold"/>
                <a:cs typeface="Outfit SemiBold"/>
                <a:sym typeface="Outfit SemiBold"/>
              </a:endParaRPr>
            </a:p>
          </p:txBody>
        </p:sp>
        <p:sp>
          <p:nvSpPr>
            <p:cNvPr id="190" name="Google Shape;190;p15"/>
            <p:cNvSpPr txBox="1"/>
            <p:nvPr/>
          </p:nvSpPr>
          <p:spPr>
            <a:xfrm>
              <a:off x="960700" y="525435"/>
              <a:ext cx="3048000" cy="75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CBD5E1"/>
                  </a:solidFill>
                </a:rPr>
                <a:t>(Người tư duy hệ thống)</a:t>
              </a:r>
              <a:endParaRPr b="1" sz="1800">
                <a:solidFill>
                  <a:srgbClr val="CBD5E1"/>
                </a:solidFill>
              </a:endParaRPr>
            </a:p>
            <a:p>
              <a:pPr indent="0" lvl="0" marL="0" rtl="0" algn="l">
                <a:spcBef>
                  <a:spcPts val="0"/>
                </a:spcBef>
                <a:spcAft>
                  <a:spcPts val="0"/>
                </a:spcAft>
                <a:buNone/>
              </a:pPr>
              <a:r>
                <a:t/>
              </a:r>
              <a:endParaRPr b="1" sz="1800">
                <a:solidFill>
                  <a:srgbClr val="CBD5E1"/>
                </a:solidFill>
              </a:endParaRPr>
            </a:p>
          </p:txBody>
        </p:sp>
        <p:sp>
          <p:nvSpPr>
            <p:cNvPr id="191" name="Google Shape;191;p15"/>
            <p:cNvSpPr txBox="1"/>
            <p:nvPr/>
          </p:nvSpPr>
          <p:spPr>
            <a:xfrm>
              <a:off x="299975" y="859056"/>
              <a:ext cx="6165300" cy="1058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US" sz="1425">
                  <a:solidFill>
                    <a:schemeClr val="lt1"/>
                  </a:solidFill>
                </a:rPr>
                <a:t>Bạn nhìn bài toán ở bức tranh toàn cảnh rộng lớn. Hiểu rõ mối liên kết chéo giữa các bộ phận, dự đoán trước rủi ro vận hành, đánh giá tác động tài chính và tập trung tối ưu hóa hệ thống lâu dài thay vì sửa lỗi vặt.</a:t>
              </a:r>
              <a:endParaRPr sz="1750">
                <a:solidFill>
                  <a:schemeClr val="lt1"/>
                </a:solidFill>
              </a:endParaRPr>
            </a:p>
          </p:txBody>
        </p:sp>
      </p:grpSp>
      <p:grpSp>
        <p:nvGrpSpPr>
          <p:cNvPr id="192" name="Google Shape;192;p15"/>
          <p:cNvGrpSpPr/>
          <p:nvPr/>
        </p:nvGrpSpPr>
        <p:grpSpPr>
          <a:xfrm>
            <a:off x="571500" y="3902650"/>
            <a:ext cx="6529200" cy="1757700"/>
            <a:chOff x="571500" y="3977375"/>
            <a:chExt cx="6529200" cy="1757700"/>
          </a:xfrm>
        </p:grpSpPr>
        <p:sp>
          <p:nvSpPr>
            <p:cNvPr id="193" name="Google Shape;193;p15"/>
            <p:cNvSpPr/>
            <p:nvPr/>
          </p:nvSpPr>
          <p:spPr>
            <a:xfrm>
              <a:off x="571500" y="3977375"/>
              <a:ext cx="6529200" cy="1757700"/>
            </a:xfrm>
            <a:prstGeom prst="roundRect">
              <a:avLst>
                <a:gd fmla="val 3333" name="adj"/>
              </a:avLst>
            </a:prstGeom>
            <a:solidFill>
              <a:srgbClr val="1E293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5"/>
            <p:cNvSpPr txBox="1"/>
            <p:nvPr/>
          </p:nvSpPr>
          <p:spPr>
            <a:xfrm>
              <a:off x="1532200" y="4098225"/>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800">
                  <a:solidFill>
                    <a:srgbClr val="FCA019"/>
                  </a:solidFill>
                  <a:latin typeface="Outfit SemiBold"/>
                  <a:ea typeface="Outfit SemiBold"/>
                  <a:cs typeface="Outfit SemiBold"/>
                  <a:sym typeface="Outfit SemiBold"/>
                </a:rPr>
                <a:t>Super Star</a:t>
              </a:r>
              <a:endParaRPr b="0" sz="1800">
                <a:solidFill>
                  <a:srgbClr val="FCA019"/>
                </a:solidFill>
                <a:latin typeface="Outfit SemiBold"/>
                <a:ea typeface="Outfit SemiBold"/>
                <a:cs typeface="Outfit SemiBold"/>
                <a:sym typeface="Outfit SemiBold"/>
              </a:endParaRPr>
            </a:p>
          </p:txBody>
        </p:sp>
        <p:sp>
          <p:nvSpPr>
            <p:cNvPr id="195" name="Google Shape;195;p15"/>
            <p:cNvSpPr txBox="1"/>
            <p:nvPr/>
          </p:nvSpPr>
          <p:spPr>
            <a:xfrm>
              <a:off x="1532200" y="4346025"/>
              <a:ext cx="3048000" cy="41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CBD5E1"/>
                  </a:solidFill>
                </a:rPr>
                <a:t>(Người dẫn dắt)</a:t>
              </a:r>
              <a:endParaRPr b="1" sz="1800">
                <a:solidFill>
                  <a:srgbClr val="CBD5E1"/>
                </a:solidFill>
              </a:endParaRPr>
            </a:p>
          </p:txBody>
        </p:sp>
        <p:sp>
          <p:nvSpPr>
            <p:cNvPr id="196" name="Google Shape;196;p15"/>
            <p:cNvSpPr txBox="1"/>
            <p:nvPr/>
          </p:nvSpPr>
          <p:spPr>
            <a:xfrm>
              <a:off x="872075" y="4676600"/>
              <a:ext cx="6102000" cy="10584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lang="en-US" sz="1450">
                  <a:solidFill>
                    <a:srgbClr val="CBD5E1"/>
                  </a:solidFill>
                </a:rPr>
                <a:t>Ở đỉnh cao này, bạn đóng vai trò xây dựng tầm nhìn, định hướng chiến lược dữ liệu toàn diện và phát triển thế hệ System Thinker kế cận. Giá trị của bạn đến từ việc giúp toàn bộ tổ chức trở nên thông thái hơn.</a:t>
              </a:r>
              <a:endParaRPr sz="1450">
                <a:solidFill>
                  <a:srgbClr val="CBD5E1"/>
                </a:solidFill>
              </a:endParaRPr>
            </a:p>
          </p:txBody>
        </p:sp>
      </p:grpSp>
      <p:pic>
        <p:nvPicPr>
          <p:cNvPr descr="image.png" id="197" name="Google Shape;197;p15"/>
          <p:cNvPicPr preferRelativeResize="0"/>
          <p:nvPr/>
        </p:nvPicPr>
        <p:blipFill rotWithShape="1">
          <a:blip r:embed="rId6">
            <a:alphaModFix/>
          </a:blip>
          <a:srcRect b="0" l="0" r="0" t="0"/>
          <a:stretch/>
        </p:blipFill>
        <p:spPr>
          <a:xfrm>
            <a:off x="783975" y="2044037"/>
            <a:ext cx="569650" cy="569650"/>
          </a:xfrm>
          <a:prstGeom prst="rect">
            <a:avLst/>
          </a:prstGeom>
          <a:noFill/>
          <a:ln>
            <a:noFill/>
          </a:ln>
        </p:spPr>
      </p:pic>
      <p:pic>
        <p:nvPicPr>
          <p:cNvPr descr="image.png" id="198" name="Google Shape;198;p15"/>
          <p:cNvPicPr preferRelativeResize="0"/>
          <p:nvPr/>
        </p:nvPicPr>
        <p:blipFill rotWithShape="1">
          <a:blip r:embed="rId7">
            <a:alphaModFix/>
          </a:blip>
          <a:srcRect b="0" l="0" r="0" t="0"/>
          <a:stretch/>
        </p:blipFill>
        <p:spPr>
          <a:xfrm>
            <a:off x="793038" y="4064013"/>
            <a:ext cx="551537" cy="5515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pic>
        <p:nvPicPr>
          <p:cNvPr id="203" name="Google Shape;203;p16"/>
          <p:cNvPicPr preferRelativeResize="0"/>
          <p:nvPr/>
        </p:nvPicPr>
        <p:blipFill rotWithShape="1">
          <a:blip r:embed="rId4">
            <a:alphaModFix/>
          </a:blip>
          <a:srcRect b="0" l="168" r="15749" t="0"/>
          <a:stretch/>
        </p:blipFill>
        <p:spPr>
          <a:xfrm>
            <a:off x="1905850" y="-10350"/>
            <a:ext cx="10286100" cy="6878700"/>
          </a:xfrm>
          <a:prstGeom prst="rect">
            <a:avLst/>
          </a:prstGeom>
          <a:noFill/>
          <a:ln>
            <a:noFill/>
          </a:ln>
        </p:spPr>
      </p:pic>
      <p:sp>
        <p:nvSpPr>
          <p:cNvPr id="204" name="Google Shape;204;p16"/>
          <p:cNvSpPr txBox="1"/>
          <p:nvPr/>
        </p:nvSpPr>
        <p:spPr>
          <a:xfrm>
            <a:off x="2164556" y="6315961"/>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205" name="Google Shape;205;p16"/>
          <p:cNvPicPr preferRelativeResize="0"/>
          <p:nvPr/>
        </p:nvPicPr>
        <p:blipFill rotWithShape="1">
          <a:blip r:embed="rId5">
            <a:alphaModFix/>
          </a:blip>
          <a:srcRect b="249" l="0" r="0" t="239"/>
          <a:stretch/>
        </p:blipFill>
        <p:spPr>
          <a:xfrm>
            <a:off x="457200" y="6269031"/>
            <a:ext cx="1555800" cy="381000"/>
          </a:xfrm>
          <a:prstGeom prst="rect">
            <a:avLst/>
          </a:prstGeom>
          <a:noFill/>
          <a:ln>
            <a:noFill/>
          </a:ln>
        </p:spPr>
      </p:pic>
      <p:sp>
        <p:nvSpPr>
          <p:cNvPr id="206" name="Google Shape;206;p16"/>
          <p:cNvSpPr txBox="1"/>
          <p:nvPr>
            <p:ph type="title"/>
          </p:nvPr>
        </p:nvSpPr>
        <p:spPr>
          <a:xfrm>
            <a:off x="571500" y="1338650"/>
            <a:ext cx="10212600" cy="2471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US" sz="5960">
                <a:latin typeface="Arial"/>
                <a:ea typeface="Arial"/>
                <a:cs typeface="Arial"/>
                <a:sym typeface="Arial"/>
              </a:rPr>
              <a:t>V</a:t>
            </a:r>
            <a:r>
              <a:rPr lang="en-US" sz="5960">
                <a:latin typeface="Arial"/>
                <a:ea typeface="Arial"/>
                <a:cs typeface="Arial"/>
                <a:sym typeface="Arial"/>
              </a:rPr>
              <a:t>ĂN HÓA TẠI MNC</a:t>
            </a:r>
            <a:endParaRPr sz="4720">
              <a:solidFill>
                <a:srgbClr val="FFFFFF"/>
              </a:solidFill>
              <a:latin typeface="Arial"/>
              <a:ea typeface="Arial"/>
              <a:cs typeface="Arial"/>
              <a:sym typeface="Arial"/>
            </a:endParaRPr>
          </a:p>
        </p:txBody>
      </p:sp>
      <p:sp>
        <p:nvSpPr>
          <p:cNvPr id="207" name="Google Shape;207;p16"/>
          <p:cNvSpPr/>
          <p:nvPr/>
        </p:nvSpPr>
        <p:spPr>
          <a:xfrm>
            <a:off x="571500" y="4000500"/>
            <a:ext cx="952500" cy="76200"/>
          </a:xfrm>
          <a:prstGeom prst="roundRect">
            <a:avLst>
              <a:gd fmla="val 50000" name="adj"/>
            </a:avLst>
          </a:prstGeom>
          <a:solidFill>
            <a:srgbClr val="FCA01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16"/>
          <p:cNvSpPr txBox="1"/>
          <p:nvPr>
            <p:ph idx="1" type="body"/>
          </p:nvPr>
        </p:nvSpPr>
        <p:spPr>
          <a:xfrm>
            <a:off x="571500" y="4381500"/>
            <a:ext cx="8228400" cy="1303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483"/>
              </a:spcBef>
              <a:spcAft>
                <a:spcPts val="0"/>
              </a:spcAft>
              <a:buNone/>
            </a:pPr>
            <a:r>
              <a:rPr b="1" lang="en-US" sz="2800">
                <a:solidFill>
                  <a:srgbClr val="FCA019"/>
                </a:solidFill>
                <a:latin typeface="Arial"/>
                <a:ea typeface="Arial"/>
                <a:cs typeface="Arial"/>
                <a:sym typeface="Arial"/>
              </a:rPr>
              <a:t>Section 2.</a:t>
            </a:r>
            <a:endParaRPr b="1" sz="2800">
              <a:solidFill>
                <a:srgbClr val="FCA019"/>
              </a:solidFill>
              <a:latin typeface="Arial"/>
              <a:ea typeface="Arial"/>
              <a:cs typeface="Arial"/>
              <a:sym typeface="Arial"/>
            </a:endParaRPr>
          </a:p>
          <a:p>
            <a:pPr indent="0" lvl="0" marL="0" rtl="0" algn="l">
              <a:spcBef>
                <a:spcPts val="600"/>
              </a:spcBef>
              <a:spcAft>
                <a:spcPts val="0"/>
              </a:spcAft>
              <a:buNone/>
            </a:pPr>
            <a:r>
              <a:rPr lang="en-US" sz="1600">
                <a:solidFill>
                  <a:srgbClr val="CBD5E1"/>
                </a:solidFill>
              </a:rPr>
              <a:t>Chia sẻ về văn hóa tại tập đoàn đa quốc gia</a:t>
            </a:r>
            <a:endParaRPr b="0" sz="1600">
              <a:solidFill>
                <a:srgbClr val="CBD5E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2" name="Shape 212"/>
        <p:cNvGrpSpPr/>
        <p:nvPr/>
      </p:nvGrpSpPr>
      <p:grpSpPr>
        <a:xfrm>
          <a:off x="0" y="0"/>
          <a:ext cx="0" cy="0"/>
          <a:chOff x="0" y="0"/>
          <a:chExt cx="0" cy="0"/>
        </a:xfrm>
      </p:grpSpPr>
      <p:sp>
        <p:nvSpPr>
          <p:cNvPr id="213" name="Google Shape;213;p17"/>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214" name="Google Shape;214;p17"/>
          <p:cNvPicPr preferRelativeResize="0"/>
          <p:nvPr/>
        </p:nvPicPr>
        <p:blipFill rotWithShape="1">
          <a:blip r:embed="rId4">
            <a:alphaModFix/>
          </a:blip>
          <a:srcRect b="249" l="0" r="0" t="239"/>
          <a:stretch/>
        </p:blipFill>
        <p:spPr>
          <a:xfrm>
            <a:off x="457200" y="6269069"/>
            <a:ext cx="1555800" cy="381000"/>
          </a:xfrm>
          <a:prstGeom prst="rect">
            <a:avLst/>
          </a:prstGeom>
          <a:noFill/>
          <a:ln>
            <a:noFill/>
          </a:ln>
        </p:spPr>
      </p:pic>
      <p:sp>
        <p:nvSpPr>
          <p:cNvPr id="215" name="Google Shape;215;p17"/>
          <p:cNvSpPr txBox="1"/>
          <p:nvPr/>
        </p:nvSpPr>
        <p:spPr>
          <a:xfrm>
            <a:off x="571500" y="38100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900">
                <a:solidFill>
                  <a:srgbClr val="FCA019"/>
                </a:solidFill>
                <a:latin typeface="Arial"/>
                <a:ea typeface="Arial"/>
                <a:cs typeface="Arial"/>
                <a:sym typeface="Arial"/>
              </a:rPr>
              <a:t>QUY TRÌNH TUYỂN DỤNG CHUẨN TẠI MNCs</a:t>
            </a:r>
            <a:endParaRPr b="1" sz="3900">
              <a:solidFill>
                <a:srgbClr val="FCA019"/>
              </a:solidFill>
              <a:latin typeface="Arial"/>
              <a:ea typeface="Arial"/>
              <a:cs typeface="Arial"/>
              <a:sym typeface="Arial"/>
            </a:endParaRPr>
          </a:p>
        </p:txBody>
      </p:sp>
      <p:pic>
        <p:nvPicPr>
          <p:cNvPr descr="image.png" id="216" name="Google Shape;216;p17"/>
          <p:cNvPicPr preferRelativeResize="0"/>
          <p:nvPr/>
        </p:nvPicPr>
        <p:blipFill rotWithShape="1">
          <a:blip r:embed="rId5">
            <a:alphaModFix/>
          </a:blip>
          <a:srcRect b="0" l="0" r="0" t="0"/>
          <a:stretch/>
        </p:blipFill>
        <p:spPr>
          <a:xfrm>
            <a:off x="1548705" y="2543175"/>
            <a:ext cx="476250" cy="476250"/>
          </a:xfrm>
          <a:prstGeom prst="rect">
            <a:avLst/>
          </a:prstGeom>
          <a:noFill/>
          <a:ln>
            <a:noFill/>
          </a:ln>
        </p:spPr>
      </p:pic>
      <p:pic>
        <p:nvPicPr>
          <p:cNvPr descr="image.png" id="217" name="Google Shape;217;p17"/>
          <p:cNvPicPr preferRelativeResize="0"/>
          <p:nvPr/>
        </p:nvPicPr>
        <p:blipFill rotWithShape="1">
          <a:blip r:embed="rId6">
            <a:alphaModFix/>
          </a:blip>
          <a:srcRect b="0" l="0" r="0" t="0"/>
          <a:stretch/>
        </p:blipFill>
        <p:spPr>
          <a:xfrm>
            <a:off x="571500" y="3209925"/>
            <a:ext cx="2601600" cy="1115225"/>
          </a:xfrm>
          <a:prstGeom prst="rect">
            <a:avLst/>
          </a:prstGeom>
          <a:noFill/>
          <a:ln>
            <a:noFill/>
          </a:ln>
        </p:spPr>
      </p:pic>
      <p:pic>
        <p:nvPicPr>
          <p:cNvPr descr="image.png" id="218" name="Google Shape;218;p17"/>
          <p:cNvPicPr preferRelativeResize="0"/>
          <p:nvPr/>
        </p:nvPicPr>
        <p:blipFill rotWithShape="1">
          <a:blip r:embed="rId7">
            <a:alphaModFix/>
          </a:blip>
          <a:srcRect b="0" l="0" r="0" t="0"/>
          <a:stretch/>
        </p:blipFill>
        <p:spPr>
          <a:xfrm>
            <a:off x="4421385" y="2543175"/>
            <a:ext cx="476250" cy="476250"/>
          </a:xfrm>
          <a:prstGeom prst="rect">
            <a:avLst/>
          </a:prstGeom>
          <a:noFill/>
          <a:ln>
            <a:noFill/>
          </a:ln>
        </p:spPr>
      </p:pic>
      <p:pic>
        <p:nvPicPr>
          <p:cNvPr descr="image.png" id="219" name="Google Shape;219;p17"/>
          <p:cNvPicPr preferRelativeResize="0"/>
          <p:nvPr/>
        </p:nvPicPr>
        <p:blipFill rotWithShape="1">
          <a:blip r:embed="rId8">
            <a:alphaModFix/>
          </a:blip>
          <a:srcRect b="0" l="0" r="0" t="0"/>
          <a:stretch/>
        </p:blipFill>
        <p:spPr>
          <a:xfrm>
            <a:off x="3444175" y="3209925"/>
            <a:ext cx="2601600" cy="1115220"/>
          </a:xfrm>
          <a:prstGeom prst="rect">
            <a:avLst/>
          </a:prstGeom>
          <a:noFill/>
          <a:ln>
            <a:noFill/>
          </a:ln>
        </p:spPr>
      </p:pic>
      <p:pic>
        <p:nvPicPr>
          <p:cNvPr descr="image.png" id="220" name="Google Shape;220;p17"/>
          <p:cNvPicPr preferRelativeResize="0"/>
          <p:nvPr/>
        </p:nvPicPr>
        <p:blipFill rotWithShape="1">
          <a:blip r:embed="rId9">
            <a:alphaModFix/>
          </a:blip>
          <a:srcRect b="0" l="0" r="0" t="0"/>
          <a:stretch/>
        </p:blipFill>
        <p:spPr>
          <a:xfrm>
            <a:off x="7294066" y="2543175"/>
            <a:ext cx="476250" cy="476250"/>
          </a:xfrm>
          <a:prstGeom prst="rect">
            <a:avLst/>
          </a:prstGeom>
          <a:noFill/>
          <a:ln>
            <a:noFill/>
          </a:ln>
        </p:spPr>
      </p:pic>
      <p:pic>
        <p:nvPicPr>
          <p:cNvPr descr="image.png" id="221" name="Google Shape;221;p17"/>
          <p:cNvPicPr preferRelativeResize="0"/>
          <p:nvPr/>
        </p:nvPicPr>
        <p:blipFill rotWithShape="1">
          <a:blip r:embed="rId6">
            <a:alphaModFix/>
          </a:blip>
          <a:srcRect b="0" l="0" r="0" t="0"/>
          <a:stretch/>
        </p:blipFill>
        <p:spPr>
          <a:xfrm>
            <a:off x="6316849" y="3209925"/>
            <a:ext cx="2601612" cy="1115225"/>
          </a:xfrm>
          <a:prstGeom prst="rect">
            <a:avLst/>
          </a:prstGeom>
          <a:noFill/>
          <a:ln>
            <a:noFill/>
          </a:ln>
        </p:spPr>
      </p:pic>
      <p:pic>
        <p:nvPicPr>
          <p:cNvPr descr="image.png" id="222" name="Google Shape;222;p17"/>
          <p:cNvPicPr preferRelativeResize="0"/>
          <p:nvPr/>
        </p:nvPicPr>
        <p:blipFill rotWithShape="1">
          <a:blip r:embed="rId10">
            <a:alphaModFix/>
          </a:blip>
          <a:srcRect b="0" l="0" r="0" t="0"/>
          <a:stretch/>
        </p:blipFill>
        <p:spPr>
          <a:xfrm>
            <a:off x="10166746" y="2543175"/>
            <a:ext cx="476250" cy="476250"/>
          </a:xfrm>
          <a:prstGeom prst="rect">
            <a:avLst/>
          </a:prstGeom>
          <a:noFill/>
          <a:ln>
            <a:noFill/>
          </a:ln>
        </p:spPr>
      </p:pic>
      <p:pic>
        <p:nvPicPr>
          <p:cNvPr descr="image.png" id="223" name="Google Shape;223;p17"/>
          <p:cNvPicPr preferRelativeResize="0"/>
          <p:nvPr/>
        </p:nvPicPr>
        <p:blipFill rotWithShape="1">
          <a:blip r:embed="rId8">
            <a:alphaModFix/>
          </a:blip>
          <a:srcRect b="0" l="0" r="0" t="0"/>
          <a:stretch/>
        </p:blipFill>
        <p:spPr>
          <a:xfrm>
            <a:off x="9189551" y="3209925"/>
            <a:ext cx="2601600" cy="1115231"/>
          </a:xfrm>
          <a:prstGeom prst="rect">
            <a:avLst/>
          </a:prstGeom>
          <a:noFill/>
          <a:ln>
            <a:noFill/>
          </a:ln>
        </p:spPr>
      </p:pic>
      <p:sp>
        <p:nvSpPr>
          <p:cNvPr id="224" name="Google Shape;224;p17"/>
          <p:cNvSpPr txBox="1"/>
          <p:nvPr/>
        </p:nvSpPr>
        <p:spPr>
          <a:xfrm>
            <a:off x="670753" y="3362325"/>
            <a:ext cx="2232300" cy="204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25" u="none" cap="none" strike="noStrike">
                <a:solidFill>
                  <a:srgbClr val="232F3E"/>
                </a:solidFill>
                <a:latin typeface="Montserrat"/>
                <a:ea typeface="Montserrat"/>
                <a:cs typeface="Montserrat"/>
                <a:sym typeface="Montserrat"/>
              </a:rPr>
              <a:t>Sàng Lọc &amp; Sơ Vấn</a:t>
            </a:r>
            <a:endParaRPr sz="1600"/>
          </a:p>
        </p:txBody>
      </p:sp>
      <p:sp>
        <p:nvSpPr>
          <p:cNvPr id="225" name="Google Shape;225;p17"/>
          <p:cNvSpPr txBox="1"/>
          <p:nvPr/>
        </p:nvSpPr>
        <p:spPr>
          <a:xfrm>
            <a:off x="723900" y="3619500"/>
            <a:ext cx="2125800" cy="643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00" u="none" cap="none" strike="noStrike">
                <a:solidFill>
                  <a:srgbClr val="718096"/>
                </a:solidFill>
                <a:latin typeface="Inter"/>
                <a:ea typeface="Inter"/>
                <a:cs typeface="Inter"/>
                <a:sym typeface="Inter"/>
              </a:rPr>
              <a:t>Hệ thống ATS quét hồ sơ. Trao đổi nhanh 15-30 phút bằng Tiếng Anh với Recruiter.</a:t>
            </a:r>
            <a:endParaRPr sz="1600"/>
          </a:p>
        </p:txBody>
      </p:sp>
      <p:sp>
        <p:nvSpPr>
          <p:cNvPr id="226" name="Google Shape;226;p17"/>
          <p:cNvSpPr txBox="1"/>
          <p:nvPr/>
        </p:nvSpPr>
        <p:spPr>
          <a:xfrm>
            <a:off x="3543433" y="3362325"/>
            <a:ext cx="2232300" cy="204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25" u="none" cap="none" strike="noStrike">
                <a:solidFill>
                  <a:srgbClr val="232F3E"/>
                </a:solidFill>
                <a:latin typeface="Montserrat"/>
                <a:ea typeface="Montserrat"/>
                <a:cs typeface="Montserrat"/>
                <a:sym typeface="Montserrat"/>
              </a:rPr>
              <a:t>Test Năng Lực</a:t>
            </a:r>
            <a:endParaRPr sz="1600"/>
          </a:p>
        </p:txBody>
      </p:sp>
      <p:sp>
        <p:nvSpPr>
          <p:cNvPr id="227" name="Google Shape;227;p17"/>
          <p:cNvSpPr txBox="1"/>
          <p:nvPr/>
        </p:nvSpPr>
        <p:spPr>
          <a:xfrm>
            <a:off x="3596580" y="3619500"/>
            <a:ext cx="2125800" cy="643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00" u="none" cap="none" strike="noStrike">
                <a:solidFill>
                  <a:srgbClr val="718096"/>
                </a:solidFill>
                <a:latin typeface="Inter"/>
                <a:ea typeface="Inter"/>
                <a:cs typeface="Inter"/>
                <a:sym typeface="Inter"/>
              </a:rPr>
              <a:t>Làm bài test tư duy logic, giải thuật (Tech) hoặc Situation Test (Supply Chain).</a:t>
            </a:r>
            <a:endParaRPr sz="1600"/>
          </a:p>
        </p:txBody>
      </p:sp>
      <p:sp>
        <p:nvSpPr>
          <p:cNvPr id="228" name="Google Shape;228;p17"/>
          <p:cNvSpPr txBox="1"/>
          <p:nvPr/>
        </p:nvSpPr>
        <p:spPr>
          <a:xfrm>
            <a:off x="6416114" y="3362325"/>
            <a:ext cx="2232300" cy="204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25" u="none" cap="none" strike="noStrike">
                <a:solidFill>
                  <a:srgbClr val="232F3E"/>
                </a:solidFill>
                <a:latin typeface="Montserrat"/>
                <a:ea typeface="Montserrat"/>
                <a:cs typeface="Montserrat"/>
                <a:sym typeface="Montserrat"/>
              </a:rPr>
              <a:t>Phỏng Vấn Chuyên Môn</a:t>
            </a:r>
            <a:endParaRPr sz="1600"/>
          </a:p>
        </p:txBody>
      </p:sp>
      <p:sp>
        <p:nvSpPr>
          <p:cNvPr id="229" name="Google Shape;229;p17"/>
          <p:cNvSpPr txBox="1"/>
          <p:nvPr/>
        </p:nvSpPr>
        <p:spPr>
          <a:xfrm>
            <a:off x="6469260" y="3619500"/>
            <a:ext cx="2125800" cy="643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00" u="none" cap="none" strike="noStrike">
                <a:solidFill>
                  <a:srgbClr val="718096"/>
                </a:solidFill>
                <a:latin typeface="Inter"/>
                <a:ea typeface="Inter"/>
                <a:cs typeface="Inter"/>
                <a:sym typeface="Inter"/>
              </a:rPr>
              <a:t>Làm việc trực tiếp với Tech Lead/Manager. Đào sâu bài toán thực tế bằng STAR model.</a:t>
            </a:r>
            <a:endParaRPr sz="1600"/>
          </a:p>
        </p:txBody>
      </p:sp>
      <p:sp>
        <p:nvSpPr>
          <p:cNvPr id="230" name="Google Shape;230;p17"/>
          <p:cNvSpPr txBox="1"/>
          <p:nvPr/>
        </p:nvSpPr>
        <p:spPr>
          <a:xfrm>
            <a:off x="9288794" y="3362325"/>
            <a:ext cx="2232300" cy="204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25" u="none" cap="none" strike="noStrike">
                <a:solidFill>
                  <a:srgbClr val="232F3E"/>
                </a:solidFill>
                <a:latin typeface="Montserrat"/>
                <a:ea typeface="Montserrat"/>
                <a:cs typeface="Montserrat"/>
                <a:sym typeface="Montserrat"/>
              </a:rPr>
              <a:t>Sự Hòa Hợp Văn Hóa</a:t>
            </a:r>
            <a:endParaRPr sz="1600"/>
          </a:p>
        </p:txBody>
      </p:sp>
      <p:sp>
        <p:nvSpPr>
          <p:cNvPr id="231" name="Google Shape;231;p17"/>
          <p:cNvSpPr txBox="1"/>
          <p:nvPr/>
        </p:nvSpPr>
        <p:spPr>
          <a:xfrm>
            <a:off x="9341941" y="3619500"/>
            <a:ext cx="2125800" cy="643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00" u="none" cap="none" strike="noStrike">
                <a:solidFill>
                  <a:srgbClr val="718096"/>
                </a:solidFill>
                <a:latin typeface="Inter"/>
                <a:ea typeface="Inter"/>
                <a:cs typeface="Inter"/>
                <a:sym typeface="Inter"/>
              </a:rPr>
              <a:t>Phỏng vấn với Leadership/Sếp lớn để đánh giá mức độ tương thích về giá trị cốt lõi.</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5" name="Shape 235"/>
        <p:cNvGrpSpPr/>
        <p:nvPr/>
      </p:nvGrpSpPr>
      <p:grpSpPr>
        <a:xfrm>
          <a:off x="0" y="0"/>
          <a:ext cx="0" cy="0"/>
          <a:chOff x="0" y="0"/>
          <a:chExt cx="0" cy="0"/>
        </a:xfrm>
      </p:grpSpPr>
      <p:sp>
        <p:nvSpPr>
          <p:cNvPr id="236" name="Google Shape;236;p18"/>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237" name="Google Shape;237;p18"/>
          <p:cNvPicPr preferRelativeResize="0"/>
          <p:nvPr/>
        </p:nvPicPr>
        <p:blipFill rotWithShape="1">
          <a:blip r:embed="rId4">
            <a:alphaModFix/>
          </a:blip>
          <a:srcRect b="249" l="0" r="0" t="239"/>
          <a:stretch/>
        </p:blipFill>
        <p:spPr>
          <a:xfrm>
            <a:off x="457200" y="6269069"/>
            <a:ext cx="1555800" cy="381000"/>
          </a:xfrm>
          <a:prstGeom prst="rect">
            <a:avLst/>
          </a:prstGeom>
          <a:noFill/>
          <a:ln>
            <a:noFill/>
          </a:ln>
        </p:spPr>
      </p:pic>
      <p:sp>
        <p:nvSpPr>
          <p:cNvPr id="238" name="Google Shape;238;p18"/>
          <p:cNvSpPr txBox="1"/>
          <p:nvPr/>
        </p:nvSpPr>
        <p:spPr>
          <a:xfrm>
            <a:off x="571500" y="38100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900">
                <a:solidFill>
                  <a:srgbClr val="FCA019"/>
                </a:solidFill>
                <a:latin typeface="Arial"/>
                <a:ea typeface="Arial"/>
                <a:cs typeface="Arial"/>
                <a:sym typeface="Arial"/>
              </a:rPr>
              <a:t>TRĂN TRỞ CỦA QUỐC GIA</a:t>
            </a:r>
            <a:endParaRPr b="1" sz="3900">
              <a:solidFill>
                <a:srgbClr val="FCA019"/>
              </a:solidFill>
              <a:latin typeface="Arial"/>
              <a:ea typeface="Arial"/>
              <a:cs typeface="Arial"/>
              <a:sym typeface="Arial"/>
            </a:endParaRPr>
          </a:p>
        </p:txBody>
      </p:sp>
      <p:pic>
        <p:nvPicPr>
          <p:cNvPr id="239" name="Google Shape;239;p18"/>
          <p:cNvPicPr preferRelativeResize="0"/>
          <p:nvPr/>
        </p:nvPicPr>
        <p:blipFill>
          <a:blip r:embed="rId5">
            <a:alphaModFix/>
          </a:blip>
          <a:stretch>
            <a:fillRect/>
          </a:stretch>
        </p:blipFill>
        <p:spPr>
          <a:xfrm>
            <a:off x="488988" y="1498325"/>
            <a:ext cx="11214025" cy="1875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3" name="Shape 243"/>
        <p:cNvGrpSpPr/>
        <p:nvPr/>
      </p:nvGrpSpPr>
      <p:grpSpPr>
        <a:xfrm>
          <a:off x="0" y="0"/>
          <a:ext cx="0" cy="0"/>
          <a:chOff x="0" y="0"/>
          <a:chExt cx="0" cy="0"/>
        </a:xfrm>
      </p:grpSpPr>
      <p:sp>
        <p:nvSpPr>
          <p:cNvPr id="244" name="Google Shape;244;p19"/>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245" name="Google Shape;245;p19"/>
          <p:cNvPicPr preferRelativeResize="0"/>
          <p:nvPr/>
        </p:nvPicPr>
        <p:blipFill rotWithShape="1">
          <a:blip r:embed="rId4">
            <a:alphaModFix/>
          </a:blip>
          <a:srcRect b="249" l="0" r="0" t="239"/>
          <a:stretch/>
        </p:blipFill>
        <p:spPr>
          <a:xfrm>
            <a:off x="457200" y="6269069"/>
            <a:ext cx="1555800" cy="381000"/>
          </a:xfrm>
          <a:prstGeom prst="rect">
            <a:avLst/>
          </a:prstGeom>
          <a:noFill/>
          <a:ln>
            <a:noFill/>
          </a:ln>
        </p:spPr>
      </p:pic>
      <p:sp>
        <p:nvSpPr>
          <p:cNvPr id="246" name="Google Shape;246;p19"/>
          <p:cNvSpPr txBox="1"/>
          <p:nvPr/>
        </p:nvSpPr>
        <p:spPr>
          <a:xfrm>
            <a:off x="571500" y="38100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900">
                <a:solidFill>
                  <a:srgbClr val="FCA019"/>
                </a:solidFill>
                <a:latin typeface="Arial"/>
                <a:ea typeface="Arial"/>
                <a:cs typeface="Arial"/>
                <a:sym typeface="Arial"/>
              </a:rPr>
              <a:t>TRĂN TRỞ CỦA QUỐC GIA</a:t>
            </a:r>
            <a:endParaRPr b="1" sz="3900">
              <a:solidFill>
                <a:srgbClr val="FCA019"/>
              </a:solidFill>
              <a:latin typeface="Arial"/>
              <a:ea typeface="Arial"/>
              <a:cs typeface="Arial"/>
              <a:sym typeface="Arial"/>
            </a:endParaRPr>
          </a:p>
        </p:txBody>
      </p:sp>
      <p:pic>
        <p:nvPicPr>
          <p:cNvPr id="247" name="Google Shape;247;p19"/>
          <p:cNvPicPr preferRelativeResize="0"/>
          <p:nvPr/>
        </p:nvPicPr>
        <p:blipFill>
          <a:blip r:embed="rId5">
            <a:alphaModFix/>
          </a:blip>
          <a:stretch>
            <a:fillRect/>
          </a:stretch>
        </p:blipFill>
        <p:spPr>
          <a:xfrm>
            <a:off x="109301" y="1038775"/>
            <a:ext cx="3219650" cy="4780449"/>
          </a:xfrm>
          <a:prstGeom prst="rect">
            <a:avLst/>
          </a:prstGeom>
          <a:noFill/>
          <a:ln>
            <a:noFill/>
          </a:ln>
        </p:spPr>
      </p:pic>
      <p:pic>
        <p:nvPicPr>
          <p:cNvPr id="248" name="Google Shape;248;p19"/>
          <p:cNvPicPr preferRelativeResize="0"/>
          <p:nvPr/>
        </p:nvPicPr>
        <p:blipFill>
          <a:blip r:embed="rId6">
            <a:alphaModFix/>
          </a:blip>
          <a:stretch>
            <a:fillRect/>
          </a:stretch>
        </p:blipFill>
        <p:spPr>
          <a:xfrm>
            <a:off x="3543750" y="1038775"/>
            <a:ext cx="8648250" cy="1744950"/>
          </a:xfrm>
          <a:prstGeom prst="rect">
            <a:avLst/>
          </a:prstGeom>
          <a:noFill/>
          <a:ln>
            <a:noFill/>
          </a:ln>
        </p:spPr>
      </p:pic>
      <p:pic>
        <p:nvPicPr>
          <p:cNvPr id="249" name="Google Shape;249;p19"/>
          <p:cNvPicPr preferRelativeResize="0"/>
          <p:nvPr/>
        </p:nvPicPr>
        <p:blipFill>
          <a:blip r:embed="rId7">
            <a:alphaModFix/>
          </a:blip>
          <a:stretch>
            <a:fillRect/>
          </a:stretch>
        </p:blipFill>
        <p:spPr>
          <a:xfrm>
            <a:off x="3738874" y="3151462"/>
            <a:ext cx="8258000" cy="2796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3" name="Shape 253"/>
        <p:cNvGrpSpPr/>
        <p:nvPr/>
      </p:nvGrpSpPr>
      <p:grpSpPr>
        <a:xfrm>
          <a:off x="0" y="0"/>
          <a:ext cx="0" cy="0"/>
          <a:chOff x="0" y="0"/>
          <a:chExt cx="0" cy="0"/>
        </a:xfrm>
      </p:grpSpPr>
      <p:sp>
        <p:nvSpPr>
          <p:cNvPr id="254" name="Google Shape;254;p20"/>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255" name="Google Shape;255;p20"/>
          <p:cNvPicPr preferRelativeResize="0"/>
          <p:nvPr/>
        </p:nvPicPr>
        <p:blipFill rotWithShape="1">
          <a:blip r:embed="rId4">
            <a:alphaModFix/>
          </a:blip>
          <a:srcRect b="249" l="0" r="0" t="239"/>
          <a:stretch/>
        </p:blipFill>
        <p:spPr>
          <a:xfrm>
            <a:off x="457200" y="6269069"/>
            <a:ext cx="1555800" cy="381000"/>
          </a:xfrm>
          <a:prstGeom prst="rect">
            <a:avLst/>
          </a:prstGeom>
          <a:noFill/>
          <a:ln>
            <a:noFill/>
          </a:ln>
        </p:spPr>
      </p:pic>
      <p:sp>
        <p:nvSpPr>
          <p:cNvPr id="256" name="Google Shape;256;p20"/>
          <p:cNvSpPr txBox="1"/>
          <p:nvPr/>
        </p:nvSpPr>
        <p:spPr>
          <a:xfrm>
            <a:off x="571500" y="38100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900">
                <a:solidFill>
                  <a:srgbClr val="FCA019"/>
                </a:solidFill>
                <a:latin typeface="Arial"/>
                <a:ea typeface="Arial"/>
                <a:cs typeface="Arial"/>
                <a:sym typeface="Arial"/>
              </a:rPr>
              <a:t>GIẢI MÃ "VĂN HÓA DOANH NGHIỆP"</a:t>
            </a:r>
            <a:endParaRPr b="1" sz="3900">
              <a:solidFill>
                <a:srgbClr val="FCA019"/>
              </a:solidFill>
              <a:latin typeface="Arial"/>
              <a:ea typeface="Arial"/>
              <a:cs typeface="Arial"/>
              <a:sym typeface="Arial"/>
            </a:endParaRPr>
          </a:p>
        </p:txBody>
      </p:sp>
      <p:pic>
        <p:nvPicPr>
          <p:cNvPr descr="image.png" id="257" name="Google Shape;257;p20"/>
          <p:cNvPicPr preferRelativeResize="0"/>
          <p:nvPr/>
        </p:nvPicPr>
        <p:blipFill rotWithShape="1">
          <a:blip r:embed="rId5">
            <a:alphaModFix/>
          </a:blip>
          <a:srcRect b="0" l="0" r="0" t="0"/>
          <a:stretch/>
        </p:blipFill>
        <p:spPr>
          <a:xfrm>
            <a:off x="1809750" y="4395050"/>
            <a:ext cx="4204100" cy="1164325"/>
          </a:xfrm>
          <a:prstGeom prst="rect">
            <a:avLst/>
          </a:prstGeom>
          <a:noFill/>
          <a:ln>
            <a:noFill/>
          </a:ln>
        </p:spPr>
      </p:pic>
      <p:pic>
        <p:nvPicPr>
          <p:cNvPr descr="image.png" id="258" name="Google Shape;258;p20"/>
          <p:cNvPicPr preferRelativeResize="0"/>
          <p:nvPr/>
        </p:nvPicPr>
        <p:blipFill rotWithShape="1">
          <a:blip r:embed="rId6">
            <a:alphaModFix/>
          </a:blip>
          <a:srcRect b="0" l="0" r="0" t="0"/>
          <a:stretch/>
        </p:blipFill>
        <p:spPr>
          <a:xfrm>
            <a:off x="6262674" y="4395050"/>
            <a:ext cx="4204100" cy="1164325"/>
          </a:xfrm>
          <a:prstGeom prst="rect">
            <a:avLst/>
          </a:prstGeom>
          <a:noFill/>
          <a:ln>
            <a:noFill/>
          </a:ln>
        </p:spPr>
      </p:pic>
      <p:sp>
        <p:nvSpPr>
          <p:cNvPr id="259" name="Google Shape;259;p20"/>
          <p:cNvSpPr txBox="1"/>
          <p:nvPr/>
        </p:nvSpPr>
        <p:spPr>
          <a:xfrm>
            <a:off x="2286000" y="1575643"/>
            <a:ext cx="7620000" cy="1777800"/>
          </a:xfrm>
          <a:prstGeom prst="rect">
            <a:avLst/>
          </a:prstGeom>
          <a:solidFill>
            <a:srgbClr val="FFFFFF"/>
          </a:solid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100" u="none" cap="none" strike="noStrike">
                <a:solidFill>
                  <a:srgbClr val="232F3E"/>
                </a:solidFill>
                <a:latin typeface="Montserrat Medium"/>
                <a:ea typeface="Montserrat Medium"/>
                <a:cs typeface="Montserrat Medium"/>
                <a:sym typeface="Montserrat Medium"/>
              </a:rPr>
              <a:t>Văn hóa doanh nghiệp chính là cách nghĩ, cách sống và cách làm của doanh nghiệp. Hay cụ thể hơn, là cách nghĩ, cách sống và cách làm việc của từng con người trong doanh nghiệp đó.</a:t>
            </a:r>
            <a:endParaRPr/>
          </a:p>
        </p:txBody>
      </p:sp>
      <p:sp>
        <p:nvSpPr>
          <p:cNvPr id="260" name="Google Shape;260;p20"/>
          <p:cNvSpPr txBox="1"/>
          <p:nvPr/>
        </p:nvSpPr>
        <p:spPr>
          <a:xfrm>
            <a:off x="5200650" y="3461593"/>
            <a:ext cx="1790700" cy="207900"/>
          </a:xfrm>
          <a:prstGeom prst="rect">
            <a:avLst/>
          </a:prstGeom>
          <a:solidFill>
            <a:srgbClr val="FFFFFF"/>
          </a:solid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FF9900"/>
                </a:solidFill>
                <a:latin typeface="Inter SemiBold"/>
                <a:ea typeface="Inter SemiBold"/>
                <a:cs typeface="Inter SemiBold"/>
                <a:sym typeface="Inter SemiBold"/>
              </a:rPr>
              <a:t>Tiến sĩ Giản Tư Trung</a:t>
            </a:r>
            <a:endParaRPr/>
          </a:p>
        </p:txBody>
      </p:sp>
      <p:sp>
        <p:nvSpPr>
          <p:cNvPr id="261" name="Google Shape;261;p20"/>
          <p:cNvSpPr txBox="1"/>
          <p:nvPr/>
        </p:nvSpPr>
        <p:spPr>
          <a:xfrm>
            <a:off x="4633912" y="3756868"/>
            <a:ext cx="2924100" cy="323100"/>
          </a:xfrm>
          <a:prstGeom prst="rect">
            <a:avLst/>
          </a:prstGeom>
          <a:solidFill>
            <a:srgbClr val="FFFFFF"/>
          </a:solid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718096"/>
                </a:solidFill>
                <a:latin typeface="Inter"/>
                <a:ea typeface="Inter"/>
                <a:cs typeface="Inter"/>
                <a:sym typeface="Inter"/>
              </a:rPr>
              <a:t>Nhà giáo dục - Tác giả cuốn sách "Đúng Việc"</a:t>
            </a:r>
            <a:endParaRPr/>
          </a:p>
        </p:txBody>
      </p:sp>
      <p:sp>
        <p:nvSpPr>
          <p:cNvPr id="262" name="Google Shape;262;p20"/>
          <p:cNvSpPr txBox="1"/>
          <p:nvPr/>
        </p:nvSpPr>
        <p:spPr>
          <a:xfrm>
            <a:off x="1809750" y="1813768"/>
            <a:ext cx="338400" cy="0"/>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0" lang="en-US" sz="6000" u="none" cap="none" strike="noStrike">
                <a:solidFill>
                  <a:srgbClr val="FF9900"/>
                </a:solidFill>
                <a:latin typeface="Geo"/>
                <a:ea typeface="Geo"/>
                <a:cs typeface="Geo"/>
                <a:sym typeface="Geo"/>
              </a:rPr>
              <a:t>“</a:t>
            </a:r>
            <a:endParaRPr/>
          </a:p>
        </p:txBody>
      </p:sp>
      <p:sp>
        <p:nvSpPr>
          <p:cNvPr id="263" name="Google Shape;263;p20"/>
          <p:cNvSpPr txBox="1"/>
          <p:nvPr/>
        </p:nvSpPr>
        <p:spPr>
          <a:xfrm>
            <a:off x="10043960" y="3223468"/>
            <a:ext cx="338400" cy="0"/>
          </a:xfrm>
          <a:prstGeom prst="rect">
            <a:avLst/>
          </a:prstGeom>
          <a:noFill/>
          <a:ln>
            <a:noFill/>
          </a:ln>
        </p:spPr>
        <p:txBody>
          <a:bodyPr anchorCtr="0" anchor="t" bIns="0" lIns="0" spcFirstLastPara="1" rIns="0" wrap="square" tIns="0">
            <a:noAutofit/>
          </a:bodyPr>
          <a:lstStyle/>
          <a:p>
            <a:pPr indent="0" lvl="0" marL="0" marR="0" rtl="0" algn="l">
              <a:lnSpc>
                <a:spcPct val="0"/>
              </a:lnSpc>
              <a:spcBef>
                <a:spcPts val="0"/>
              </a:spcBef>
              <a:spcAft>
                <a:spcPts val="0"/>
              </a:spcAft>
              <a:buNone/>
            </a:pPr>
            <a:r>
              <a:rPr b="0" i="0" lang="en-US" sz="6000" u="none" cap="none" strike="noStrike">
                <a:solidFill>
                  <a:srgbClr val="FF9900"/>
                </a:solidFill>
                <a:latin typeface="Geo"/>
                <a:ea typeface="Geo"/>
                <a:cs typeface="Geo"/>
                <a:sym typeface="Geo"/>
              </a:rPr>
              <a:t>”</a:t>
            </a:r>
            <a:endParaRPr/>
          </a:p>
        </p:txBody>
      </p:sp>
      <p:sp>
        <p:nvSpPr>
          <p:cNvPr id="264" name="Google Shape;264;p20"/>
          <p:cNvSpPr txBox="1"/>
          <p:nvPr/>
        </p:nvSpPr>
        <p:spPr>
          <a:xfrm>
            <a:off x="2009775" y="4547443"/>
            <a:ext cx="3719400" cy="939900"/>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1" i="0" lang="en-US" sz="1175" u="none" cap="none" strike="noStrike">
                <a:solidFill>
                  <a:srgbClr val="FF9900"/>
                </a:solidFill>
                <a:latin typeface="Inter"/>
                <a:ea typeface="Inter"/>
                <a:cs typeface="Inter"/>
                <a:sym typeface="Inter"/>
              </a:rPr>
              <a:t>Văn hóa No-Blame Post-Mortem (MNC Tech):</a:t>
            </a:r>
            <a:r>
              <a:rPr b="0" i="0" lang="en-US" sz="1175" u="none" cap="none" strike="noStrike">
                <a:solidFill>
                  <a:srgbClr val="4A5568"/>
                </a:solidFill>
                <a:latin typeface="Inter"/>
                <a:ea typeface="Inter"/>
                <a:cs typeface="Inter"/>
                <a:sym typeface="Inter"/>
              </a:rPr>
              <a:t> Khi xảy ra lỗi hệ thống nghiêm trọng, các kỹ sư tập trung tìm nguyên nhân cốt rễ để sửa đổi hệ thống thay vì đổ lỗi cho cá nhân.</a:t>
            </a:r>
            <a:endParaRPr sz="1600"/>
          </a:p>
        </p:txBody>
      </p:sp>
      <p:sp>
        <p:nvSpPr>
          <p:cNvPr id="265" name="Google Shape;265;p20"/>
          <p:cNvSpPr txBox="1"/>
          <p:nvPr/>
        </p:nvSpPr>
        <p:spPr>
          <a:xfrm>
            <a:off x="6462712" y="4547443"/>
            <a:ext cx="3719400" cy="939900"/>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1" i="0" lang="en-US" sz="1175" u="none" cap="none" strike="noStrike">
                <a:solidFill>
                  <a:srgbClr val="FF9900"/>
                </a:solidFill>
                <a:latin typeface="Inter"/>
                <a:ea typeface="Inter"/>
                <a:cs typeface="Inter"/>
                <a:sym typeface="Inter"/>
              </a:rPr>
              <a:t>Văn hóa Caring &amp; Inclusive (MNC FMCG):</a:t>
            </a:r>
            <a:r>
              <a:rPr b="0" i="0" lang="en-US" sz="1175" u="none" cap="none" strike="noStrike">
                <a:solidFill>
                  <a:srgbClr val="4A5568"/>
                </a:solidFill>
                <a:latin typeface="Inter"/>
                <a:ea typeface="Inter"/>
                <a:cs typeface="Inter"/>
                <a:sym typeface="Inter"/>
              </a:rPr>
              <a:t> Đặt con người làm trung tâm của mọi sự phát triển, xây dựng môi trường tôn trọng sự đa dạng và không ngừng cải tiến.</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9" name="Shape 269"/>
        <p:cNvGrpSpPr/>
        <p:nvPr/>
      </p:nvGrpSpPr>
      <p:grpSpPr>
        <a:xfrm>
          <a:off x="0" y="0"/>
          <a:ext cx="0" cy="0"/>
          <a:chOff x="0" y="0"/>
          <a:chExt cx="0" cy="0"/>
        </a:xfrm>
      </p:grpSpPr>
      <p:sp>
        <p:nvSpPr>
          <p:cNvPr id="270" name="Google Shape;270;p21"/>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271" name="Google Shape;271;p21"/>
          <p:cNvPicPr preferRelativeResize="0"/>
          <p:nvPr/>
        </p:nvPicPr>
        <p:blipFill rotWithShape="1">
          <a:blip r:embed="rId4">
            <a:alphaModFix/>
          </a:blip>
          <a:srcRect b="249" l="0" r="0" t="239"/>
          <a:stretch/>
        </p:blipFill>
        <p:spPr>
          <a:xfrm>
            <a:off x="457200" y="6269069"/>
            <a:ext cx="1555800" cy="381000"/>
          </a:xfrm>
          <a:prstGeom prst="rect">
            <a:avLst/>
          </a:prstGeom>
          <a:noFill/>
          <a:ln>
            <a:noFill/>
          </a:ln>
        </p:spPr>
      </p:pic>
      <p:sp>
        <p:nvSpPr>
          <p:cNvPr id="272" name="Google Shape;272;p21"/>
          <p:cNvSpPr txBox="1"/>
          <p:nvPr/>
        </p:nvSpPr>
        <p:spPr>
          <a:xfrm>
            <a:off x="571500" y="38100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900">
                <a:solidFill>
                  <a:srgbClr val="FCA019"/>
                </a:solidFill>
                <a:latin typeface="Arial"/>
                <a:ea typeface="Arial"/>
                <a:cs typeface="Arial"/>
                <a:sym typeface="Arial"/>
              </a:rPr>
              <a:t>BÀI HỌC Á ĐÔNG: TIÊU CHUẨN TOÀN CẦU</a:t>
            </a:r>
            <a:endParaRPr b="1" sz="3900">
              <a:solidFill>
                <a:srgbClr val="FCA019"/>
              </a:solidFill>
              <a:latin typeface="Arial"/>
              <a:ea typeface="Arial"/>
              <a:cs typeface="Arial"/>
              <a:sym typeface="Arial"/>
            </a:endParaRPr>
          </a:p>
        </p:txBody>
      </p:sp>
      <p:sp>
        <p:nvSpPr>
          <p:cNvPr id="273" name="Google Shape;273;p21"/>
          <p:cNvSpPr txBox="1"/>
          <p:nvPr/>
        </p:nvSpPr>
        <p:spPr>
          <a:xfrm>
            <a:off x="1809750" y="1813768"/>
            <a:ext cx="338400" cy="0"/>
          </a:xfrm>
          <a:prstGeom prst="rect">
            <a:avLst/>
          </a:prstGeom>
          <a:noFill/>
          <a:ln>
            <a:noFill/>
          </a:ln>
        </p:spPr>
        <p:txBody>
          <a:bodyPr anchorCtr="0" anchor="t" bIns="0" lIns="0" spcFirstLastPara="1" rIns="0" wrap="square" tIns="0">
            <a:noAutofit/>
          </a:bodyPr>
          <a:lstStyle/>
          <a:p>
            <a:pPr indent="0" lvl="0" marL="0" marR="0" rtl="0" algn="l">
              <a:lnSpc>
                <a:spcPct val="0"/>
              </a:lnSpc>
              <a:spcBef>
                <a:spcPts val="0"/>
              </a:spcBef>
              <a:spcAft>
                <a:spcPts val="0"/>
              </a:spcAft>
              <a:buNone/>
            </a:pPr>
            <a:r>
              <a:rPr b="0" i="0" lang="en-US" sz="6000" u="none" cap="none" strike="noStrike">
                <a:solidFill>
                  <a:srgbClr val="FF9900"/>
                </a:solidFill>
                <a:latin typeface="Geo"/>
                <a:ea typeface="Geo"/>
                <a:cs typeface="Geo"/>
                <a:sym typeface="Geo"/>
              </a:rPr>
              <a:t>“</a:t>
            </a:r>
            <a:endParaRPr/>
          </a:p>
        </p:txBody>
      </p:sp>
      <p:sp>
        <p:nvSpPr>
          <p:cNvPr id="274" name="Google Shape;274;p21"/>
          <p:cNvSpPr txBox="1"/>
          <p:nvPr/>
        </p:nvSpPr>
        <p:spPr>
          <a:xfrm>
            <a:off x="149925" y="1941950"/>
            <a:ext cx="5189100" cy="366600"/>
          </a:xfrm>
          <a:prstGeom prst="rect">
            <a:avLst/>
          </a:prstGeom>
          <a:solidFill>
            <a:srgbClr val="FFFFFF"/>
          </a:solid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382" u="none" cap="none" strike="noStrike">
                <a:solidFill>
                  <a:srgbClr val="232F3E"/>
                </a:solidFill>
                <a:latin typeface="Montserrat"/>
                <a:ea typeface="Montserrat"/>
                <a:cs typeface="Montserrat"/>
                <a:sym typeface="Montserrat"/>
              </a:rPr>
              <a:t>Học Hỏi &amp; Kiến Tạo Tiêu Chuẩn</a:t>
            </a:r>
            <a:endParaRPr sz="1738"/>
          </a:p>
        </p:txBody>
      </p:sp>
      <p:sp>
        <p:nvSpPr>
          <p:cNvPr id="275" name="Google Shape;275;p21"/>
          <p:cNvSpPr/>
          <p:nvPr/>
        </p:nvSpPr>
        <p:spPr>
          <a:xfrm>
            <a:off x="149925" y="2410112"/>
            <a:ext cx="4648200" cy="22500"/>
          </a:xfrm>
          <a:prstGeom prst="rect">
            <a:avLst/>
          </a:prstGeom>
          <a:solidFill>
            <a:srgbClr val="FF9900"/>
          </a:solidFill>
          <a:ln>
            <a:noFill/>
          </a:ln>
        </p:spPr>
        <p:txBody>
          <a:bodyPr anchorCtr="0" anchor="ctr" bIns="53475" lIns="107000" spcFirstLastPara="1" rIns="107000" wrap="square" tIns="53475">
            <a:noAutofit/>
          </a:bodyPr>
          <a:lstStyle/>
          <a:p>
            <a:pPr indent="0" lvl="0" marL="0" marR="0" rtl="0" algn="ctr">
              <a:spcBef>
                <a:spcPts val="0"/>
              </a:spcBef>
              <a:spcAft>
                <a:spcPts val="0"/>
              </a:spcAft>
              <a:buNone/>
            </a:pPr>
            <a:r>
              <a:t/>
            </a:r>
            <a:endParaRPr b="0" i="0" sz="2106" u="none" cap="none" strike="noStrike">
              <a:solidFill>
                <a:srgbClr val="000000"/>
              </a:solidFill>
              <a:latin typeface="Calibri"/>
              <a:ea typeface="Calibri"/>
              <a:cs typeface="Calibri"/>
              <a:sym typeface="Calibri"/>
            </a:endParaRPr>
          </a:p>
        </p:txBody>
      </p:sp>
      <p:sp>
        <p:nvSpPr>
          <p:cNvPr id="276" name="Google Shape;276;p21"/>
          <p:cNvSpPr txBox="1"/>
          <p:nvPr/>
        </p:nvSpPr>
        <p:spPr>
          <a:xfrm>
            <a:off x="149925" y="2655353"/>
            <a:ext cx="7487400" cy="87960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29" u="none" cap="none" strike="noStrike">
                <a:solidFill>
                  <a:srgbClr val="FF9900"/>
                </a:solidFill>
                <a:latin typeface="Inter"/>
                <a:ea typeface="Inter"/>
                <a:cs typeface="Inter"/>
                <a:sym typeface="Inter"/>
              </a:rPr>
              <a:t>Nhật Bản &amp; Wakon Yosai (Hòa hồn Dương tài):</a:t>
            </a:r>
            <a:r>
              <a:rPr b="0" i="0" lang="en-US" sz="1429" u="none" cap="none" strike="noStrike">
                <a:solidFill>
                  <a:srgbClr val="4A5568"/>
                </a:solidFill>
                <a:latin typeface="Inter"/>
                <a:ea typeface="Inter"/>
                <a:cs typeface="Inter"/>
                <a:sym typeface="Inter"/>
              </a:rPr>
              <a:t> Giữ gìn bản sắc và linh hồn Nhật Bản, nhưng chủ động làm chủ kỹ nghệ tiên tiến phương Tây. Đỉnh cao là hệ thống sản xuất Toyota (TPS) định hình lại nền công nghiệp toàn cầu.</a:t>
            </a:r>
            <a:endParaRPr sz="1838"/>
          </a:p>
        </p:txBody>
      </p:sp>
      <p:sp>
        <p:nvSpPr>
          <p:cNvPr id="277" name="Google Shape;277;p21"/>
          <p:cNvSpPr txBox="1"/>
          <p:nvPr/>
        </p:nvSpPr>
        <p:spPr>
          <a:xfrm>
            <a:off x="149925" y="3961529"/>
            <a:ext cx="7487400" cy="87960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29" u="none" cap="none" strike="noStrike">
                <a:solidFill>
                  <a:srgbClr val="FF9900"/>
                </a:solidFill>
                <a:latin typeface="Inter"/>
                <a:ea typeface="Inter"/>
                <a:cs typeface="Inter"/>
                <a:sym typeface="Inter"/>
              </a:rPr>
              <a:t>Hàn Quốc &amp; Kỳ tích sông Hàn:</a:t>
            </a:r>
            <a:r>
              <a:rPr b="0" i="0" lang="en-US" sz="1429" u="none" cap="none" strike="noStrike">
                <a:solidFill>
                  <a:srgbClr val="4A5568"/>
                </a:solidFill>
                <a:latin typeface="Inter"/>
                <a:ea typeface="Inter"/>
                <a:cs typeface="Inter"/>
                <a:sym typeface="Inter"/>
              </a:rPr>
              <a:t> Dưới thời Park Chung-hee, tập trung nguồn lực xây dựng các siêu tập đoàn (Chaebol) hướng ra xuất khẩu, bắt buộc quy trình sản xuất phải tuân thủ nghiêm ngặt các tiêu chuẩn quốc tế khắt khe nhất.</a:t>
            </a:r>
            <a:endParaRPr sz="1838"/>
          </a:p>
        </p:txBody>
      </p:sp>
      <p:pic>
        <p:nvPicPr>
          <p:cNvPr id="278" name="Google Shape;278;p21"/>
          <p:cNvPicPr preferRelativeResize="0"/>
          <p:nvPr/>
        </p:nvPicPr>
        <p:blipFill>
          <a:blip r:embed="rId5">
            <a:alphaModFix/>
          </a:blip>
          <a:stretch>
            <a:fillRect/>
          </a:stretch>
        </p:blipFill>
        <p:spPr>
          <a:xfrm>
            <a:off x="7831150" y="1539725"/>
            <a:ext cx="4249800" cy="3403500"/>
          </a:xfrm>
          <a:prstGeom prst="roundRect">
            <a:avLst>
              <a:gd fmla="val 16667" name="adj"/>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2" name="Shape 282"/>
        <p:cNvGrpSpPr/>
        <p:nvPr/>
      </p:nvGrpSpPr>
      <p:grpSpPr>
        <a:xfrm>
          <a:off x="0" y="0"/>
          <a:ext cx="0" cy="0"/>
          <a:chOff x="0" y="0"/>
          <a:chExt cx="0" cy="0"/>
        </a:xfrm>
      </p:grpSpPr>
      <p:sp>
        <p:nvSpPr>
          <p:cNvPr id="283" name="Google Shape;283;p22"/>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284" name="Google Shape;284;p22"/>
          <p:cNvPicPr preferRelativeResize="0"/>
          <p:nvPr/>
        </p:nvPicPr>
        <p:blipFill rotWithShape="1">
          <a:blip r:embed="rId4">
            <a:alphaModFix/>
          </a:blip>
          <a:srcRect b="249" l="0" r="0" t="239"/>
          <a:stretch/>
        </p:blipFill>
        <p:spPr>
          <a:xfrm>
            <a:off x="457200" y="6269069"/>
            <a:ext cx="1555800" cy="381000"/>
          </a:xfrm>
          <a:prstGeom prst="rect">
            <a:avLst/>
          </a:prstGeom>
          <a:noFill/>
          <a:ln>
            <a:noFill/>
          </a:ln>
        </p:spPr>
      </p:pic>
      <p:sp>
        <p:nvSpPr>
          <p:cNvPr id="285" name="Google Shape;285;p22"/>
          <p:cNvSpPr txBox="1"/>
          <p:nvPr/>
        </p:nvSpPr>
        <p:spPr>
          <a:xfrm>
            <a:off x="571500" y="38100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900">
                <a:solidFill>
                  <a:srgbClr val="FCA019"/>
                </a:solidFill>
                <a:latin typeface="Arial"/>
                <a:ea typeface="Arial"/>
                <a:cs typeface="Arial"/>
                <a:sym typeface="Arial"/>
              </a:rPr>
              <a:t>HUYẾT MẠCH SỐ VIỆT NAM (1975 - 1997)</a:t>
            </a:r>
            <a:endParaRPr b="1" sz="3900">
              <a:solidFill>
                <a:srgbClr val="FCA019"/>
              </a:solidFill>
              <a:latin typeface="Arial"/>
              <a:ea typeface="Arial"/>
              <a:cs typeface="Arial"/>
              <a:sym typeface="Arial"/>
            </a:endParaRPr>
          </a:p>
        </p:txBody>
      </p:sp>
      <p:pic>
        <p:nvPicPr>
          <p:cNvPr descr="image.png" id="286" name="Google Shape;286;p22"/>
          <p:cNvPicPr preferRelativeResize="0"/>
          <p:nvPr/>
        </p:nvPicPr>
        <p:blipFill rotWithShape="1">
          <a:blip r:embed="rId5">
            <a:alphaModFix/>
          </a:blip>
          <a:srcRect b="0" l="0" r="0" t="0"/>
          <a:stretch/>
        </p:blipFill>
        <p:spPr>
          <a:xfrm>
            <a:off x="1990725" y="2543175"/>
            <a:ext cx="476250" cy="476250"/>
          </a:xfrm>
          <a:prstGeom prst="rect">
            <a:avLst/>
          </a:prstGeom>
          <a:noFill/>
          <a:ln>
            <a:noFill/>
          </a:ln>
        </p:spPr>
      </p:pic>
      <p:pic>
        <p:nvPicPr>
          <p:cNvPr descr="image.png" id="287" name="Google Shape;287;p22"/>
          <p:cNvPicPr preferRelativeResize="0"/>
          <p:nvPr/>
        </p:nvPicPr>
        <p:blipFill rotWithShape="1">
          <a:blip r:embed="rId6">
            <a:alphaModFix/>
          </a:blip>
          <a:srcRect b="0" l="0" r="0" t="0"/>
          <a:stretch/>
        </p:blipFill>
        <p:spPr>
          <a:xfrm>
            <a:off x="571500" y="3209925"/>
            <a:ext cx="3314700" cy="1290075"/>
          </a:xfrm>
          <a:prstGeom prst="rect">
            <a:avLst/>
          </a:prstGeom>
          <a:noFill/>
          <a:ln>
            <a:noFill/>
          </a:ln>
        </p:spPr>
      </p:pic>
      <p:pic>
        <p:nvPicPr>
          <p:cNvPr descr="image.png" id="288" name="Google Shape;288;p22"/>
          <p:cNvPicPr preferRelativeResize="0"/>
          <p:nvPr/>
        </p:nvPicPr>
        <p:blipFill rotWithShape="1">
          <a:blip r:embed="rId7">
            <a:alphaModFix/>
          </a:blip>
          <a:srcRect b="0" l="0" r="0" t="0"/>
          <a:stretch/>
        </p:blipFill>
        <p:spPr>
          <a:xfrm>
            <a:off x="5857875" y="2543175"/>
            <a:ext cx="476250" cy="476250"/>
          </a:xfrm>
          <a:prstGeom prst="rect">
            <a:avLst/>
          </a:prstGeom>
          <a:noFill/>
          <a:ln>
            <a:noFill/>
          </a:ln>
        </p:spPr>
      </p:pic>
      <p:pic>
        <p:nvPicPr>
          <p:cNvPr descr="image.png" id="289" name="Google Shape;289;p22"/>
          <p:cNvPicPr preferRelativeResize="0"/>
          <p:nvPr/>
        </p:nvPicPr>
        <p:blipFill rotWithShape="1">
          <a:blip r:embed="rId6">
            <a:alphaModFix/>
          </a:blip>
          <a:srcRect b="0" l="0" r="0" t="0"/>
          <a:stretch/>
        </p:blipFill>
        <p:spPr>
          <a:xfrm>
            <a:off x="4438650" y="3209925"/>
            <a:ext cx="3314700" cy="1290075"/>
          </a:xfrm>
          <a:prstGeom prst="rect">
            <a:avLst/>
          </a:prstGeom>
          <a:noFill/>
          <a:ln>
            <a:noFill/>
          </a:ln>
        </p:spPr>
      </p:pic>
      <p:pic>
        <p:nvPicPr>
          <p:cNvPr descr="image.png" id="290" name="Google Shape;290;p22"/>
          <p:cNvPicPr preferRelativeResize="0"/>
          <p:nvPr/>
        </p:nvPicPr>
        <p:blipFill rotWithShape="1">
          <a:blip r:embed="rId8">
            <a:alphaModFix/>
          </a:blip>
          <a:srcRect b="0" l="0" r="0" t="0"/>
          <a:stretch/>
        </p:blipFill>
        <p:spPr>
          <a:xfrm>
            <a:off x="9725025" y="2543175"/>
            <a:ext cx="476250" cy="476250"/>
          </a:xfrm>
          <a:prstGeom prst="rect">
            <a:avLst/>
          </a:prstGeom>
          <a:noFill/>
          <a:ln>
            <a:noFill/>
          </a:ln>
        </p:spPr>
      </p:pic>
      <p:pic>
        <p:nvPicPr>
          <p:cNvPr descr="image.png" id="291" name="Google Shape;291;p22"/>
          <p:cNvPicPr preferRelativeResize="0"/>
          <p:nvPr/>
        </p:nvPicPr>
        <p:blipFill rotWithShape="1">
          <a:blip r:embed="rId6">
            <a:alphaModFix/>
          </a:blip>
          <a:srcRect b="0" l="0" r="0" t="0"/>
          <a:stretch/>
        </p:blipFill>
        <p:spPr>
          <a:xfrm>
            <a:off x="8305800" y="3209925"/>
            <a:ext cx="3314700" cy="1290075"/>
          </a:xfrm>
          <a:prstGeom prst="rect">
            <a:avLst/>
          </a:prstGeom>
          <a:noFill/>
          <a:ln>
            <a:noFill/>
          </a:ln>
        </p:spPr>
      </p:pic>
      <p:sp>
        <p:nvSpPr>
          <p:cNvPr id="292" name="Google Shape;292;p22"/>
          <p:cNvSpPr txBox="1"/>
          <p:nvPr/>
        </p:nvSpPr>
        <p:spPr>
          <a:xfrm>
            <a:off x="648652" y="3362325"/>
            <a:ext cx="3160500" cy="204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25" u="none" cap="none" strike="noStrike">
                <a:solidFill>
                  <a:srgbClr val="232F3E"/>
                </a:solidFill>
                <a:latin typeface="Montserrat"/>
                <a:ea typeface="Montserrat"/>
                <a:cs typeface="Montserrat"/>
                <a:sym typeface="Montserrat"/>
              </a:rPr>
              <a:t>1975 - 1986: Cô Lập</a:t>
            </a:r>
            <a:endParaRPr sz="1600"/>
          </a:p>
        </p:txBody>
      </p:sp>
      <p:sp>
        <p:nvSpPr>
          <p:cNvPr id="293" name="Google Shape;293;p22"/>
          <p:cNvSpPr txBox="1"/>
          <p:nvPr/>
        </p:nvSpPr>
        <p:spPr>
          <a:xfrm>
            <a:off x="723900" y="3619500"/>
            <a:ext cx="3009900" cy="643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00" u="none" cap="none" strike="noStrike">
                <a:solidFill>
                  <a:srgbClr val="718096"/>
                </a:solidFill>
                <a:latin typeface="Inter"/>
                <a:ea typeface="Inter"/>
                <a:cs typeface="Inter"/>
                <a:sym typeface="Inter"/>
              </a:rPr>
              <a:t>Bao vây cấm vận toàn diện. Nền kinh tế tem phiếu, lạm phát phi mã. Logistics chỉ là phân phát hàng hóa nội bộ thủ công.</a:t>
            </a:r>
            <a:endParaRPr sz="1600"/>
          </a:p>
        </p:txBody>
      </p:sp>
      <p:sp>
        <p:nvSpPr>
          <p:cNvPr id="294" name="Google Shape;294;p22"/>
          <p:cNvSpPr txBox="1"/>
          <p:nvPr/>
        </p:nvSpPr>
        <p:spPr>
          <a:xfrm>
            <a:off x="4515802" y="3362325"/>
            <a:ext cx="3160500" cy="204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25" u="none" cap="none" strike="noStrike">
                <a:solidFill>
                  <a:srgbClr val="232F3E"/>
                </a:solidFill>
                <a:latin typeface="Montserrat"/>
                <a:ea typeface="Montserrat"/>
                <a:cs typeface="Montserrat"/>
                <a:sym typeface="Montserrat"/>
              </a:rPr>
              <a:t>1986 - 1995: Đổi Mới &amp; Phá Băng</a:t>
            </a:r>
            <a:endParaRPr sz="1600"/>
          </a:p>
        </p:txBody>
      </p:sp>
      <p:sp>
        <p:nvSpPr>
          <p:cNvPr id="295" name="Google Shape;295;p22"/>
          <p:cNvSpPr txBox="1"/>
          <p:nvPr/>
        </p:nvSpPr>
        <p:spPr>
          <a:xfrm>
            <a:off x="4591050" y="3619500"/>
            <a:ext cx="3009900" cy="88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00" u="none" cap="none" strike="noStrike">
                <a:solidFill>
                  <a:srgbClr val="718096"/>
                </a:solidFill>
                <a:latin typeface="Inter"/>
                <a:ea typeface="Inter"/>
                <a:cs typeface="Inter"/>
                <a:sym typeface="Inter"/>
              </a:rPr>
              <a:t>Đổi mới kinh tế mở đường. Đàm phán ngoại giao gỡ nút thắt cấm vận thành công. Ngoại giao chính là hoạt động "Logistics" mở đường đầu tiên.</a:t>
            </a:r>
            <a:endParaRPr sz="1600"/>
          </a:p>
        </p:txBody>
      </p:sp>
      <p:sp>
        <p:nvSpPr>
          <p:cNvPr id="296" name="Google Shape;296;p22"/>
          <p:cNvSpPr txBox="1"/>
          <p:nvPr/>
        </p:nvSpPr>
        <p:spPr>
          <a:xfrm>
            <a:off x="8382952" y="3362325"/>
            <a:ext cx="3160500" cy="204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25" u="none" cap="none" strike="noStrike">
                <a:solidFill>
                  <a:srgbClr val="232F3E"/>
                </a:solidFill>
                <a:latin typeface="Montserrat"/>
                <a:ea typeface="Montserrat"/>
                <a:cs typeface="Montserrat"/>
                <a:sym typeface="Montserrat"/>
              </a:rPr>
              <a:t>1997: Internet Gõ Cửa</a:t>
            </a:r>
            <a:endParaRPr sz="1600"/>
          </a:p>
        </p:txBody>
      </p:sp>
      <p:sp>
        <p:nvSpPr>
          <p:cNvPr id="297" name="Google Shape;297;p22"/>
          <p:cNvSpPr txBox="1"/>
          <p:nvPr/>
        </p:nvSpPr>
        <p:spPr>
          <a:xfrm>
            <a:off x="8458200" y="3619500"/>
            <a:ext cx="3009900" cy="643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00" u="none" cap="none" strike="noStrike">
                <a:solidFill>
                  <a:srgbClr val="718096"/>
                </a:solidFill>
                <a:latin typeface="Inter"/>
                <a:ea typeface="Inter"/>
                <a:cs typeface="Inter"/>
                <a:sym typeface="Inter"/>
              </a:rPr>
              <a:t>Ngày 19/11/1997, Việt Nam chính thức kết nối Internet toàn cầu. Khai thông dòng chảy tri thức số cho toàn dân tộc.</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1" name="Shape 301"/>
        <p:cNvGrpSpPr/>
        <p:nvPr/>
      </p:nvGrpSpPr>
      <p:grpSpPr>
        <a:xfrm>
          <a:off x="0" y="0"/>
          <a:ext cx="0" cy="0"/>
          <a:chOff x="0" y="0"/>
          <a:chExt cx="0" cy="0"/>
        </a:xfrm>
      </p:grpSpPr>
      <p:sp>
        <p:nvSpPr>
          <p:cNvPr id="302" name="Google Shape;302;p23"/>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303" name="Google Shape;303;p23"/>
          <p:cNvPicPr preferRelativeResize="0"/>
          <p:nvPr/>
        </p:nvPicPr>
        <p:blipFill rotWithShape="1">
          <a:blip r:embed="rId4">
            <a:alphaModFix/>
          </a:blip>
          <a:srcRect b="249" l="0" r="0" t="239"/>
          <a:stretch/>
        </p:blipFill>
        <p:spPr>
          <a:xfrm>
            <a:off x="457200" y="6269069"/>
            <a:ext cx="1555800" cy="381000"/>
          </a:xfrm>
          <a:prstGeom prst="rect">
            <a:avLst/>
          </a:prstGeom>
          <a:noFill/>
          <a:ln>
            <a:noFill/>
          </a:ln>
        </p:spPr>
      </p:pic>
      <p:sp>
        <p:nvSpPr>
          <p:cNvPr id="304" name="Google Shape;304;p23"/>
          <p:cNvSpPr txBox="1"/>
          <p:nvPr/>
        </p:nvSpPr>
        <p:spPr>
          <a:xfrm>
            <a:off x="571500" y="38100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900">
                <a:solidFill>
                  <a:srgbClr val="FCA019"/>
                </a:solidFill>
                <a:latin typeface="Arial"/>
                <a:ea typeface="Arial"/>
                <a:cs typeface="Arial"/>
                <a:sym typeface="Arial"/>
              </a:rPr>
              <a:t>KỶ NGUYÊN FDI, CHUỖI CUNG ỨNG &amp; CÔNG XƯỞNG SỐ</a:t>
            </a:r>
            <a:endParaRPr b="1" sz="3900">
              <a:solidFill>
                <a:srgbClr val="FCA019"/>
              </a:solidFill>
              <a:latin typeface="Arial"/>
              <a:ea typeface="Arial"/>
              <a:cs typeface="Arial"/>
              <a:sym typeface="Arial"/>
            </a:endParaRPr>
          </a:p>
        </p:txBody>
      </p:sp>
      <p:sp>
        <p:nvSpPr>
          <p:cNvPr id="305" name="Google Shape;305;p23"/>
          <p:cNvSpPr txBox="1"/>
          <p:nvPr/>
        </p:nvSpPr>
        <p:spPr>
          <a:xfrm>
            <a:off x="683325" y="1941950"/>
            <a:ext cx="6790800" cy="289800"/>
          </a:xfrm>
          <a:prstGeom prst="rect">
            <a:avLst/>
          </a:prstGeom>
          <a:solidFill>
            <a:srgbClr val="FFFFFF"/>
          </a:solid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82">
                <a:solidFill>
                  <a:srgbClr val="232F3E"/>
                </a:solidFill>
                <a:latin typeface="Montserrat"/>
                <a:ea typeface="Montserrat"/>
                <a:cs typeface="Montserrat"/>
                <a:sym typeface="Montserrat"/>
              </a:rPr>
              <a:t>CHUỖI DOMINO VẬT LÝ (PRODUCTION &amp; LOGISTICS)</a:t>
            </a:r>
            <a:endParaRPr b="1" sz="2382">
              <a:solidFill>
                <a:srgbClr val="232F3E"/>
              </a:solidFill>
              <a:latin typeface="Montserrat"/>
              <a:ea typeface="Montserrat"/>
              <a:cs typeface="Montserrat"/>
              <a:sym typeface="Montserrat"/>
            </a:endParaRPr>
          </a:p>
        </p:txBody>
      </p:sp>
      <p:sp>
        <p:nvSpPr>
          <p:cNvPr id="306" name="Google Shape;306;p23"/>
          <p:cNvSpPr/>
          <p:nvPr/>
        </p:nvSpPr>
        <p:spPr>
          <a:xfrm>
            <a:off x="683325" y="2410101"/>
            <a:ext cx="7487400" cy="43800"/>
          </a:xfrm>
          <a:prstGeom prst="rect">
            <a:avLst/>
          </a:prstGeom>
          <a:solidFill>
            <a:srgbClr val="FF9900"/>
          </a:solidFill>
          <a:ln>
            <a:noFill/>
          </a:ln>
        </p:spPr>
        <p:txBody>
          <a:bodyPr anchorCtr="0" anchor="ctr" bIns="53475" lIns="107000" spcFirstLastPara="1" rIns="107000" wrap="square" tIns="53475">
            <a:noAutofit/>
          </a:bodyPr>
          <a:lstStyle/>
          <a:p>
            <a:pPr indent="0" lvl="0" marL="0" marR="0" rtl="0" algn="ctr">
              <a:spcBef>
                <a:spcPts val="0"/>
              </a:spcBef>
              <a:spcAft>
                <a:spcPts val="0"/>
              </a:spcAft>
              <a:buNone/>
            </a:pPr>
            <a:r>
              <a:t/>
            </a:r>
            <a:endParaRPr b="0" i="0" sz="2106" u="none" cap="none" strike="noStrike">
              <a:solidFill>
                <a:srgbClr val="000000"/>
              </a:solidFill>
              <a:latin typeface="Calibri"/>
              <a:ea typeface="Calibri"/>
              <a:cs typeface="Calibri"/>
              <a:sym typeface="Calibri"/>
            </a:endParaRPr>
          </a:p>
        </p:txBody>
      </p:sp>
      <p:sp>
        <p:nvSpPr>
          <p:cNvPr id="307" name="Google Shape;307;p23"/>
          <p:cNvSpPr txBox="1"/>
          <p:nvPr/>
        </p:nvSpPr>
        <p:spPr>
          <a:xfrm>
            <a:off x="683325" y="2655353"/>
            <a:ext cx="7487400" cy="38910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529">
                <a:solidFill>
                  <a:srgbClr val="FF9900"/>
                </a:solidFill>
                <a:latin typeface="Inter"/>
                <a:ea typeface="Inter"/>
                <a:cs typeface="Inter"/>
                <a:sym typeface="Inter"/>
              </a:rPr>
              <a:t>WTO/FTA → FDI → Production → Logistics</a:t>
            </a:r>
            <a:endParaRPr sz="2938"/>
          </a:p>
        </p:txBody>
      </p:sp>
      <p:sp>
        <p:nvSpPr>
          <p:cNvPr id="308" name="Google Shape;308;p23"/>
          <p:cNvSpPr txBox="1"/>
          <p:nvPr/>
        </p:nvSpPr>
        <p:spPr>
          <a:xfrm>
            <a:off x="683325" y="3770750"/>
            <a:ext cx="6790800" cy="289800"/>
          </a:xfrm>
          <a:prstGeom prst="rect">
            <a:avLst/>
          </a:prstGeom>
          <a:solidFill>
            <a:srgbClr val="FFFFFF"/>
          </a:solid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82">
                <a:solidFill>
                  <a:srgbClr val="232F3E"/>
                </a:solidFill>
                <a:latin typeface="Montserrat"/>
                <a:ea typeface="Montserrat"/>
                <a:cs typeface="Montserrat"/>
                <a:sym typeface="Montserrat"/>
              </a:rPr>
              <a:t>CHUỖI DOMINO KỸ THUẬT SỐ (DIGITAL FACTORY)</a:t>
            </a:r>
            <a:endParaRPr b="1" sz="1882">
              <a:solidFill>
                <a:srgbClr val="232F3E"/>
              </a:solidFill>
              <a:latin typeface="Montserrat"/>
              <a:ea typeface="Montserrat"/>
              <a:cs typeface="Montserrat"/>
              <a:sym typeface="Montserrat"/>
            </a:endParaRPr>
          </a:p>
        </p:txBody>
      </p:sp>
      <p:sp>
        <p:nvSpPr>
          <p:cNvPr id="309" name="Google Shape;309;p23"/>
          <p:cNvSpPr/>
          <p:nvPr/>
        </p:nvSpPr>
        <p:spPr>
          <a:xfrm>
            <a:off x="683325" y="4238901"/>
            <a:ext cx="7487400" cy="43800"/>
          </a:xfrm>
          <a:prstGeom prst="rect">
            <a:avLst/>
          </a:prstGeom>
          <a:solidFill>
            <a:srgbClr val="FF9900"/>
          </a:solidFill>
          <a:ln>
            <a:noFill/>
          </a:ln>
        </p:spPr>
        <p:txBody>
          <a:bodyPr anchorCtr="0" anchor="ctr" bIns="53475" lIns="107000" spcFirstLastPara="1" rIns="107000" wrap="square" tIns="53475">
            <a:noAutofit/>
          </a:bodyPr>
          <a:lstStyle/>
          <a:p>
            <a:pPr indent="0" lvl="0" marL="0" marR="0" rtl="0" algn="ctr">
              <a:spcBef>
                <a:spcPts val="0"/>
              </a:spcBef>
              <a:spcAft>
                <a:spcPts val="0"/>
              </a:spcAft>
              <a:buNone/>
            </a:pPr>
            <a:r>
              <a:t/>
            </a:r>
            <a:endParaRPr b="0" i="0" sz="2106" u="none" cap="none" strike="noStrike">
              <a:solidFill>
                <a:srgbClr val="000000"/>
              </a:solidFill>
              <a:latin typeface="Calibri"/>
              <a:ea typeface="Calibri"/>
              <a:cs typeface="Calibri"/>
              <a:sym typeface="Calibri"/>
            </a:endParaRPr>
          </a:p>
        </p:txBody>
      </p:sp>
      <p:sp>
        <p:nvSpPr>
          <p:cNvPr id="310" name="Google Shape;310;p23"/>
          <p:cNvSpPr txBox="1"/>
          <p:nvPr/>
        </p:nvSpPr>
        <p:spPr>
          <a:xfrm>
            <a:off x="683325" y="4484153"/>
            <a:ext cx="7487400" cy="35850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329">
                <a:solidFill>
                  <a:srgbClr val="FF9900"/>
                </a:solidFill>
                <a:latin typeface="Inter"/>
                <a:ea typeface="Inter"/>
                <a:cs typeface="Inter"/>
                <a:sym typeface="Inter"/>
              </a:rPr>
              <a:t>4G/Broadband → Smartphone → Startups → Cloud</a:t>
            </a:r>
            <a:endParaRPr sz="2738"/>
          </a:p>
        </p:txBody>
      </p:sp>
      <p:pic>
        <p:nvPicPr>
          <p:cNvPr descr="image.png" id="311" name="Google Shape;311;p23"/>
          <p:cNvPicPr preferRelativeResize="0"/>
          <p:nvPr/>
        </p:nvPicPr>
        <p:blipFill rotWithShape="1">
          <a:blip r:embed="rId5">
            <a:alphaModFix/>
          </a:blip>
          <a:srcRect b="0" l="0" r="0" t="0"/>
          <a:stretch/>
        </p:blipFill>
        <p:spPr>
          <a:xfrm>
            <a:off x="8367023" y="1941947"/>
            <a:ext cx="3729362" cy="2710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5" name="Shape 315"/>
        <p:cNvGrpSpPr/>
        <p:nvPr/>
      </p:nvGrpSpPr>
      <p:grpSpPr>
        <a:xfrm>
          <a:off x="0" y="0"/>
          <a:ext cx="0" cy="0"/>
          <a:chOff x="0" y="0"/>
          <a:chExt cx="0" cy="0"/>
        </a:xfrm>
      </p:grpSpPr>
      <p:sp>
        <p:nvSpPr>
          <p:cNvPr id="316" name="Google Shape;316;p24"/>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317" name="Google Shape;317;p24"/>
          <p:cNvPicPr preferRelativeResize="0"/>
          <p:nvPr/>
        </p:nvPicPr>
        <p:blipFill rotWithShape="1">
          <a:blip r:embed="rId4">
            <a:alphaModFix/>
          </a:blip>
          <a:srcRect b="249" l="0" r="0" t="239"/>
          <a:stretch/>
        </p:blipFill>
        <p:spPr>
          <a:xfrm>
            <a:off x="457200" y="6269069"/>
            <a:ext cx="1555800" cy="381000"/>
          </a:xfrm>
          <a:prstGeom prst="rect">
            <a:avLst/>
          </a:prstGeom>
          <a:noFill/>
          <a:ln>
            <a:noFill/>
          </a:ln>
        </p:spPr>
      </p:pic>
      <p:sp>
        <p:nvSpPr>
          <p:cNvPr id="318" name="Google Shape;318;p24"/>
          <p:cNvSpPr txBox="1"/>
          <p:nvPr/>
        </p:nvSpPr>
        <p:spPr>
          <a:xfrm>
            <a:off x="571500" y="38100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900">
                <a:solidFill>
                  <a:srgbClr val="FCA019"/>
                </a:solidFill>
                <a:latin typeface="Arial"/>
                <a:ea typeface="Arial"/>
                <a:cs typeface="Arial"/>
                <a:sym typeface="Arial"/>
              </a:rPr>
              <a:t>NÂNG CẤP CUỘC CHƠI: CODE CHUẨN THẾ GIỚI</a:t>
            </a:r>
            <a:endParaRPr b="1" sz="3900">
              <a:solidFill>
                <a:srgbClr val="FCA019"/>
              </a:solidFill>
              <a:latin typeface="Arial"/>
              <a:ea typeface="Arial"/>
              <a:cs typeface="Arial"/>
              <a:sym typeface="Arial"/>
            </a:endParaRPr>
          </a:p>
        </p:txBody>
      </p:sp>
      <p:pic>
        <p:nvPicPr>
          <p:cNvPr id="319" name="Google Shape;319;p24"/>
          <p:cNvPicPr preferRelativeResize="0"/>
          <p:nvPr/>
        </p:nvPicPr>
        <p:blipFill>
          <a:blip r:embed="rId5">
            <a:alphaModFix/>
          </a:blip>
          <a:stretch>
            <a:fillRect/>
          </a:stretch>
        </p:blipFill>
        <p:spPr>
          <a:xfrm>
            <a:off x="1315313" y="1336800"/>
            <a:ext cx="9561300" cy="4594800"/>
          </a:xfrm>
          <a:prstGeom prst="roundRect">
            <a:avLst>
              <a:gd fmla="val 16667" name="adj"/>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sp>
        <p:nvSpPr>
          <p:cNvPr id="324" name="Google Shape;324;p25"/>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325" name="Google Shape;325;p25"/>
          <p:cNvPicPr preferRelativeResize="0"/>
          <p:nvPr/>
        </p:nvPicPr>
        <p:blipFill rotWithShape="1">
          <a:blip r:embed="rId4">
            <a:alphaModFix/>
          </a:blip>
          <a:srcRect b="249" l="0" r="0" t="239"/>
          <a:stretch/>
        </p:blipFill>
        <p:spPr>
          <a:xfrm>
            <a:off x="457200" y="6269069"/>
            <a:ext cx="1555800" cy="381000"/>
          </a:xfrm>
          <a:prstGeom prst="rect">
            <a:avLst/>
          </a:prstGeom>
          <a:noFill/>
          <a:ln>
            <a:noFill/>
          </a:ln>
        </p:spPr>
      </p:pic>
      <p:sp>
        <p:nvSpPr>
          <p:cNvPr id="326" name="Google Shape;326;p25"/>
          <p:cNvSpPr txBox="1"/>
          <p:nvPr/>
        </p:nvSpPr>
        <p:spPr>
          <a:xfrm>
            <a:off x="571500" y="38100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900">
                <a:solidFill>
                  <a:srgbClr val="FCA019"/>
                </a:solidFill>
                <a:latin typeface="Arial"/>
                <a:ea typeface="Arial"/>
                <a:cs typeface="Arial"/>
                <a:sym typeface="Arial"/>
              </a:rPr>
              <a:t>CHÌA KHÓA BẢN THÂN: JÜRGEN HABERMAS</a:t>
            </a:r>
            <a:endParaRPr b="1" sz="3900">
              <a:solidFill>
                <a:srgbClr val="FCA019"/>
              </a:solidFill>
              <a:latin typeface="Arial"/>
              <a:ea typeface="Arial"/>
              <a:cs typeface="Arial"/>
              <a:sym typeface="Arial"/>
            </a:endParaRPr>
          </a:p>
          <a:p>
            <a:pPr indent="0" lvl="0" marL="0" rtl="0" algn="l">
              <a:spcBef>
                <a:spcPts val="0"/>
              </a:spcBef>
              <a:spcAft>
                <a:spcPts val="0"/>
              </a:spcAft>
              <a:buNone/>
            </a:pPr>
            <a:r>
              <a:t/>
            </a:r>
            <a:endParaRPr b="1" sz="3900">
              <a:solidFill>
                <a:srgbClr val="FCA019"/>
              </a:solidFill>
              <a:latin typeface="Arial"/>
              <a:ea typeface="Arial"/>
              <a:cs typeface="Arial"/>
              <a:sym typeface="Arial"/>
            </a:endParaRPr>
          </a:p>
        </p:txBody>
      </p:sp>
      <p:pic>
        <p:nvPicPr>
          <p:cNvPr id="327" name="Google Shape;327;p25"/>
          <p:cNvPicPr preferRelativeResize="0"/>
          <p:nvPr/>
        </p:nvPicPr>
        <p:blipFill>
          <a:blip r:embed="rId5">
            <a:alphaModFix/>
          </a:blip>
          <a:stretch>
            <a:fillRect/>
          </a:stretch>
        </p:blipFill>
        <p:spPr>
          <a:xfrm>
            <a:off x="2761475" y="1385275"/>
            <a:ext cx="6255600" cy="4745400"/>
          </a:xfrm>
          <a:prstGeom prst="roundRect">
            <a:avLst>
              <a:gd fmla="val 16667" name="adj"/>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1" name="Shape 331"/>
        <p:cNvGrpSpPr/>
        <p:nvPr/>
      </p:nvGrpSpPr>
      <p:grpSpPr>
        <a:xfrm>
          <a:off x="0" y="0"/>
          <a:ext cx="0" cy="0"/>
          <a:chOff x="0" y="0"/>
          <a:chExt cx="0" cy="0"/>
        </a:xfrm>
      </p:grpSpPr>
      <p:sp>
        <p:nvSpPr>
          <p:cNvPr id="332" name="Google Shape;332;p26"/>
          <p:cNvSpPr txBox="1"/>
          <p:nvPr/>
        </p:nvSpPr>
        <p:spPr>
          <a:xfrm>
            <a:off x="2164556" y="6316028"/>
            <a:ext cx="2835000" cy="143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sz="933">
                <a:solidFill>
                  <a:srgbClr val="7F7F7F"/>
                </a:solidFill>
                <a:latin typeface="Play"/>
                <a:ea typeface="Play"/>
                <a:cs typeface="Play"/>
                <a:sym typeface="Play"/>
              </a:rPr>
              <a:t>Amazon Web Services, Inc. or its Affiliates.</a:t>
            </a:r>
            <a:endParaRPr sz="933">
              <a:solidFill>
                <a:srgbClr val="7F7F7F"/>
              </a:solidFill>
              <a:latin typeface="Play"/>
              <a:ea typeface="Play"/>
              <a:cs typeface="Play"/>
              <a:sym typeface="Play"/>
            </a:endParaRPr>
          </a:p>
        </p:txBody>
      </p:sp>
      <p:pic>
        <p:nvPicPr>
          <p:cNvPr id="333" name="Google Shape;333;p26"/>
          <p:cNvPicPr preferRelativeResize="0"/>
          <p:nvPr/>
        </p:nvPicPr>
        <p:blipFill rotWithShape="1">
          <a:blip r:embed="rId4">
            <a:alphaModFix/>
          </a:blip>
          <a:srcRect b="249" l="0" r="0" t="239"/>
          <a:stretch/>
        </p:blipFill>
        <p:spPr>
          <a:xfrm>
            <a:off x="457200" y="6269069"/>
            <a:ext cx="1555800" cy="381000"/>
          </a:xfrm>
          <a:prstGeom prst="rect">
            <a:avLst/>
          </a:prstGeom>
          <a:noFill/>
          <a:ln>
            <a:noFill/>
          </a:ln>
        </p:spPr>
      </p:pic>
      <p:sp>
        <p:nvSpPr>
          <p:cNvPr id="334" name="Google Shape;334;p26"/>
          <p:cNvSpPr txBox="1"/>
          <p:nvPr/>
        </p:nvSpPr>
        <p:spPr>
          <a:xfrm>
            <a:off x="571500" y="38100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400">
                <a:solidFill>
                  <a:srgbClr val="FCA019"/>
                </a:solidFill>
                <a:latin typeface="Arial"/>
                <a:ea typeface="Arial"/>
                <a:cs typeface="Arial"/>
                <a:sym typeface="Arial"/>
              </a:rPr>
              <a:t>TRIẾT LÝ "ĐÚNG VIỆC": LÀM NGƯỜI - NGHỀ - DÂN</a:t>
            </a:r>
            <a:endParaRPr b="1" sz="3400">
              <a:solidFill>
                <a:srgbClr val="FCA019"/>
              </a:solidFill>
              <a:latin typeface="Arial"/>
              <a:ea typeface="Arial"/>
              <a:cs typeface="Arial"/>
              <a:sym typeface="Arial"/>
            </a:endParaRPr>
          </a:p>
        </p:txBody>
      </p:sp>
      <p:pic>
        <p:nvPicPr>
          <p:cNvPr id="335" name="Google Shape;335;p26"/>
          <p:cNvPicPr preferRelativeResize="0"/>
          <p:nvPr/>
        </p:nvPicPr>
        <p:blipFill>
          <a:blip r:embed="rId5">
            <a:alphaModFix/>
          </a:blip>
          <a:stretch>
            <a:fillRect/>
          </a:stretch>
        </p:blipFill>
        <p:spPr>
          <a:xfrm>
            <a:off x="1656413" y="1081425"/>
            <a:ext cx="8879100" cy="5058600"/>
          </a:xfrm>
          <a:prstGeom prst="roundRect">
            <a:avLst>
              <a:gd fmla="val 16667" name="adj"/>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