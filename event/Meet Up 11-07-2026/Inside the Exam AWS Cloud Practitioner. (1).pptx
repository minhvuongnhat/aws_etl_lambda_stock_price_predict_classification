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Bold" charset="1" panose="00000800000000000000"/>
      <p:regular r:id="rId20"/>
    </p:embeddedFont>
    <p:embeddedFont>
      <p:font typeface="Arimo Bold" charset="1" panose="020B0704020202020204"/>
      <p:regular r:id="rId21"/>
    </p:embeddedFont>
    <p:embeddedFont>
      <p:font typeface="Arimo" charset="1" panose="020B0604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7.png" Type="http://schemas.openxmlformats.org/officeDocument/2006/relationships/image"/><Relationship Id="rId4" Target="../media/image2.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7.png" Type="http://schemas.openxmlformats.org/officeDocument/2006/relationships/image"/><Relationship Id="rId4" Target="../media/image2.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7.png" Type="http://schemas.openxmlformats.org/officeDocument/2006/relationships/image"/><Relationship Id="rId4" Target="../media/image2.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7.png" Type="http://schemas.openxmlformats.org/officeDocument/2006/relationships/image"/><Relationship Id="rId4" Target="../media/image2.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Freeform 2" id="2"/>
          <p:cNvSpPr/>
          <p:nvPr/>
        </p:nvSpPr>
        <p:spPr>
          <a:xfrm flipH="false" flipV="false" rot="0">
            <a:off x="8211734" y="4006602"/>
            <a:ext cx="12058365" cy="12560797"/>
          </a:xfrm>
          <a:custGeom>
            <a:avLst/>
            <a:gdLst/>
            <a:ahLst/>
            <a:cxnLst/>
            <a:rect r="r" b="b" t="t" l="l"/>
            <a:pathLst>
              <a:path h="12560797" w="12058365">
                <a:moveTo>
                  <a:pt x="0" y="0"/>
                </a:moveTo>
                <a:lnTo>
                  <a:pt x="12058365" y="0"/>
                </a:lnTo>
                <a:lnTo>
                  <a:pt x="12058365" y="12560796"/>
                </a:lnTo>
                <a:lnTo>
                  <a:pt x="0" y="12560796"/>
                </a:lnTo>
                <a:lnTo>
                  <a:pt x="0" y="0"/>
                </a:lnTo>
                <a:close/>
              </a:path>
            </a:pathLst>
          </a:custGeom>
          <a:blipFill>
            <a:blip r:embed="rId2"/>
            <a:stretch>
              <a:fillRect l="0" t="0" r="0" b="0"/>
            </a:stretch>
          </a:blipFill>
        </p:spPr>
      </p:sp>
      <p:sp>
        <p:nvSpPr>
          <p:cNvPr name="Freeform 3" id="3"/>
          <p:cNvSpPr/>
          <p:nvPr/>
        </p:nvSpPr>
        <p:spPr>
          <a:xfrm flipH="true" flipV="false" rot="0">
            <a:off x="-1982099" y="4006602"/>
            <a:ext cx="12058365" cy="12560797"/>
          </a:xfrm>
          <a:custGeom>
            <a:avLst/>
            <a:gdLst/>
            <a:ahLst/>
            <a:cxnLst/>
            <a:rect r="r" b="b" t="t" l="l"/>
            <a:pathLst>
              <a:path h="12560797" w="12058365">
                <a:moveTo>
                  <a:pt x="12058365" y="0"/>
                </a:moveTo>
                <a:lnTo>
                  <a:pt x="0" y="0"/>
                </a:lnTo>
                <a:lnTo>
                  <a:pt x="0" y="12560796"/>
                </a:lnTo>
                <a:lnTo>
                  <a:pt x="12058365" y="12560796"/>
                </a:lnTo>
                <a:lnTo>
                  <a:pt x="12058365" y="0"/>
                </a:lnTo>
                <a:close/>
              </a:path>
            </a:pathLst>
          </a:custGeom>
          <a:blipFill>
            <a:blip r:embed="rId2"/>
            <a:stretch>
              <a:fillRect l="0" t="0" r="0" b="0"/>
            </a:stretch>
          </a:blipFill>
        </p:spPr>
      </p:sp>
      <p:sp>
        <p:nvSpPr>
          <p:cNvPr name="TextBox 4" id="4"/>
          <p:cNvSpPr txBox="true"/>
          <p:nvPr/>
        </p:nvSpPr>
        <p:spPr>
          <a:xfrm rot="0">
            <a:off x="3753330" y="4058508"/>
            <a:ext cx="10781341" cy="4086225"/>
          </a:xfrm>
          <a:prstGeom prst="rect">
            <a:avLst/>
          </a:prstGeom>
        </p:spPr>
        <p:txBody>
          <a:bodyPr anchor="t" rtlCol="false" tIns="0" lIns="0" bIns="0" rIns="0">
            <a:spAutoFit/>
          </a:bodyPr>
          <a:lstStyle/>
          <a:p>
            <a:pPr algn="ctr">
              <a:lnSpc>
                <a:spcPts val="7427"/>
              </a:lnSpc>
            </a:pPr>
            <a:r>
              <a:rPr lang="en-US" sz="6189" b="true">
                <a:solidFill>
                  <a:srgbClr val="FFFFFF"/>
                </a:solidFill>
                <a:latin typeface="Montserrat Bold"/>
                <a:ea typeface="Montserrat Bold"/>
                <a:cs typeface="Montserrat Bold"/>
                <a:sym typeface="Montserrat Bold"/>
              </a:rPr>
              <a:t>       Inside The Exam:      </a:t>
            </a:r>
          </a:p>
          <a:p>
            <a:pPr algn="ctr">
              <a:lnSpc>
                <a:spcPts val="7427"/>
              </a:lnSpc>
            </a:pPr>
            <a:r>
              <a:rPr lang="en-US" sz="6189" b="true">
                <a:solidFill>
                  <a:srgbClr val="FFFFFF"/>
                </a:solidFill>
                <a:latin typeface="Montserrat Bold"/>
                <a:ea typeface="Montserrat Bold"/>
                <a:cs typeface="Montserrat Bold"/>
                <a:sym typeface="Montserrat Bold"/>
              </a:rPr>
              <a:t>AWS Cloud Practitioner</a:t>
            </a:r>
          </a:p>
          <a:p>
            <a:pPr algn="ctr">
              <a:lnSpc>
                <a:spcPts val="8627"/>
              </a:lnSpc>
            </a:pPr>
          </a:p>
          <a:p>
            <a:pPr algn="ctr">
              <a:lnSpc>
                <a:spcPts val="8627"/>
              </a:lnSpc>
            </a:pPr>
          </a:p>
        </p:txBody>
      </p:sp>
      <p:grpSp>
        <p:nvGrpSpPr>
          <p:cNvPr name="Group 5" id="5"/>
          <p:cNvGrpSpPr/>
          <p:nvPr/>
        </p:nvGrpSpPr>
        <p:grpSpPr>
          <a:xfrm rot="0">
            <a:off x="-1982099" y="-8919030"/>
            <a:ext cx="22252197" cy="12560797"/>
            <a:chOff x="0" y="0"/>
            <a:chExt cx="29669596" cy="16747729"/>
          </a:xfrm>
        </p:grpSpPr>
        <p:sp>
          <p:nvSpPr>
            <p:cNvPr name="Freeform 6" id="6"/>
            <p:cNvSpPr/>
            <p:nvPr/>
          </p:nvSpPr>
          <p:spPr>
            <a:xfrm flipH="false" flipV="false" rot="0">
              <a:off x="13591777" y="0"/>
              <a:ext cx="16077820" cy="16747729"/>
            </a:xfrm>
            <a:custGeom>
              <a:avLst/>
              <a:gdLst/>
              <a:ahLst/>
              <a:cxnLst/>
              <a:rect r="r" b="b" t="t" l="l"/>
              <a:pathLst>
                <a:path h="16747729" w="16077820">
                  <a:moveTo>
                    <a:pt x="0" y="0"/>
                  </a:moveTo>
                  <a:lnTo>
                    <a:pt x="16077819" y="0"/>
                  </a:lnTo>
                  <a:lnTo>
                    <a:pt x="16077819" y="16747729"/>
                  </a:lnTo>
                  <a:lnTo>
                    <a:pt x="0" y="16747729"/>
                  </a:lnTo>
                  <a:lnTo>
                    <a:pt x="0" y="0"/>
                  </a:lnTo>
                  <a:close/>
                </a:path>
              </a:pathLst>
            </a:custGeom>
            <a:blipFill>
              <a:blip r:embed="rId2"/>
              <a:stretch>
                <a:fillRect l="0" t="0" r="0" b="0"/>
              </a:stretch>
            </a:blipFill>
          </p:spPr>
        </p:sp>
        <p:sp>
          <p:nvSpPr>
            <p:cNvPr name="Freeform 7" id="7"/>
            <p:cNvSpPr/>
            <p:nvPr/>
          </p:nvSpPr>
          <p:spPr>
            <a:xfrm flipH="true" flipV="false" rot="0">
              <a:off x="0" y="0"/>
              <a:ext cx="16077820" cy="16747729"/>
            </a:xfrm>
            <a:custGeom>
              <a:avLst/>
              <a:gdLst/>
              <a:ahLst/>
              <a:cxnLst/>
              <a:rect r="r" b="b" t="t" l="l"/>
              <a:pathLst>
                <a:path h="16747729" w="16077820">
                  <a:moveTo>
                    <a:pt x="16077820" y="0"/>
                  </a:moveTo>
                  <a:lnTo>
                    <a:pt x="0" y="0"/>
                  </a:lnTo>
                  <a:lnTo>
                    <a:pt x="0" y="16747729"/>
                  </a:lnTo>
                  <a:lnTo>
                    <a:pt x="16077820" y="16747729"/>
                  </a:lnTo>
                  <a:lnTo>
                    <a:pt x="16077820" y="0"/>
                  </a:lnTo>
                  <a:close/>
                </a:path>
              </a:pathLst>
            </a:custGeom>
            <a:blipFill>
              <a:blip r:embed="rId2"/>
              <a:stretch>
                <a:fillRect l="0" t="0" r="0" b="0"/>
              </a:stretch>
            </a:blipFill>
          </p:spPr>
        </p:sp>
      </p:grpSp>
      <p:sp>
        <p:nvSpPr>
          <p:cNvPr name="Freeform 8" id="8"/>
          <p:cNvSpPr/>
          <p:nvPr/>
        </p:nvSpPr>
        <p:spPr>
          <a:xfrm flipH="false" flipV="false" rot="0">
            <a:off x="7562535" y="1862618"/>
            <a:ext cx="3162930" cy="1779148"/>
          </a:xfrm>
          <a:custGeom>
            <a:avLst/>
            <a:gdLst/>
            <a:ahLst/>
            <a:cxnLst/>
            <a:rect r="r" b="b" t="t" l="l"/>
            <a:pathLst>
              <a:path h="1779148" w="3162930">
                <a:moveTo>
                  <a:pt x="0" y="0"/>
                </a:moveTo>
                <a:lnTo>
                  <a:pt x="3162930" y="0"/>
                </a:lnTo>
                <a:lnTo>
                  <a:pt x="3162930" y="1779148"/>
                </a:lnTo>
                <a:lnTo>
                  <a:pt x="0" y="1779148"/>
                </a:lnTo>
                <a:lnTo>
                  <a:pt x="0" y="0"/>
                </a:lnTo>
                <a:close/>
              </a:path>
            </a:pathLst>
          </a:custGeom>
          <a:blipFill>
            <a:blip r:embed="rId3"/>
            <a:stretch>
              <a:fillRect l="0" t="0" r="0" b="0"/>
            </a:stretch>
          </a:blipFill>
        </p:spPr>
      </p:sp>
      <p:sp>
        <p:nvSpPr>
          <p:cNvPr name="TextBox 9" id="9"/>
          <p:cNvSpPr txBox="true"/>
          <p:nvPr/>
        </p:nvSpPr>
        <p:spPr>
          <a:xfrm rot="0">
            <a:off x="1418352" y="7022989"/>
            <a:ext cx="16230600" cy="306705"/>
          </a:xfrm>
          <a:prstGeom prst="rect">
            <a:avLst/>
          </a:prstGeom>
        </p:spPr>
        <p:txBody>
          <a:bodyPr anchor="t" rtlCol="false" tIns="0" lIns="0" bIns="0" rIns="0">
            <a:spAutoFit/>
          </a:bodyPr>
          <a:lstStyle/>
          <a:p>
            <a:pPr algn="ctr">
              <a:lnSpc>
                <a:spcPts val="2520"/>
              </a:lnSpc>
              <a:spcBef>
                <a:spcPct val="0"/>
              </a:spcBef>
            </a:pPr>
            <a:r>
              <a:rPr lang="en-US" b="true" sz="1800" spc="185">
                <a:solidFill>
                  <a:srgbClr val="EF761E"/>
                </a:solidFill>
                <a:latin typeface="Montserrat Bold"/>
                <a:ea typeface="Montserrat Bold"/>
                <a:cs typeface="Montserrat Bold"/>
                <a:sym typeface="Montserrat Bold"/>
              </a:rPr>
              <a:t>A STRATEGIC ROADMAP TO CONQUERING THE AWS CLOUD PRACTITIONER EXAM</a:t>
            </a:r>
          </a:p>
        </p:txBody>
      </p:sp>
      <p:sp>
        <p:nvSpPr>
          <p:cNvPr name="TextBox 10" id="10"/>
          <p:cNvSpPr txBox="true"/>
          <p:nvPr/>
        </p:nvSpPr>
        <p:spPr>
          <a:xfrm rot="0">
            <a:off x="1028700" y="6338315"/>
            <a:ext cx="162306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Arimo Bold"/>
                <a:ea typeface="Arimo Bold"/>
                <a:cs typeface="Arimo Bold"/>
                <a:sym typeface="Arimo Bold"/>
              </a:rPr>
              <a:t>P</a:t>
            </a:r>
            <a:r>
              <a:rPr lang="en-US" b="true" sz="2400">
                <a:solidFill>
                  <a:srgbClr val="FFFFFF"/>
                </a:solidFill>
                <a:latin typeface="Arimo Bold"/>
                <a:ea typeface="Arimo Bold"/>
                <a:cs typeface="Arimo Bold"/>
                <a:sym typeface="Arimo Bold"/>
              </a:rPr>
              <a:t>resented by Ngo Le Tan Huy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sp>
        <p:nvSpPr>
          <p:cNvPr name="Freeform 3" id="3"/>
          <p:cNvSpPr/>
          <p:nvPr/>
        </p:nvSpPr>
        <p:spPr>
          <a:xfrm flipH="false" flipV="false" rot="0">
            <a:off x="-411892" y="4502396"/>
            <a:ext cx="20709924" cy="8229600"/>
          </a:xfrm>
          <a:custGeom>
            <a:avLst/>
            <a:gdLst/>
            <a:ahLst/>
            <a:cxnLst/>
            <a:rect r="r" b="b" t="t" l="l"/>
            <a:pathLst>
              <a:path h="8229600" w="20709924">
                <a:moveTo>
                  <a:pt x="0" y="0"/>
                </a:moveTo>
                <a:lnTo>
                  <a:pt x="20709924" y="0"/>
                </a:lnTo>
                <a:lnTo>
                  <a:pt x="20709924" y="8229600"/>
                </a:lnTo>
                <a:lnTo>
                  <a:pt x="0" y="8229600"/>
                </a:lnTo>
                <a:lnTo>
                  <a:pt x="0" y="0"/>
                </a:lnTo>
                <a:close/>
              </a:path>
            </a:pathLst>
          </a:custGeom>
          <a:blipFill>
            <a:blip r:embed="rId3"/>
            <a:stretch>
              <a:fillRect l="0" t="-20777" r="0" b="-20777"/>
            </a:stretch>
          </a:blipFill>
        </p:spPr>
      </p:sp>
      <p:sp>
        <p:nvSpPr>
          <p:cNvPr name="Freeform 4" id="4"/>
          <p:cNvSpPr/>
          <p:nvPr/>
        </p:nvSpPr>
        <p:spPr>
          <a:xfrm flipH="false" flipV="false" rot="0">
            <a:off x="622746" y="3356033"/>
            <a:ext cx="4424516" cy="4114800"/>
          </a:xfrm>
          <a:custGeom>
            <a:avLst/>
            <a:gdLst/>
            <a:ahLst/>
            <a:cxnLst/>
            <a:rect r="r" b="b" t="t" l="l"/>
            <a:pathLst>
              <a:path h="4114800" w="4424516">
                <a:moveTo>
                  <a:pt x="0" y="0"/>
                </a:moveTo>
                <a:lnTo>
                  <a:pt x="4424516" y="0"/>
                </a:lnTo>
                <a:lnTo>
                  <a:pt x="442451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583959" y="631013"/>
            <a:ext cx="13980832" cy="1177286"/>
          </a:xfrm>
          <a:prstGeom prst="rect">
            <a:avLst/>
          </a:prstGeom>
        </p:spPr>
        <p:txBody>
          <a:bodyPr anchor="t" rtlCol="false" tIns="0" lIns="0" bIns="0" rIns="0">
            <a:spAutoFit/>
          </a:bodyPr>
          <a:lstStyle/>
          <a:p>
            <a:pPr algn="just">
              <a:lnSpc>
                <a:spcPts val="9660"/>
              </a:lnSpc>
              <a:spcBef>
                <a:spcPct val="0"/>
              </a:spcBef>
            </a:pPr>
            <a:r>
              <a:rPr lang="en-US" b="true" sz="6900">
                <a:solidFill>
                  <a:srgbClr val="FFFFFF"/>
                </a:solidFill>
                <a:latin typeface="Montserrat Bold"/>
                <a:ea typeface="Montserrat Bold"/>
                <a:cs typeface="Montserrat Bold"/>
                <a:sym typeface="Montserrat Bold"/>
              </a:rPr>
              <a:t>Overview of Targeted Content</a:t>
            </a:r>
          </a:p>
        </p:txBody>
      </p:sp>
      <p:sp>
        <p:nvSpPr>
          <p:cNvPr name="TextBox 6" id="6"/>
          <p:cNvSpPr txBox="true"/>
          <p:nvPr/>
        </p:nvSpPr>
        <p:spPr>
          <a:xfrm rot="0">
            <a:off x="5924996" y="3498532"/>
            <a:ext cx="10009716" cy="3194685"/>
          </a:xfrm>
          <a:prstGeom prst="rect">
            <a:avLst/>
          </a:prstGeom>
        </p:spPr>
        <p:txBody>
          <a:bodyPr anchor="t" rtlCol="false" tIns="0" lIns="0" bIns="0" rIns="0">
            <a:spAutoFit/>
          </a:bodyPr>
          <a:lstStyle/>
          <a:p>
            <a:pPr algn="just">
              <a:lnSpc>
                <a:spcPts val="5040"/>
              </a:lnSpc>
              <a:spcBef>
                <a:spcPct val="0"/>
              </a:spcBef>
            </a:pPr>
            <a:r>
              <a:rPr lang="en-US" sz="3600">
                <a:solidFill>
                  <a:srgbClr val="FFFFFF"/>
                </a:solidFill>
                <a:latin typeface="Arimo"/>
                <a:ea typeface="Arimo"/>
                <a:cs typeface="Arimo"/>
                <a:sym typeface="Arimo"/>
              </a:rPr>
              <a:t>The AWS Certified Cloud Practitioner (CLF-C02) certification does not require you to know how to code or perform deep system configuration. It is an foundation certification that focuses on the big-picture overview.</a:t>
            </a:r>
          </a:p>
        </p:txBody>
      </p:sp>
      <p:sp>
        <p:nvSpPr>
          <p:cNvPr name="Freeform 7" id="7"/>
          <p:cNvSpPr/>
          <p:nvPr/>
        </p:nvSpPr>
        <p:spPr>
          <a:xfrm flipH="false" flipV="false" rot="0">
            <a:off x="843966" y="687411"/>
            <a:ext cx="2435427" cy="1369928"/>
          </a:xfrm>
          <a:custGeom>
            <a:avLst/>
            <a:gdLst/>
            <a:ahLst/>
            <a:cxnLst/>
            <a:rect r="r" b="b" t="t" l="l"/>
            <a:pathLst>
              <a:path h="1369928" w="2435427">
                <a:moveTo>
                  <a:pt x="0" y="0"/>
                </a:moveTo>
                <a:lnTo>
                  <a:pt x="2435428" y="0"/>
                </a:lnTo>
                <a:lnTo>
                  <a:pt x="2435428" y="1369928"/>
                </a:lnTo>
                <a:lnTo>
                  <a:pt x="0" y="1369928"/>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Freeform 2" id="2"/>
          <p:cNvSpPr/>
          <p:nvPr/>
        </p:nvSpPr>
        <p:spPr>
          <a:xfrm flipH="true" flipV="false" rot="0">
            <a:off x="-1982099" y="6034645"/>
            <a:ext cx="12058365" cy="12560797"/>
          </a:xfrm>
          <a:custGeom>
            <a:avLst/>
            <a:gdLst/>
            <a:ahLst/>
            <a:cxnLst/>
            <a:rect r="r" b="b" t="t" l="l"/>
            <a:pathLst>
              <a:path h="12560797" w="12058365">
                <a:moveTo>
                  <a:pt x="12058365" y="0"/>
                </a:moveTo>
                <a:lnTo>
                  <a:pt x="0" y="0"/>
                </a:lnTo>
                <a:lnTo>
                  <a:pt x="0" y="12560797"/>
                </a:lnTo>
                <a:lnTo>
                  <a:pt x="12058365" y="12560797"/>
                </a:lnTo>
                <a:lnTo>
                  <a:pt x="12058365" y="0"/>
                </a:lnTo>
                <a:close/>
              </a:path>
            </a:pathLst>
          </a:custGeom>
          <a:blipFill>
            <a:blip r:embed="rId2"/>
            <a:stretch>
              <a:fillRect l="0" t="0" r="0" b="0"/>
            </a:stretch>
          </a:blipFill>
        </p:spPr>
      </p:sp>
      <p:sp>
        <p:nvSpPr>
          <p:cNvPr name="Freeform 3" id="3"/>
          <p:cNvSpPr/>
          <p:nvPr/>
        </p:nvSpPr>
        <p:spPr>
          <a:xfrm flipH="false" flipV="true" rot="0">
            <a:off x="8211734" y="-5251698"/>
            <a:ext cx="12058365" cy="12560797"/>
          </a:xfrm>
          <a:custGeom>
            <a:avLst/>
            <a:gdLst/>
            <a:ahLst/>
            <a:cxnLst/>
            <a:rect r="r" b="b" t="t" l="l"/>
            <a:pathLst>
              <a:path h="12560797" w="12058365">
                <a:moveTo>
                  <a:pt x="0" y="12560796"/>
                </a:moveTo>
                <a:lnTo>
                  <a:pt x="12058365" y="12560796"/>
                </a:lnTo>
                <a:lnTo>
                  <a:pt x="12058365" y="0"/>
                </a:lnTo>
                <a:lnTo>
                  <a:pt x="0" y="0"/>
                </a:lnTo>
                <a:lnTo>
                  <a:pt x="0" y="12560796"/>
                </a:lnTo>
                <a:close/>
              </a:path>
            </a:pathLst>
          </a:custGeom>
          <a:blipFill>
            <a:blip r:embed="rId2"/>
            <a:stretch>
              <a:fillRect l="0" t="0" r="0" b="0"/>
            </a:stretch>
          </a:blipFill>
        </p:spPr>
      </p:sp>
      <p:sp>
        <p:nvSpPr>
          <p:cNvPr name="Freeform 4" id="4"/>
          <p:cNvSpPr/>
          <p:nvPr/>
        </p:nvSpPr>
        <p:spPr>
          <a:xfrm flipH="false" flipV="false" rot="0">
            <a:off x="-1920632" y="-5984876"/>
            <a:ext cx="8560822" cy="8229600"/>
          </a:xfrm>
          <a:custGeom>
            <a:avLst/>
            <a:gdLst/>
            <a:ahLst/>
            <a:cxnLst/>
            <a:rect r="r" b="b" t="t" l="l"/>
            <a:pathLst>
              <a:path h="8229600" w="8560822">
                <a:moveTo>
                  <a:pt x="0" y="0"/>
                </a:moveTo>
                <a:lnTo>
                  <a:pt x="8560822" y="0"/>
                </a:lnTo>
                <a:lnTo>
                  <a:pt x="8560822" y="8229600"/>
                </a:lnTo>
                <a:lnTo>
                  <a:pt x="0" y="8229600"/>
                </a:lnTo>
                <a:lnTo>
                  <a:pt x="0" y="0"/>
                </a:lnTo>
                <a:close/>
              </a:path>
            </a:pathLst>
          </a:custGeom>
          <a:blipFill>
            <a:blip r:embed="rId3"/>
            <a:stretch>
              <a:fillRect l="0" t="0" r="0" b="0"/>
            </a:stretch>
          </a:blipFill>
        </p:spPr>
      </p:sp>
      <p:grpSp>
        <p:nvGrpSpPr>
          <p:cNvPr name="Group 5" id="5"/>
          <p:cNvGrpSpPr/>
          <p:nvPr/>
        </p:nvGrpSpPr>
        <p:grpSpPr>
          <a:xfrm rot="0">
            <a:off x="1028700" y="3029951"/>
            <a:ext cx="5007619" cy="3875800"/>
            <a:chOff x="0" y="0"/>
            <a:chExt cx="6676826" cy="5167733"/>
          </a:xfrm>
        </p:grpSpPr>
        <p:sp>
          <p:nvSpPr>
            <p:cNvPr name="Freeform 6" id="6"/>
            <p:cNvSpPr/>
            <p:nvPr/>
          </p:nvSpPr>
          <p:spPr>
            <a:xfrm flipH="false" flipV="false" rot="0">
              <a:off x="0" y="0"/>
              <a:ext cx="6676826" cy="5167733"/>
            </a:xfrm>
            <a:custGeom>
              <a:avLst/>
              <a:gdLst/>
              <a:ahLst/>
              <a:cxnLst/>
              <a:rect r="r" b="b" t="t" l="l"/>
              <a:pathLst>
                <a:path h="5167733" w="6676826">
                  <a:moveTo>
                    <a:pt x="0" y="0"/>
                  </a:moveTo>
                  <a:lnTo>
                    <a:pt x="6676826" y="0"/>
                  </a:lnTo>
                  <a:lnTo>
                    <a:pt x="6676826" y="5167733"/>
                  </a:lnTo>
                  <a:lnTo>
                    <a:pt x="0" y="5167733"/>
                  </a:lnTo>
                  <a:lnTo>
                    <a:pt x="0" y="0"/>
                  </a:lnTo>
                  <a:close/>
                </a:path>
              </a:pathLst>
            </a:custGeom>
            <a:blipFill>
              <a:blip r:embed="rId4"/>
              <a:stretch>
                <a:fillRect l="-10114" t="0" r="-10114" b="0"/>
              </a:stretch>
            </a:blipFill>
          </p:spPr>
        </p:sp>
        <p:sp>
          <p:nvSpPr>
            <p:cNvPr name="TextBox 7" id="7"/>
            <p:cNvSpPr txBox="true"/>
            <p:nvPr/>
          </p:nvSpPr>
          <p:spPr>
            <a:xfrm rot="0">
              <a:off x="429588" y="326067"/>
              <a:ext cx="6247238" cy="1551728"/>
            </a:xfrm>
            <a:prstGeom prst="rect">
              <a:avLst/>
            </a:prstGeom>
          </p:spPr>
          <p:txBody>
            <a:bodyPr anchor="t" rtlCol="false" tIns="0" lIns="0" bIns="0" rIns="0">
              <a:spAutoFit/>
            </a:bodyPr>
            <a:lstStyle/>
            <a:p>
              <a:pPr algn="l">
                <a:lnSpc>
                  <a:spcPts val="4759"/>
                </a:lnSpc>
                <a:spcBef>
                  <a:spcPct val="0"/>
                </a:spcBef>
              </a:pPr>
              <a:r>
                <a:rPr lang="en-US" sz="3399" b="true">
                  <a:solidFill>
                    <a:srgbClr val="EF761E"/>
                  </a:solidFill>
                  <a:latin typeface="Montserrat Bold"/>
                  <a:ea typeface="Montserrat Bold"/>
                  <a:cs typeface="Montserrat Bold"/>
                  <a:sym typeface="Montserrat Bold"/>
                </a:rPr>
                <a:t>Number of questions: 65</a:t>
              </a:r>
            </a:p>
          </p:txBody>
        </p:sp>
        <p:sp>
          <p:nvSpPr>
            <p:cNvPr name="TextBox 8" id="8"/>
            <p:cNvSpPr txBox="true"/>
            <p:nvPr/>
          </p:nvSpPr>
          <p:spPr>
            <a:xfrm rot="0">
              <a:off x="429588" y="2744553"/>
              <a:ext cx="5817649" cy="1055582"/>
            </a:xfrm>
            <a:prstGeom prst="rect">
              <a:avLst/>
            </a:prstGeom>
          </p:spPr>
          <p:txBody>
            <a:bodyPr anchor="t" rtlCol="false" tIns="0" lIns="0" bIns="0" rIns="0">
              <a:spAutoFit/>
            </a:bodyPr>
            <a:lstStyle/>
            <a:p>
              <a:pPr algn="l">
                <a:lnSpc>
                  <a:spcPts val="3219"/>
                </a:lnSpc>
                <a:spcBef>
                  <a:spcPct val="0"/>
                </a:spcBef>
              </a:pPr>
              <a:r>
                <a:rPr lang="en-US" sz="2299" b="true">
                  <a:solidFill>
                    <a:srgbClr val="FFFFFF"/>
                  </a:solidFill>
                  <a:latin typeface="Arimo Bold"/>
                  <a:ea typeface="Arimo Bold"/>
                  <a:cs typeface="Arimo Bold"/>
                  <a:sym typeface="Arimo Bold"/>
                </a:rPr>
                <a:t>Multiple-choice questions (with multiple correct answers).</a:t>
              </a:r>
            </a:p>
          </p:txBody>
        </p:sp>
      </p:grpSp>
      <p:grpSp>
        <p:nvGrpSpPr>
          <p:cNvPr name="Group 9" id="9"/>
          <p:cNvGrpSpPr/>
          <p:nvPr/>
        </p:nvGrpSpPr>
        <p:grpSpPr>
          <a:xfrm rot="0">
            <a:off x="6640190" y="4106213"/>
            <a:ext cx="5007619" cy="4275850"/>
            <a:chOff x="0" y="0"/>
            <a:chExt cx="6676826" cy="5701133"/>
          </a:xfrm>
        </p:grpSpPr>
        <p:sp>
          <p:nvSpPr>
            <p:cNvPr name="Freeform 10" id="10"/>
            <p:cNvSpPr/>
            <p:nvPr/>
          </p:nvSpPr>
          <p:spPr>
            <a:xfrm flipH="false" flipV="false" rot="0">
              <a:off x="0" y="0"/>
              <a:ext cx="6676826" cy="5701133"/>
            </a:xfrm>
            <a:custGeom>
              <a:avLst/>
              <a:gdLst/>
              <a:ahLst/>
              <a:cxnLst/>
              <a:rect r="r" b="b" t="t" l="l"/>
              <a:pathLst>
                <a:path h="5701133" w="6676826">
                  <a:moveTo>
                    <a:pt x="0" y="0"/>
                  </a:moveTo>
                  <a:lnTo>
                    <a:pt x="6676826" y="0"/>
                  </a:lnTo>
                  <a:lnTo>
                    <a:pt x="6676826" y="5701133"/>
                  </a:lnTo>
                  <a:lnTo>
                    <a:pt x="0" y="5701133"/>
                  </a:lnTo>
                  <a:lnTo>
                    <a:pt x="0" y="0"/>
                  </a:lnTo>
                  <a:close/>
                </a:path>
              </a:pathLst>
            </a:custGeom>
            <a:blipFill>
              <a:blip r:embed="rId4"/>
              <a:stretch>
                <a:fillRect l="-16319" t="0" r="-16319" b="0"/>
              </a:stretch>
            </a:blipFill>
          </p:spPr>
        </p:sp>
        <p:sp>
          <p:nvSpPr>
            <p:cNvPr name="TextBox 11" id="11"/>
            <p:cNvSpPr txBox="true"/>
            <p:nvPr/>
          </p:nvSpPr>
          <p:spPr>
            <a:xfrm rot="0">
              <a:off x="429588" y="326067"/>
              <a:ext cx="5817649" cy="1551728"/>
            </a:xfrm>
            <a:prstGeom prst="rect">
              <a:avLst/>
            </a:prstGeom>
          </p:spPr>
          <p:txBody>
            <a:bodyPr anchor="t" rtlCol="false" tIns="0" lIns="0" bIns="0" rIns="0">
              <a:spAutoFit/>
            </a:bodyPr>
            <a:lstStyle/>
            <a:p>
              <a:pPr algn="ctr">
                <a:lnSpc>
                  <a:spcPts val="4759"/>
                </a:lnSpc>
                <a:spcBef>
                  <a:spcPct val="0"/>
                </a:spcBef>
              </a:pPr>
              <a:r>
                <a:rPr lang="en-US" b="true" sz="3399">
                  <a:solidFill>
                    <a:srgbClr val="EF761E"/>
                  </a:solidFill>
                  <a:latin typeface="Montserrat Bold"/>
                  <a:ea typeface="Montserrat Bold"/>
                  <a:cs typeface="Montserrat Bold"/>
                  <a:sym typeface="Montserrat Bold"/>
                </a:rPr>
                <a:t>Duration: 90 minutes.</a:t>
              </a:r>
            </a:p>
          </p:txBody>
        </p:sp>
        <p:sp>
          <p:nvSpPr>
            <p:cNvPr name="TextBox 12" id="12"/>
            <p:cNvSpPr txBox="true"/>
            <p:nvPr/>
          </p:nvSpPr>
          <p:spPr>
            <a:xfrm rot="0">
              <a:off x="635184" y="2538957"/>
              <a:ext cx="5817649" cy="1588982"/>
            </a:xfrm>
            <a:prstGeom prst="rect">
              <a:avLst/>
            </a:prstGeom>
          </p:spPr>
          <p:txBody>
            <a:bodyPr anchor="t" rtlCol="false" tIns="0" lIns="0" bIns="0" rIns="0">
              <a:spAutoFit/>
            </a:bodyPr>
            <a:lstStyle/>
            <a:p>
              <a:pPr algn="ctr">
                <a:lnSpc>
                  <a:spcPts val="3219"/>
                </a:lnSpc>
                <a:spcBef>
                  <a:spcPct val="0"/>
                </a:spcBef>
              </a:pPr>
              <a:r>
                <a:rPr lang="en-US" b="true" sz="2299">
                  <a:solidFill>
                    <a:srgbClr val="FFFFFF"/>
                  </a:solidFill>
                  <a:latin typeface="Arimo Bold"/>
                  <a:ea typeface="Arimo Bold"/>
                  <a:cs typeface="Arimo Bold"/>
                  <a:sym typeface="Arimo Bold"/>
                </a:rPr>
                <a:t>Non-native English speakers are given an additional 30 minutes.</a:t>
              </a:r>
            </a:p>
          </p:txBody>
        </p:sp>
      </p:grpSp>
      <p:grpSp>
        <p:nvGrpSpPr>
          <p:cNvPr name="Group 13" id="13"/>
          <p:cNvGrpSpPr/>
          <p:nvPr/>
        </p:nvGrpSpPr>
        <p:grpSpPr>
          <a:xfrm rot="0">
            <a:off x="12247885" y="6248921"/>
            <a:ext cx="5007619" cy="3680855"/>
            <a:chOff x="0" y="0"/>
            <a:chExt cx="6676826" cy="4907807"/>
          </a:xfrm>
        </p:grpSpPr>
        <p:sp>
          <p:nvSpPr>
            <p:cNvPr name="Freeform 14" id="14"/>
            <p:cNvSpPr/>
            <p:nvPr/>
          </p:nvSpPr>
          <p:spPr>
            <a:xfrm flipH="false" flipV="false" rot="0">
              <a:off x="0" y="0"/>
              <a:ext cx="6676826" cy="4907807"/>
            </a:xfrm>
            <a:custGeom>
              <a:avLst/>
              <a:gdLst/>
              <a:ahLst/>
              <a:cxnLst/>
              <a:rect r="r" b="b" t="t" l="l"/>
              <a:pathLst>
                <a:path h="4907807" w="6676826">
                  <a:moveTo>
                    <a:pt x="0" y="0"/>
                  </a:moveTo>
                  <a:lnTo>
                    <a:pt x="6676826" y="0"/>
                  </a:lnTo>
                  <a:lnTo>
                    <a:pt x="6676826" y="4907807"/>
                  </a:lnTo>
                  <a:lnTo>
                    <a:pt x="0" y="4907807"/>
                  </a:lnTo>
                  <a:lnTo>
                    <a:pt x="0" y="0"/>
                  </a:lnTo>
                  <a:close/>
                </a:path>
              </a:pathLst>
            </a:custGeom>
            <a:blipFill>
              <a:blip r:embed="rId4"/>
              <a:stretch>
                <a:fillRect l="-7091" t="0" r="-7091" b="0"/>
              </a:stretch>
            </a:blipFill>
          </p:spPr>
        </p:sp>
        <p:sp>
          <p:nvSpPr>
            <p:cNvPr name="TextBox 15" id="15"/>
            <p:cNvSpPr txBox="true"/>
            <p:nvPr/>
          </p:nvSpPr>
          <p:spPr>
            <a:xfrm rot="0">
              <a:off x="429588" y="1030966"/>
              <a:ext cx="5817649" cy="2351828"/>
            </a:xfrm>
            <a:prstGeom prst="rect">
              <a:avLst/>
            </a:prstGeom>
          </p:spPr>
          <p:txBody>
            <a:bodyPr anchor="t" rtlCol="false" tIns="0" lIns="0" bIns="0" rIns="0">
              <a:spAutoFit/>
            </a:bodyPr>
            <a:lstStyle/>
            <a:p>
              <a:pPr algn="ctr">
                <a:lnSpc>
                  <a:spcPts val="4759"/>
                </a:lnSpc>
                <a:spcBef>
                  <a:spcPct val="0"/>
                </a:spcBef>
              </a:pPr>
              <a:r>
                <a:rPr lang="en-US" b="true" sz="3399">
                  <a:solidFill>
                    <a:srgbClr val="EF761E"/>
                  </a:solidFill>
                  <a:latin typeface="Montserrat Bold"/>
                  <a:ea typeface="Montserrat Bold"/>
                  <a:cs typeface="Montserrat Bold"/>
                  <a:sym typeface="Montserrat Bold"/>
                </a:rPr>
                <a:t>Passing score: 700 on a scale from 100 to 1,000</a:t>
              </a:r>
            </a:p>
          </p:txBody>
        </p:sp>
        <p:sp>
          <p:nvSpPr>
            <p:cNvPr name="TextBox 16" id="16"/>
            <p:cNvSpPr txBox="true"/>
            <p:nvPr/>
          </p:nvSpPr>
          <p:spPr>
            <a:xfrm rot="0">
              <a:off x="429588" y="3978897"/>
              <a:ext cx="5817649" cy="471805"/>
            </a:xfrm>
            <a:prstGeom prst="rect">
              <a:avLst/>
            </a:prstGeom>
          </p:spPr>
          <p:txBody>
            <a:bodyPr anchor="t" rtlCol="false" tIns="0" lIns="0" bIns="0" rIns="0">
              <a:spAutoFit/>
            </a:bodyPr>
            <a:lstStyle/>
            <a:p>
              <a:pPr algn="l">
                <a:lnSpc>
                  <a:spcPts val="2940"/>
                </a:lnSpc>
                <a:spcBef>
                  <a:spcPct val="0"/>
                </a:spcBef>
              </a:pPr>
            </a:p>
          </p:txBody>
        </p:sp>
      </p:grpSp>
      <p:sp>
        <p:nvSpPr>
          <p:cNvPr name="TextBox 17" id="17"/>
          <p:cNvSpPr txBox="true"/>
          <p:nvPr/>
        </p:nvSpPr>
        <p:spPr>
          <a:xfrm rot="0">
            <a:off x="-4582790" y="294371"/>
            <a:ext cx="16230600" cy="2787649"/>
          </a:xfrm>
          <a:prstGeom prst="rect">
            <a:avLst/>
          </a:prstGeom>
        </p:spPr>
        <p:txBody>
          <a:bodyPr anchor="t" rtlCol="false" tIns="0" lIns="0" bIns="0" rIns="0">
            <a:spAutoFit/>
          </a:bodyPr>
          <a:lstStyle/>
          <a:p>
            <a:pPr algn="r">
              <a:lnSpc>
                <a:spcPts val="11200"/>
              </a:lnSpc>
            </a:pPr>
            <a:r>
              <a:rPr lang="en-US" sz="8000" b="true">
                <a:solidFill>
                  <a:srgbClr val="FFFFFF"/>
                </a:solidFill>
                <a:latin typeface="Montserrat Bold"/>
                <a:ea typeface="Montserrat Bold"/>
                <a:cs typeface="Montserrat Bold"/>
                <a:sym typeface="Montserrat Bold"/>
              </a:rPr>
              <a:t>Exam structure</a:t>
            </a:r>
          </a:p>
          <a:p>
            <a:pPr algn="r">
              <a:lnSpc>
                <a:spcPts val="11200"/>
              </a:lnSpc>
              <a:spcBef>
                <a:spcPct val="0"/>
              </a:spcBef>
            </a:pPr>
          </a:p>
        </p:txBody>
      </p:sp>
      <p:sp>
        <p:nvSpPr>
          <p:cNvPr name="Freeform 18" id="18"/>
          <p:cNvSpPr/>
          <p:nvPr/>
        </p:nvSpPr>
        <p:spPr>
          <a:xfrm flipH="false" flipV="false" rot="0">
            <a:off x="755854" y="394468"/>
            <a:ext cx="2435427" cy="1369928"/>
          </a:xfrm>
          <a:custGeom>
            <a:avLst/>
            <a:gdLst/>
            <a:ahLst/>
            <a:cxnLst/>
            <a:rect r="r" b="b" t="t" l="l"/>
            <a:pathLst>
              <a:path h="1369928" w="2435427">
                <a:moveTo>
                  <a:pt x="0" y="0"/>
                </a:moveTo>
                <a:lnTo>
                  <a:pt x="2435427" y="0"/>
                </a:lnTo>
                <a:lnTo>
                  <a:pt x="2435427" y="1369928"/>
                </a:lnTo>
                <a:lnTo>
                  <a:pt x="0" y="1369928"/>
                </a:lnTo>
                <a:lnTo>
                  <a:pt x="0" y="0"/>
                </a:lnTo>
                <a:close/>
              </a:path>
            </a:pathLst>
          </a:custGeom>
          <a:blipFill>
            <a:blip r:embed="rId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Freeform 2" id="2"/>
          <p:cNvSpPr/>
          <p:nvPr/>
        </p:nvSpPr>
        <p:spPr>
          <a:xfrm flipH="true" flipV="false" rot="0">
            <a:off x="-1982099" y="6034645"/>
            <a:ext cx="12058365" cy="12560797"/>
          </a:xfrm>
          <a:custGeom>
            <a:avLst/>
            <a:gdLst/>
            <a:ahLst/>
            <a:cxnLst/>
            <a:rect r="r" b="b" t="t" l="l"/>
            <a:pathLst>
              <a:path h="12560797" w="12058365">
                <a:moveTo>
                  <a:pt x="12058365" y="0"/>
                </a:moveTo>
                <a:lnTo>
                  <a:pt x="0" y="0"/>
                </a:lnTo>
                <a:lnTo>
                  <a:pt x="0" y="12560797"/>
                </a:lnTo>
                <a:lnTo>
                  <a:pt x="12058365" y="12560797"/>
                </a:lnTo>
                <a:lnTo>
                  <a:pt x="12058365" y="0"/>
                </a:lnTo>
                <a:close/>
              </a:path>
            </a:pathLst>
          </a:custGeom>
          <a:blipFill>
            <a:blip r:embed="rId2"/>
            <a:stretch>
              <a:fillRect l="0" t="0" r="0" b="0"/>
            </a:stretch>
          </a:blipFill>
        </p:spPr>
      </p:sp>
      <p:sp>
        <p:nvSpPr>
          <p:cNvPr name="Freeform 3" id="3"/>
          <p:cNvSpPr/>
          <p:nvPr/>
        </p:nvSpPr>
        <p:spPr>
          <a:xfrm flipH="false" flipV="true" rot="0">
            <a:off x="8211734" y="-5251698"/>
            <a:ext cx="12058365" cy="12560797"/>
          </a:xfrm>
          <a:custGeom>
            <a:avLst/>
            <a:gdLst/>
            <a:ahLst/>
            <a:cxnLst/>
            <a:rect r="r" b="b" t="t" l="l"/>
            <a:pathLst>
              <a:path h="12560797" w="12058365">
                <a:moveTo>
                  <a:pt x="0" y="12560796"/>
                </a:moveTo>
                <a:lnTo>
                  <a:pt x="12058365" y="12560796"/>
                </a:lnTo>
                <a:lnTo>
                  <a:pt x="12058365" y="0"/>
                </a:lnTo>
                <a:lnTo>
                  <a:pt x="0" y="0"/>
                </a:lnTo>
                <a:lnTo>
                  <a:pt x="0" y="12560796"/>
                </a:lnTo>
                <a:close/>
              </a:path>
            </a:pathLst>
          </a:custGeom>
          <a:blipFill>
            <a:blip r:embed="rId2"/>
            <a:stretch>
              <a:fillRect l="0" t="0" r="0" b="0"/>
            </a:stretch>
          </a:blipFill>
        </p:spPr>
      </p:sp>
      <p:sp>
        <p:nvSpPr>
          <p:cNvPr name="Freeform 4" id="4"/>
          <p:cNvSpPr/>
          <p:nvPr/>
        </p:nvSpPr>
        <p:spPr>
          <a:xfrm flipH="false" flipV="false" rot="0">
            <a:off x="-1920632" y="-5984876"/>
            <a:ext cx="8560822" cy="8229600"/>
          </a:xfrm>
          <a:custGeom>
            <a:avLst/>
            <a:gdLst/>
            <a:ahLst/>
            <a:cxnLst/>
            <a:rect r="r" b="b" t="t" l="l"/>
            <a:pathLst>
              <a:path h="8229600" w="8560822">
                <a:moveTo>
                  <a:pt x="0" y="0"/>
                </a:moveTo>
                <a:lnTo>
                  <a:pt x="8560822" y="0"/>
                </a:lnTo>
                <a:lnTo>
                  <a:pt x="8560822" y="8229600"/>
                </a:lnTo>
                <a:lnTo>
                  <a:pt x="0" y="8229600"/>
                </a:lnTo>
                <a:lnTo>
                  <a:pt x="0" y="0"/>
                </a:lnTo>
                <a:close/>
              </a:path>
            </a:pathLst>
          </a:custGeom>
          <a:blipFill>
            <a:blip r:embed="rId3"/>
            <a:stretch>
              <a:fillRect l="0" t="0" r="0" b="0"/>
            </a:stretch>
          </a:blipFill>
        </p:spPr>
      </p:sp>
      <p:grpSp>
        <p:nvGrpSpPr>
          <p:cNvPr name="Group 5" id="5"/>
          <p:cNvGrpSpPr/>
          <p:nvPr/>
        </p:nvGrpSpPr>
        <p:grpSpPr>
          <a:xfrm rot="0">
            <a:off x="1028700" y="3430001"/>
            <a:ext cx="5007619" cy="3475750"/>
            <a:chOff x="0" y="0"/>
            <a:chExt cx="6676826" cy="4634333"/>
          </a:xfrm>
        </p:grpSpPr>
        <p:sp>
          <p:nvSpPr>
            <p:cNvPr name="Freeform 6" id="6"/>
            <p:cNvSpPr/>
            <p:nvPr/>
          </p:nvSpPr>
          <p:spPr>
            <a:xfrm flipH="false" flipV="false" rot="0">
              <a:off x="0" y="0"/>
              <a:ext cx="6676826" cy="4634333"/>
            </a:xfrm>
            <a:custGeom>
              <a:avLst/>
              <a:gdLst/>
              <a:ahLst/>
              <a:cxnLst/>
              <a:rect r="r" b="b" t="t" l="l"/>
              <a:pathLst>
                <a:path h="4634333" w="6676826">
                  <a:moveTo>
                    <a:pt x="0" y="0"/>
                  </a:moveTo>
                  <a:lnTo>
                    <a:pt x="6676826" y="0"/>
                  </a:lnTo>
                  <a:lnTo>
                    <a:pt x="6676826" y="4634333"/>
                  </a:lnTo>
                  <a:lnTo>
                    <a:pt x="0" y="4634333"/>
                  </a:lnTo>
                  <a:lnTo>
                    <a:pt x="0" y="0"/>
                  </a:lnTo>
                  <a:close/>
                </a:path>
              </a:pathLst>
            </a:custGeom>
            <a:blipFill>
              <a:blip r:embed="rId4"/>
              <a:stretch>
                <a:fillRect l="-3910" t="0" r="-3910" b="0"/>
              </a:stretch>
            </a:blipFill>
          </p:spPr>
        </p:sp>
        <p:sp>
          <p:nvSpPr>
            <p:cNvPr name="TextBox 7" id="7"/>
            <p:cNvSpPr txBox="true"/>
            <p:nvPr/>
          </p:nvSpPr>
          <p:spPr>
            <a:xfrm rot="0">
              <a:off x="214794" y="1487253"/>
              <a:ext cx="6247238" cy="1551728"/>
            </a:xfrm>
            <a:prstGeom prst="rect">
              <a:avLst/>
            </a:prstGeom>
          </p:spPr>
          <p:txBody>
            <a:bodyPr anchor="t" rtlCol="false" tIns="0" lIns="0" bIns="0" rIns="0">
              <a:spAutoFit/>
            </a:bodyPr>
            <a:lstStyle/>
            <a:p>
              <a:pPr algn="ctr">
                <a:lnSpc>
                  <a:spcPts val="4759"/>
                </a:lnSpc>
                <a:spcBef>
                  <a:spcPct val="0"/>
                </a:spcBef>
              </a:pPr>
              <a:r>
                <a:rPr lang="en-US" b="true" sz="3399">
                  <a:solidFill>
                    <a:srgbClr val="EF761E"/>
                  </a:solidFill>
                  <a:latin typeface="Montserrat Bold"/>
                  <a:ea typeface="Montserrat Bold"/>
                  <a:cs typeface="Montserrat Bold"/>
                  <a:sym typeface="Montserrat Bold"/>
                </a:rPr>
                <a:t>Validity period: 3 years.</a:t>
              </a:r>
            </a:p>
          </p:txBody>
        </p:sp>
        <p:sp>
          <p:nvSpPr>
            <p:cNvPr name="TextBox 8" id="8"/>
            <p:cNvSpPr txBox="true"/>
            <p:nvPr/>
          </p:nvSpPr>
          <p:spPr>
            <a:xfrm rot="0">
              <a:off x="429588" y="2744553"/>
              <a:ext cx="5817649" cy="522182"/>
            </a:xfrm>
            <a:prstGeom prst="rect">
              <a:avLst/>
            </a:prstGeom>
          </p:spPr>
          <p:txBody>
            <a:bodyPr anchor="t" rtlCol="false" tIns="0" lIns="0" bIns="0" rIns="0">
              <a:spAutoFit/>
            </a:bodyPr>
            <a:lstStyle/>
            <a:p>
              <a:pPr algn="l">
                <a:lnSpc>
                  <a:spcPts val="3219"/>
                </a:lnSpc>
                <a:spcBef>
                  <a:spcPct val="0"/>
                </a:spcBef>
              </a:pPr>
            </a:p>
          </p:txBody>
        </p:sp>
      </p:grpSp>
      <p:grpSp>
        <p:nvGrpSpPr>
          <p:cNvPr name="Group 9" id="9"/>
          <p:cNvGrpSpPr/>
          <p:nvPr/>
        </p:nvGrpSpPr>
        <p:grpSpPr>
          <a:xfrm rot="0">
            <a:off x="6638292" y="4227748"/>
            <a:ext cx="5007619" cy="4875925"/>
            <a:chOff x="0" y="0"/>
            <a:chExt cx="6676826" cy="6501233"/>
          </a:xfrm>
        </p:grpSpPr>
        <p:sp>
          <p:nvSpPr>
            <p:cNvPr name="Freeform 10" id="10"/>
            <p:cNvSpPr/>
            <p:nvPr/>
          </p:nvSpPr>
          <p:spPr>
            <a:xfrm flipH="false" flipV="false" rot="0">
              <a:off x="0" y="0"/>
              <a:ext cx="6676826" cy="6501233"/>
            </a:xfrm>
            <a:custGeom>
              <a:avLst/>
              <a:gdLst/>
              <a:ahLst/>
              <a:cxnLst/>
              <a:rect r="r" b="b" t="t" l="l"/>
              <a:pathLst>
                <a:path h="6501233" w="6676826">
                  <a:moveTo>
                    <a:pt x="0" y="0"/>
                  </a:moveTo>
                  <a:lnTo>
                    <a:pt x="6676826" y="0"/>
                  </a:lnTo>
                  <a:lnTo>
                    <a:pt x="6676826" y="6501233"/>
                  </a:lnTo>
                  <a:lnTo>
                    <a:pt x="0" y="6501233"/>
                  </a:lnTo>
                  <a:lnTo>
                    <a:pt x="0" y="0"/>
                  </a:lnTo>
                  <a:close/>
                </a:path>
              </a:pathLst>
            </a:custGeom>
            <a:blipFill>
              <a:blip r:embed="rId4"/>
              <a:stretch>
                <a:fillRect l="-25627" t="0" r="-25627" b="0"/>
              </a:stretch>
            </a:blipFill>
          </p:spPr>
        </p:sp>
        <p:sp>
          <p:nvSpPr>
            <p:cNvPr name="TextBox 11" id="11"/>
            <p:cNvSpPr txBox="true"/>
            <p:nvPr/>
          </p:nvSpPr>
          <p:spPr>
            <a:xfrm rot="0">
              <a:off x="429588" y="326067"/>
              <a:ext cx="5817649" cy="751628"/>
            </a:xfrm>
            <a:prstGeom prst="rect">
              <a:avLst/>
            </a:prstGeom>
          </p:spPr>
          <p:txBody>
            <a:bodyPr anchor="t" rtlCol="false" tIns="0" lIns="0" bIns="0" rIns="0">
              <a:spAutoFit/>
            </a:bodyPr>
            <a:lstStyle/>
            <a:p>
              <a:pPr algn="ctr">
                <a:lnSpc>
                  <a:spcPts val="4759"/>
                </a:lnSpc>
                <a:spcBef>
                  <a:spcPct val="0"/>
                </a:spcBef>
              </a:pPr>
              <a:r>
                <a:rPr lang="en-US" b="true" sz="3399">
                  <a:solidFill>
                    <a:srgbClr val="EF761E"/>
                  </a:solidFill>
                  <a:latin typeface="Montserrat Bold"/>
                  <a:ea typeface="Montserrat Bold"/>
                  <a:cs typeface="Montserrat Bold"/>
                  <a:sym typeface="Montserrat Bold"/>
                </a:rPr>
                <a:t>To recertify</a:t>
              </a:r>
            </a:p>
          </p:txBody>
        </p:sp>
        <p:sp>
          <p:nvSpPr>
            <p:cNvPr name="TextBox 12" id="12"/>
            <p:cNvSpPr txBox="true"/>
            <p:nvPr/>
          </p:nvSpPr>
          <p:spPr>
            <a:xfrm rot="0">
              <a:off x="635184" y="1738857"/>
              <a:ext cx="5817649" cy="3189182"/>
            </a:xfrm>
            <a:prstGeom prst="rect">
              <a:avLst/>
            </a:prstGeom>
          </p:spPr>
          <p:txBody>
            <a:bodyPr anchor="t" rtlCol="false" tIns="0" lIns="0" bIns="0" rIns="0">
              <a:spAutoFit/>
            </a:bodyPr>
            <a:lstStyle/>
            <a:p>
              <a:pPr algn="just">
                <a:lnSpc>
                  <a:spcPts val="3219"/>
                </a:lnSpc>
                <a:spcBef>
                  <a:spcPct val="0"/>
                </a:spcBef>
              </a:pPr>
              <a:r>
                <a:rPr lang="en-US" b="true" sz="2299">
                  <a:solidFill>
                    <a:srgbClr val="FFFFFF"/>
                  </a:solidFill>
                  <a:latin typeface="Arimo Bold"/>
                  <a:ea typeface="Arimo Bold"/>
                  <a:cs typeface="Arimo Bold"/>
                  <a:sym typeface="Arimo Bold"/>
                </a:rPr>
                <a:t>Candidates can retake the CCP exam in its latest version, pass an Associate-level certification exam, or a Professional-level certification exam, or complete the AWS Cloud Quest program</a:t>
              </a:r>
            </a:p>
          </p:txBody>
        </p:sp>
      </p:grpSp>
      <p:grpSp>
        <p:nvGrpSpPr>
          <p:cNvPr name="Group 13" id="13"/>
          <p:cNvGrpSpPr/>
          <p:nvPr/>
        </p:nvGrpSpPr>
        <p:grpSpPr>
          <a:xfrm rot="0">
            <a:off x="12247885" y="5025276"/>
            <a:ext cx="5007619" cy="3704350"/>
            <a:chOff x="0" y="0"/>
            <a:chExt cx="6676826" cy="4939133"/>
          </a:xfrm>
        </p:grpSpPr>
        <p:sp>
          <p:nvSpPr>
            <p:cNvPr name="Freeform 14" id="14"/>
            <p:cNvSpPr/>
            <p:nvPr/>
          </p:nvSpPr>
          <p:spPr>
            <a:xfrm flipH="false" flipV="false" rot="0">
              <a:off x="0" y="0"/>
              <a:ext cx="6676826" cy="4939133"/>
            </a:xfrm>
            <a:custGeom>
              <a:avLst/>
              <a:gdLst/>
              <a:ahLst/>
              <a:cxnLst/>
              <a:rect r="r" b="b" t="t" l="l"/>
              <a:pathLst>
                <a:path h="4939133" w="6676826">
                  <a:moveTo>
                    <a:pt x="0" y="0"/>
                  </a:moveTo>
                  <a:lnTo>
                    <a:pt x="6676826" y="0"/>
                  </a:lnTo>
                  <a:lnTo>
                    <a:pt x="6676826" y="4939133"/>
                  </a:lnTo>
                  <a:lnTo>
                    <a:pt x="0" y="4939133"/>
                  </a:lnTo>
                  <a:lnTo>
                    <a:pt x="0" y="0"/>
                  </a:lnTo>
                  <a:close/>
                </a:path>
              </a:pathLst>
            </a:custGeom>
            <a:blipFill>
              <a:blip r:embed="rId4"/>
              <a:stretch>
                <a:fillRect l="-7455" t="0" r="-7455" b="0"/>
              </a:stretch>
            </a:blipFill>
          </p:spPr>
        </p:sp>
        <p:sp>
          <p:nvSpPr>
            <p:cNvPr name="TextBox 15" id="15"/>
            <p:cNvSpPr txBox="true"/>
            <p:nvPr/>
          </p:nvSpPr>
          <p:spPr>
            <a:xfrm rot="0">
              <a:off x="429588" y="326067"/>
              <a:ext cx="5817649" cy="751628"/>
            </a:xfrm>
            <a:prstGeom prst="rect">
              <a:avLst/>
            </a:prstGeom>
          </p:spPr>
          <p:txBody>
            <a:bodyPr anchor="t" rtlCol="false" tIns="0" lIns="0" bIns="0" rIns="0">
              <a:spAutoFit/>
            </a:bodyPr>
            <a:lstStyle/>
            <a:p>
              <a:pPr algn="ctr">
                <a:lnSpc>
                  <a:spcPts val="4759"/>
                </a:lnSpc>
                <a:spcBef>
                  <a:spcPct val="0"/>
                </a:spcBef>
              </a:pPr>
              <a:r>
                <a:rPr lang="en-US" b="true" sz="3399">
                  <a:solidFill>
                    <a:srgbClr val="EF761E"/>
                  </a:solidFill>
                  <a:latin typeface="Montserrat Bold"/>
                  <a:ea typeface="Montserrat Bold"/>
                  <a:cs typeface="Montserrat Bold"/>
                  <a:sym typeface="Montserrat Bold"/>
                </a:rPr>
                <a:t>Exam format:</a:t>
              </a:r>
            </a:p>
          </p:txBody>
        </p:sp>
        <p:sp>
          <p:nvSpPr>
            <p:cNvPr name="TextBox 16" id="16"/>
            <p:cNvSpPr txBox="true"/>
            <p:nvPr/>
          </p:nvSpPr>
          <p:spPr>
            <a:xfrm rot="0">
              <a:off x="429588" y="1772232"/>
              <a:ext cx="5817649" cy="2122382"/>
            </a:xfrm>
            <a:prstGeom prst="rect">
              <a:avLst/>
            </a:prstGeom>
          </p:spPr>
          <p:txBody>
            <a:bodyPr anchor="t" rtlCol="false" tIns="0" lIns="0" bIns="0" rIns="0">
              <a:spAutoFit/>
            </a:bodyPr>
            <a:lstStyle/>
            <a:p>
              <a:pPr algn="just">
                <a:lnSpc>
                  <a:spcPts val="3219"/>
                </a:lnSpc>
                <a:spcBef>
                  <a:spcPct val="0"/>
                </a:spcBef>
              </a:pPr>
              <a:r>
                <a:rPr lang="en-US" b="true" sz="2299">
                  <a:solidFill>
                    <a:srgbClr val="FFFFFF"/>
                  </a:solidFill>
                  <a:latin typeface="Arimo Bold"/>
                  <a:ea typeface="Arimo Bold"/>
                  <a:cs typeface="Arimo Bold"/>
                  <a:sym typeface="Arimo Bold"/>
                </a:rPr>
                <a:t>Candidates can choose to take the exam either at Pearson VUE testing centers or online with remote proctoring</a:t>
              </a:r>
            </a:p>
          </p:txBody>
        </p:sp>
      </p:grpSp>
      <p:sp>
        <p:nvSpPr>
          <p:cNvPr name="TextBox 17" id="17"/>
          <p:cNvSpPr txBox="true"/>
          <p:nvPr/>
        </p:nvSpPr>
        <p:spPr>
          <a:xfrm rot="0">
            <a:off x="-4582790" y="294371"/>
            <a:ext cx="16230600" cy="2787649"/>
          </a:xfrm>
          <a:prstGeom prst="rect">
            <a:avLst/>
          </a:prstGeom>
        </p:spPr>
        <p:txBody>
          <a:bodyPr anchor="t" rtlCol="false" tIns="0" lIns="0" bIns="0" rIns="0">
            <a:spAutoFit/>
          </a:bodyPr>
          <a:lstStyle/>
          <a:p>
            <a:pPr algn="r">
              <a:lnSpc>
                <a:spcPts val="11200"/>
              </a:lnSpc>
            </a:pPr>
            <a:r>
              <a:rPr lang="en-US" sz="8000" b="true">
                <a:solidFill>
                  <a:srgbClr val="FFFFFF"/>
                </a:solidFill>
                <a:latin typeface="Montserrat Bold"/>
                <a:ea typeface="Montserrat Bold"/>
                <a:cs typeface="Montserrat Bold"/>
                <a:sym typeface="Montserrat Bold"/>
              </a:rPr>
              <a:t>Exam structure</a:t>
            </a:r>
          </a:p>
          <a:p>
            <a:pPr algn="r">
              <a:lnSpc>
                <a:spcPts val="11200"/>
              </a:lnSpc>
              <a:spcBef>
                <a:spcPct val="0"/>
              </a:spcBef>
            </a:pPr>
          </a:p>
        </p:txBody>
      </p:sp>
      <p:sp>
        <p:nvSpPr>
          <p:cNvPr name="Freeform 18" id="18"/>
          <p:cNvSpPr/>
          <p:nvPr/>
        </p:nvSpPr>
        <p:spPr>
          <a:xfrm flipH="false" flipV="false" rot="0">
            <a:off x="755854" y="394468"/>
            <a:ext cx="2435427" cy="1369928"/>
          </a:xfrm>
          <a:custGeom>
            <a:avLst/>
            <a:gdLst/>
            <a:ahLst/>
            <a:cxnLst/>
            <a:rect r="r" b="b" t="t" l="l"/>
            <a:pathLst>
              <a:path h="1369928" w="2435427">
                <a:moveTo>
                  <a:pt x="0" y="0"/>
                </a:moveTo>
                <a:lnTo>
                  <a:pt x="2435427" y="0"/>
                </a:lnTo>
                <a:lnTo>
                  <a:pt x="2435427" y="1369928"/>
                </a:lnTo>
                <a:lnTo>
                  <a:pt x="0" y="1369928"/>
                </a:lnTo>
                <a:lnTo>
                  <a:pt x="0" y="0"/>
                </a:lnTo>
                <a:close/>
              </a:path>
            </a:pathLst>
          </a:custGeom>
          <a:blipFill>
            <a:blip r:embed="rId5"/>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Freeform 2" id="2"/>
          <p:cNvSpPr/>
          <p:nvPr/>
        </p:nvSpPr>
        <p:spPr>
          <a:xfrm flipH="false" flipV="false" rot="0">
            <a:off x="384429" y="-5491495"/>
            <a:ext cx="17519141" cy="8890964"/>
          </a:xfrm>
          <a:custGeom>
            <a:avLst/>
            <a:gdLst/>
            <a:ahLst/>
            <a:cxnLst/>
            <a:rect r="r" b="b" t="t" l="l"/>
            <a:pathLst>
              <a:path h="8890964" w="17519141">
                <a:moveTo>
                  <a:pt x="0" y="0"/>
                </a:moveTo>
                <a:lnTo>
                  <a:pt x="17519142" y="0"/>
                </a:lnTo>
                <a:lnTo>
                  <a:pt x="17519142" y="8890964"/>
                </a:lnTo>
                <a:lnTo>
                  <a:pt x="0" y="8890964"/>
                </a:lnTo>
                <a:lnTo>
                  <a:pt x="0" y="0"/>
                </a:lnTo>
                <a:close/>
              </a:path>
            </a:pathLst>
          </a:custGeom>
          <a:blipFill>
            <a:blip r:embed="rId2"/>
            <a:stretch>
              <a:fillRect l="0" t="0" r="0" b="0"/>
            </a:stretch>
          </a:blipFill>
        </p:spPr>
      </p:sp>
      <p:sp>
        <p:nvSpPr>
          <p:cNvPr name="Freeform 3" id="3"/>
          <p:cNvSpPr/>
          <p:nvPr/>
        </p:nvSpPr>
        <p:spPr>
          <a:xfrm flipH="false" flipV="false" rot="0">
            <a:off x="-1743762" y="5403341"/>
            <a:ext cx="9978940" cy="8229600"/>
          </a:xfrm>
          <a:custGeom>
            <a:avLst/>
            <a:gdLst/>
            <a:ahLst/>
            <a:cxnLst/>
            <a:rect r="r" b="b" t="t" l="l"/>
            <a:pathLst>
              <a:path h="8229600" w="9978940">
                <a:moveTo>
                  <a:pt x="0" y="0"/>
                </a:moveTo>
                <a:lnTo>
                  <a:pt x="9978940" y="0"/>
                </a:lnTo>
                <a:lnTo>
                  <a:pt x="997894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8470907">
            <a:off x="13028805" y="2987716"/>
            <a:ext cx="9978940" cy="8229600"/>
          </a:xfrm>
          <a:custGeom>
            <a:avLst/>
            <a:gdLst/>
            <a:ahLst/>
            <a:cxnLst/>
            <a:rect r="r" b="b" t="t" l="l"/>
            <a:pathLst>
              <a:path h="8229600" w="9978940">
                <a:moveTo>
                  <a:pt x="0" y="0"/>
                </a:moveTo>
                <a:lnTo>
                  <a:pt x="9978941" y="0"/>
                </a:lnTo>
                <a:lnTo>
                  <a:pt x="9978941" y="8229600"/>
                </a:lnTo>
                <a:lnTo>
                  <a:pt x="0" y="8229600"/>
                </a:lnTo>
                <a:lnTo>
                  <a:pt x="0" y="0"/>
                </a:lnTo>
                <a:close/>
              </a:path>
            </a:pathLst>
          </a:custGeom>
          <a:blipFill>
            <a:blip r:embed="rId3"/>
            <a:stretch>
              <a:fillRect l="0" t="0" r="0" b="0"/>
            </a:stretch>
          </a:blipFill>
        </p:spPr>
      </p:sp>
      <p:sp>
        <p:nvSpPr>
          <p:cNvPr name="Freeform 5" id="5"/>
          <p:cNvSpPr/>
          <p:nvPr/>
        </p:nvSpPr>
        <p:spPr>
          <a:xfrm flipH="false" flipV="false" rot="0">
            <a:off x="1028700" y="3500945"/>
            <a:ext cx="3601570" cy="3601570"/>
          </a:xfrm>
          <a:custGeom>
            <a:avLst/>
            <a:gdLst/>
            <a:ahLst/>
            <a:cxnLst/>
            <a:rect r="r" b="b" t="t" l="l"/>
            <a:pathLst>
              <a:path h="3601570" w="3601570">
                <a:moveTo>
                  <a:pt x="0" y="0"/>
                </a:moveTo>
                <a:lnTo>
                  <a:pt x="3601570" y="0"/>
                </a:lnTo>
                <a:lnTo>
                  <a:pt x="3601570" y="3601571"/>
                </a:lnTo>
                <a:lnTo>
                  <a:pt x="0" y="3601571"/>
                </a:lnTo>
                <a:lnTo>
                  <a:pt x="0" y="0"/>
                </a:lnTo>
                <a:close/>
              </a:path>
            </a:pathLst>
          </a:custGeom>
          <a:blipFill>
            <a:blip r:embed="rId4"/>
            <a:stretch>
              <a:fillRect l="0" t="0" r="0" b="0"/>
            </a:stretch>
          </a:blipFill>
        </p:spPr>
      </p:sp>
      <p:sp>
        <p:nvSpPr>
          <p:cNvPr name="TextBox 6" id="6"/>
          <p:cNvSpPr txBox="true"/>
          <p:nvPr/>
        </p:nvSpPr>
        <p:spPr>
          <a:xfrm rot="0">
            <a:off x="1028700" y="876300"/>
            <a:ext cx="16230600" cy="1368424"/>
          </a:xfrm>
          <a:prstGeom prst="rect">
            <a:avLst/>
          </a:prstGeom>
        </p:spPr>
        <p:txBody>
          <a:bodyPr anchor="t" rtlCol="false" tIns="0" lIns="0" bIns="0" rIns="0">
            <a:spAutoFit/>
          </a:bodyPr>
          <a:lstStyle/>
          <a:p>
            <a:pPr algn="ctr">
              <a:lnSpc>
                <a:spcPts val="11200"/>
              </a:lnSpc>
              <a:spcBef>
                <a:spcPct val="0"/>
              </a:spcBef>
            </a:pPr>
            <a:r>
              <a:rPr lang="en-US" b="true" sz="8000">
                <a:solidFill>
                  <a:srgbClr val="FFFFFF"/>
                </a:solidFill>
                <a:latin typeface="Montserrat Bold"/>
                <a:ea typeface="Montserrat Bold"/>
                <a:cs typeface="Montserrat Bold"/>
                <a:sym typeface="Montserrat Bold"/>
              </a:rPr>
              <a:t>Exam structure</a:t>
            </a:r>
          </a:p>
        </p:txBody>
      </p:sp>
      <p:sp>
        <p:nvSpPr>
          <p:cNvPr name="TextBox 7" id="7"/>
          <p:cNvSpPr txBox="true"/>
          <p:nvPr/>
        </p:nvSpPr>
        <p:spPr>
          <a:xfrm rot="0">
            <a:off x="1147503" y="3777425"/>
            <a:ext cx="3363963" cy="1430121"/>
          </a:xfrm>
          <a:prstGeom prst="rect">
            <a:avLst/>
          </a:prstGeom>
        </p:spPr>
        <p:txBody>
          <a:bodyPr anchor="t" rtlCol="false" tIns="0" lIns="0" bIns="0" rIns="0">
            <a:spAutoFit/>
          </a:bodyPr>
          <a:lstStyle/>
          <a:p>
            <a:pPr algn="ctr">
              <a:lnSpc>
                <a:spcPts val="11737"/>
              </a:lnSpc>
              <a:spcBef>
                <a:spcPct val="0"/>
              </a:spcBef>
            </a:pPr>
            <a:r>
              <a:rPr lang="en-US" b="true" sz="8383">
                <a:solidFill>
                  <a:srgbClr val="EF761E"/>
                </a:solidFill>
                <a:latin typeface="Montserrat Bold"/>
                <a:ea typeface="Montserrat Bold"/>
                <a:cs typeface="Montserrat Bold"/>
                <a:sym typeface="Montserrat Bold"/>
              </a:rPr>
              <a:t>24</a:t>
            </a:r>
            <a:r>
              <a:rPr lang="en-US" b="true" sz="8383">
                <a:solidFill>
                  <a:srgbClr val="EF761E"/>
                </a:solidFill>
                <a:latin typeface="Montserrat Bold"/>
                <a:ea typeface="Montserrat Bold"/>
                <a:cs typeface="Montserrat Bold"/>
                <a:sym typeface="Montserrat Bold"/>
              </a:rPr>
              <a:t>%</a:t>
            </a:r>
          </a:p>
        </p:txBody>
      </p:sp>
      <p:sp>
        <p:nvSpPr>
          <p:cNvPr name="TextBox 8" id="8"/>
          <p:cNvSpPr txBox="true"/>
          <p:nvPr/>
        </p:nvSpPr>
        <p:spPr>
          <a:xfrm rot="0">
            <a:off x="1294478" y="5516354"/>
            <a:ext cx="3070940" cy="655250"/>
          </a:xfrm>
          <a:prstGeom prst="rect">
            <a:avLst/>
          </a:prstGeom>
        </p:spPr>
        <p:txBody>
          <a:bodyPr anchor="t" rtlCol="false" tIns="0" lIns="0" bIns="0" rIns="0">
            <a:spAutoFit/>
          </a:bodyPr>
          <a:lstStyle/>
          <a:p>
            <a:pPr algn="ctr">
              <a:lnSpc>
                <a:spcPts val="2663"/>
              </a:lnSpc>
              <a:spcBef>
                <a:spcPct val="0"/>
              </a:spcBef>
            </a:pPr>
            <a:r>
              <a:rPr lang="en-US" b="true" sz="1902">
                <a:solidFill>
                  <a:srgbClr val="FFFFFF"/>
                </a:solidFill>
                <a:latin typeface="Montserrat Bold"/>
                <a:ea typeface="Montserrat Bold"/>
                <a:cs typeface="Montserrat Bold"/>
                <a:sym typeface="Montserrat Bold"/>
              </a:rPr>
              <a:t>Domain 1: Cloud Concepts</a:t>
            </a:r>
          </a:p>
        </p:txBody>
      </p:sp>
      <p:sp>
        <p:nvSpPr>
          <p:cNvPr name="Freeform 9" id="9"/>
          <p:cNvSpPr/>
          <p:nvPr/>
        </p:nvSpPr>
        <p:spPr>
          <a:xfrm flipH="false" flipV="false" rot="0">
            <a:off x="5168185" y="3500945"/>
            <a:ext cx="3601570" cy="3601570"/>
          </a:xfrm>
          <a:custGeom>
            <a:avLst/>
            <a:gdLst/>
            <a:ahLst/>
            <a:cxnLst/>
            <a:rect r="r" b="b" t="t" l="l"/>
            <a:pathLst>
              <a:path h="3601570" w="3601570">
                <a:moveTo>
                  <a:pt x="0" y="0"/>
                </a:moveTo>
                <a:lnTo>
                  <a:pt x="3601570" y="0"/>
                </a:lnTo>
                <a:lnTo>
                  <a:pt x="3601570" y="3601571"/>
                </a:lnTo>
                <a:lnTo>
                  <a:pt x="0" y="3601571"/>
                </a:lnTo>
                <a:lnTo>
                  <a:pt x="0" y="0"/>
                </a:lnTo>
                <a:close/>
              </a:path>
            </a:pathLst>
          </a:custGeom>
          <a:blipFill>
            <a:blip r:embed="rId4"/>
            <a:stretch>
              <a:fillRect l="0" t="0" r="0" b="0"/>
            </a:stretch>
          </a:blipFill>
        </p:spPr>
      </p:sp>
      <p:sp>
        <p:nvSpPr>
          <p:cNvPr name="TextBox 10" id="10"/>
          <p:cNvSpPr txBox="true"/>
          <p:nvPr/>
        </p:nvSpPr>
        <p:spPr>
          <a:xfrm rot="0">
            <a:off x="5286989" y="3777425"/>
            <a:ext cx="3363963" cy="1430121"/>
          </a:xfrm>
          <a:prstGeom prst="rect">
            <a:avLst/>
          </a:prstGeom>
        </p:spPr>
        <p:txBody>
          <a:bodyPr anchor="t" rtlCol="false" tIns="0" lIns="0" bIns="0" rIns="0">
            <a:spAutoFit/>
          </a:bodyPr>
          <a:lstStyle/>
          <a:p>
            <a:pPr algn="ctr">
              <a:lnSpc>
                <a:spcPts val="11737"/>
              </a:lnSpc>
              <a:spcBef>
                <a:spcPct val="0"/>
              </a:spcBef>
            </a:pPr>
            <a:r>
              <a:rPr lang="en-US" b="true" sz="8383">
                <a:solidFill>
                  <a:srgbClr val="EF761E"/>
                </a:solidFill>
                <a:latin typeface="Montserrat Bold"/>
                <a:ea typeface="Montserrat Bold"/>
                <a:cs typeface="Montserrat Bold"/>
                <a:sym typeface="Montserrat Bold"/>
              </a:rPr>
              <a:t>30</a:t>
            </a:r>
            <a:r>
              <a:rPr lang="en-US" b="true" sz="8383">
                <a:solidFill>
                  <a:srgbClr val="EF761E"/>
                </a:solidFill>
                <a:latin typeface="Montserrat Bold"/>
                <a:ea typeface="Montserrat Bold"/>
                <a:cs typeface="Montserrat Bold"/>
                <a:sym typeface="Montserrat Bold"/>
              </a:rPr>
              <a:t>%</a:t>
            </a:r>
          </a:p>
        </p:txBody>
      </p:sp>
      <p:sp>
        <p:nvSpPr>
          <p:cNvPr name="TextBox 11" id="11"/>
          <p:cNvSpPr txBox="true"/>
          <p:nvPr/>
        </p:nvSpPr>
        <p:spPr>
          <a:xfrm rot="0">
            <a:off x="5433963" y="5516354"/>
            <a:ext cx="3070940" cy="655250"/>
          </a:xfrm>
          <a:prstGeom prst="rect">
            <a:avLst/>
          </a:prstGeom>
        </p:spPr>
        <p:txBody>
          <a:bodyPr anchor="t" rtlCol="false" tIns="0" lIns="0" bIns="0" rIns="0">
            <a:spAutoFit/>
          </a:bodyPr>
          <a:lstStyle/>
          <a:p>
            <a:pPr algn="ctr">
              <a:lnSpc>
                <a:spcPts val="2663"/>
              </a:lnSpc>
              <a:spcBef>
                <a:spcPct val="0"/>
              </a:spcBef>
            </a:pPr>
            <a:r>
              <a:rPr lang="en-US" b="true" sz="1902">
                <a:solidFill>
                  <a:srgbClr val="FFFFFF"/>
                </a:solidFill>
                <a:latin typeface="Montserrat Bold"/>
                <a:ea typeface="Montserrat Bold"/>
                <a:cs typeface="Montserrat Bold"/>
                <a:sym typeface="Montserrat Bold"/>
              </a:rPr>
              <a:t>Domain 2: Security and Compliance</a:t>
            </a:r>
          </a:p>
        </p:txBody>
      </p:sp>
      <p:sp>
        <p:nvSpPr>
          <p:cNvPr name="Freeform 12" id="12"/>
          <p:cNvSpPr/>
          <p:nvPr/>
        </p:nvSpPr>
        <p:spPr>
          <a:xfrm flipH="false" flipV="false" rot="0">
            <a:off x="9307670" y="3500945"/>
            <a:ext cx="3601570" cy="3601570"/>
          </a:xfrm>
          <a:custGeom>
            <a:avLst/>
            <a:gdLst/>
            <a:ahLst/>
            <a:cxnLst/>
            <a:rect r="r" b="b" t="t" l="l"/>
            <a:pathLst>
              <a:path h="3601570" w="3601570">
                <a:moveTo>
                  <a:pt x="0" y="0"/>
                </a:moveTo>
                <a:lnTo>
                  <a:pt x="3601570" y="0"/>
                </a:lnTo>
                <a:lnTo>
                  <a:pt x="3601570" y="3601571"/>
                </a:lnTo>
                <a:lnTo>
                  <a:pt x="0" y="3601571"/>
                </a:lnTo>
                <a:lnTo>
                  <a:pt x="0" y="0"/>
                </a:lnTo>
                <a:close/>
              </a:path>
            </a:pathLst>
          </a:custGeom>
          <a:blipFill>
            <a:blip r:embed="rId4"/>
            <a:stretch>
              <a:fillRect l="0" t="0" r="0" b="0"/>
            </a:stretch>
          </a:blipFill>
        </p:spPr>
      </p:sp>
      <p:sp>
        <p:nvSpPr>
          <p:cNvPr name="TextBox 13" id="13"/>
          <p:cNvSpPr txBox="true"/>
          <p:nvPr/>
        </p:nvSpPr>
        <p:spPr>
          <a:xfrm rot="0">
            <a:off x="9426474" y="3777425"/>
            <a:ext cx="3363963" cy="1430121"/>
          </a:xfrm>
          <a:prstGeom prst="rect">
            <a:avLst/>
          </a:prstGeom>
        </p:spPr>
        <p:txBody>
          <a:bodyPr anchor="t" rtlCol="false" tIns="0" lIns="0" bIns="0" rIns="0">
            <a:spAutoFit/>
          </a:bodyPr>
          <a:lstStyle/>
          <a:p>
            <a:pPr algn="ctr">
              <a:lnSpc>
                <a:spcPts val="11737"/>
              </a:lnSpc>
              <a:spcBef>
                <a:spcPct val="0"/>
              </a:spcBef>
            </a:pPr>
            <a:r>
              <a:rPr lang="en-US" b="true" sz="8383">
                <a:solidFill>
                  <a:srgbClr val="EF761E"/>
                </a:solidFill>
                <a:latin typeface="Montserrat Bold"/>
                <a:ea typeface="Montserrat Bold"/>
                <a:cs typeface="Montserrat Bold"/>
                <a:sym typeface="Montserrat Bold"/>
              </a:rPr>
              <a:t>34</a:t>
            </a:r>
            <a:r>
              <a:rPr lang="en-US" b="true" sz="8383">
                <a:solidFill>
                  <a:srgbClr val="EF761E"/>
                </a:solidFill>
                <a:latin typeface="Montserrat Bold"/>
                <a:ea typeface="Montserrat Bold"/>
                <a:cs typeface="Montserrat Bold"/>
                <a:sym typeface="Montserrat Bold"/>
              </a:rPr>
              <a:t>%</a:t>
            </a:r>
          </a:p>
        </p:txBody>
      </p:sp>
      <p:sp>
        <p:nvSpPr>
          <p:cNvPr name="TextBox 14" id="14"/>
          <p:cNvSpPr txBox="true"/>
          <p:nvPr/>
        </p:nvSpPr>
        <p:spPr>
          <a:xfrm rot="0">
            <a:off x="9573448" y="5516354"/>
            <a:ext cx="3070940" cy="987990"/>
          </a:xfrm>
          <a:prstGeom prst="rect">
            <a:avLst/>
          </a:prstGeom>
        </p:spPr>
        <p:txBody>
          <a:bodyPr anchor="t" rtlCol="false" tIns="0" lIns="0" bIns="0" rIns="0">
            <a:spAutoFit/>
          </a:bodyPr>
          <a:lstStyle/>
          <a:p>
            <a:pPr algn="ctr">
              <a:lnSpc>
                <a:spcPts val="2663"/>
              </a:lnSpc>
              <a:spcBef>
                <a:spcPct val="0"/>
              </a:spcBef>
            </a:pPr>
            <a:r>
              <a:rPr lang="en-US" b="true" sz="1902">
                <a:solidFill>
                  <a:srgbClr val="FFFFFF"/>
                </a:solidFill>
                <a:latin typeface="Montserrat Bold"/>
                <a:ea typeface="Montserrat Bold"/>
                <a:cs typeface="Montserrat Bold"/>
                <a:sym typeface="Montserrat Bold"/>
              </a:rPr>
              <a:t>Domain 3: Cloud Technology and Services</a:t>
            </a:r>
          </a:p>
        </p:txBody>
      </p:sp>
      <p:sp>
        <p:nvSpPr>
          <p:cNvPr name="Freeform 15" id="15"/>
          <p:cNvSpPr/>
          <p:nvPr/>
        </p:nvSpPr>
        <p:spPr>
          <a:xfrm flipH="false" flipV="false" rot="0">
            <a:off x="13447155" y="3500945"/>
            <a:ext cx="3601570" cy="3601570"/>
          </a:xfrm>
          <a:custGeom>
            <a:avLst/>
            <a:gdLst/>
            <a:ahLst/>
            <a:cxnLst/>
            <a:rect r="r" b="b" t="t" l="l"/>
            <a:pathLst>
              <a:path h="3601570" w="3601570">
                <a:moveTo>
                  <a:pt x="0" y="0"/>
                </a:moveTo>
                <a:lnTo>
                  <a:pt x="3601571" y="0"/>
                </a:lnTo>
                <a:lnTo>
                  <a:pt x="3601571" y="3601571"/>
                </a:lnTo>
                <a:lnTo>
                  <a:pt x="0" y="3601571"/>
                </a:lnTo>
                <a:lnTo>
                  <a:pt x="0" y="0"/>
                </a:lnTo>
                <a:close/>
              </a:path>
            </a:pathLst>
          </a:custGeom>
          <a:blipFill>
            <a:blip r:embed="rId4"/>
            <a:stretch>
              <a:fillRect l="0" t="0" r="0" b="0"/>
            </a:stretch>
          </a:blipFill>
        </p:spPr>
      </p:sp>
      <p:sp>
        <p:nvSpPr>
          <p:cNvPr name="TextBox 16" id="16"/>
          <p:cNvSpPr txBox="true"/>
          <p:nvPr/>
        </p:nvSpPr>
        <p:spPr>
          <a:xfrm rot="0">
            <a:off x="13565959" y="3777425"/>
            <a:ext cx="3363963" cy="1430121"/>
          </a:xfrm>
          <a:prstGeom prst="rect">
            <a:avLst/>
          </a:prstGeom>
        </p:spPr>
        <p:txBody>
          <a:bodyPr anchor="t" rtlCol="false" tIns="0" lIns="0" bIns="0" rIns="0">
            <a:spAutoFit/>
          </a:bodyPr>
          <a:lstStyle/>
          <a:p>
            <a:pPr algn="ctr">
              <a:lnSpc>
                <a:spcPts val="11737"/>
              </a:lnSpc>
              <a:spcBef>
                <a:spcPct val="0"/>
              </a:spcBef>
            </a:pPr>
            <a:r>
              <a:rPr lang="en-US" b="true" sz="8383">
                <a:solidFill>
                  <a:srgbClr val="EF761E"/>
                </a:solidFill>
                <a:latin typeface="Montserrat Bold"/>
                <a:ea typeface="Montserrat Bold"/>
                <a:cs typeface="Montserrat Bold"/>
                <a:sym typeface="Montserrat Bold"/>
              </a:rPr>
              <a:t>12</a:t>
            </a:r>
            <a:r>
              <a:rPr lang="en-US" b="true" sz="8383">
                <a:solidFill>
                  <a:srgbClr val="EF761E"/>
                </a:solidFill>
                <a:latin typeface="Montserrat Bold"/>
                <a:ea typeface="Montserrat Bold"/>
                <a:cs typeface="Montserrat Bold"/>
                <a:sym typeface="Montserrat Bold"/>
              </a:rPr>
              <a:t>%</a:t>
            </a:r>
          </a:p>
        </p:txBody>
      </p:sp>
      <p:sp>
        <p:nvSpPr>
          <p:cNvPr name="TextBox 17" id="17"/>
          <p:cNvSpPr txBox="true"/>
          <p:nvPr/>
        </p:nvSpPr>
        <p:spPr>
          <a:xfrm rot="0">
            <a:off x="13712933" y="5516354"/>
            <a:ext cx="3070940" cy="655250"/>
          </a:xfrm>
          <a:prstGeom prst="rect">
            <a:avLst/>
          </a:prstGeom>
        </p:spPr>
        <p:txBody>
          <a:bodyPr anchor="t" rtlCol="false" tIns="0" lIns="0" bIns="0" rIns="0">
            <a:spAutoFit/>
          </a:bodyPr>
          <a:lstStyle/>
          <a:p>
            <a:pPr algn="ctr">
              <a:lnSpc>
                <a:spcPts val="2663"/>
              </a:lnSpc>
              <a:spcBef>
                <a:spcPct val="0"/>
              </a:spcBef>
            </a:pPr>
            <a:r>
              <a:rPr lang="en-US" b="true" sz="1902">
                <a:solidFill>
                  <a:srgbClr val="FFFFFF"/>
                </a:solidFill>
                <a:latin typeface="Montserrat Bold"/>
                <a:ea typeface="Montserrat Bold"/>
                <a:cs typeface="Montserrat Bold"/>
                <a:sym typeface="Montserrat Bold"/>
              </a:rPr>
              <a:t>Domain 4: Billing, Pricing, and Support</a:t>
            </a:r>
          </a:p>
        </p:txBody>
      </p:sp>
      <p:sp>
        <p:nvSpPr>
          <p:cNvPr name="Freeform 18" id="18"/>
          <p:cNvSpPr/>
          <p:nvPr/>
        </p:nvSpPr>
        <p:spPr>
          <a:xfrm flipH="false" flipV="false" rot="0">
            <a:off x="2363905" y="951748"/>
            <a:ext cx="2435427" cy="1369928"/>
          </a:xfrm>
          <a:custGeom>
            <a:avLst/>
            <a:gdLst/>
            <a:ahLst/>
            <a:cxnLst/>
            <a:rect r="r" b="b" t="t" l="l"/>
            <a:pathLst>
              <a:path h="1369928" w="2435427">
                <a:moveTo>
                  <a:pt x="0" y="0"/>
                </a:moveTo>
                <a:lnTo>
                  <a:pt x="2435427" y="0"/>
                </a:lnTo>
                <a:lnTo>
                  <a:pt x="2435427" y="1369928"/>
                </a:lnTo>
                <a:lnTo>
                  <a:pt x="0" y="1369928"/>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AutoShape 2" id="2"/>
          <p:cNvSpPr/>
          <p:nvPr/>
        </p:nvSpPr>
        <p:spPr>
          <a:xfrm flipH="true">
            <a:off x="1047750" y="4629472"/>
            <a:ext cx="0" cy="6492240"/>
          </a:xfrm>
          <a:prstGeom prst="line">
            <a:avLst/>
          </a:prstGeom>
          <a:ln cap="flat" w="38100">
            <a:solidFill>
              <a:srgbClr val="FFFFFF"/>
            </a:solidFill>
            <a:prstDash val="solid"/>
            <a:headEnd type="none" len="sm" w="sm"/>
            <a:tailEnd type="none" len="sm" w="sm"/>
          </a:ln>
        </p:spPr>
      </p:sp>
      <p:grpSp>
        <p:nvGrpSpPr>
          <p:cNvPr name="Group 3" id="3"/>
          <p:cNvGrpSpPr/>
          <p:nvPr/>
        </p:nvGrpSpPr>
        <p:grpSpPr>
          <a:xfrm rot="0">
            <a:off x="796286" y="4437089"/>
            <a:ext cx="464829" cy="46482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796286" y="5933375"/>
            <a:ext cx="464829" cy="46482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796286" y="7429661"/>
            <a:ext cx="464829" cy="4648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96286" y="8925947"/>
            <a:ext cx="464829" cy="4648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sp>
        <p:nvSpPr>
          <p:cNvPr name="TextBox 15" id="15"/>
          <p:cNvSpPr txBox="true"/>
          <p:nvPr/>
        </p:nvSpPr>
        <p:spPr>
          <a:xfrm rot="0">
            <a:off x="1837834" y="4219598"/>
            <a:ext cx="7764373"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6 Benefits of AWS Cloud</a:t>
            </a:r>
          </a:p>
        </p:txBody>
      </p:sp>
      <p:sp>
        <p:nvSpPr>
          <p:cNvPr name="TextBox 16" id="16"/>
          <p:cNvSpPr txBox="true"/>
          <p:nvPr/>
        </p:nvSpPr>
        <p:spPr>
          <a:xfrm rot="0">
            <a:off x="1837834" y="4726754"/>
            <a:ext cx="14372801" cy="676025"/>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Trade capital expense for variable expense,  Benefit from massive economies of scale, Stop guessing capacity,  Increase speed and agility, Stop spending money running and maintaining data centers, Go global in minutes.</a:t>
            </a:r>
          </a:p>
        </p:txBody>
      </p:sp>
      <p:sp>
        <p:nvSpPr>
          <p:cNvPr name="TextBox 17" id="17"/>
          <p:cNvSpPr txBox="true"/>
          <p:nvPr/>
        </p:nvSpPr>
        <p:spPr>
          <a:xfrm rot="0">
            <a:off x="1837834" y="5714693"/>
            <a:ext cx="8535356"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AWS Well-Architected Framework (WAF)</a:t>
            </a:r>
          </a:p>
        </p:txBody>
      </p:sp>
      <p:sp>
        <p:nvSpPr>
          <p:cNvPr name="TextBox 18" id="18"/>
          <p:cNvSpPr txBox="true"/>
          <p:nvPr/>
        </p:nvSpPr>
        <p:spPr>
          <a:xfrm rot="0">
            <a:off x="1837834" y="6221849"/>
            <a:ext cx="8160878" cy="676025"/>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Operational Excellence, Security, Reliability, Performance Efficiency, Cost Optimization, Sustainability.</a:t>
            </a:r>
          </a:p>
        </p:txBody>
      </p:sp>
      <p:sp>
        <p:nvSpPr>
          <p:cNvPr name="TextBox 19" id="19"/>
          <p:cNvSpPr txBox="true"/>
          <p:nvPr/>
        </p:nvSpPr>
        <p:spPr>
          <a:xfrm rot="0">
            <a:off x="1837834" y="7209789"/>
            <a:ext cx="12416276"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AWS Cloud Adoption Framework (AWS CAF) - Business Group</a:t>
            </a:r>
          </a:p>
        </p:txBody>
      </p:sp>
      <p:sp>
        <p:nvSpPr>
          <p:cNvPr name="TextBox 20" id="20"/>
          <p:cNvSpPr txBox="true"/>
          <p:nvPr/>
        </p:nvSpPr>
        <p:spPr>
          <a:xfrm rot="0">
            <a:off x="1837834" y="7716945"/>
            <a:ext cx="7764373"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Business, People, Governance.</a:t>
            </a:r>
          </a:p>
        </p:txBody>
      </p:sp>
      <p:sp>
        <p:nvSpPr>
          <p:cNvPr name="TextBox 21" id="21"/>
          <p:cNvSpPr txBox="true"/>
          <p:nvPr/>
        </p:nvSpPr>
        <p:spPr>
          <a:xfrm rot="0">
            <a:off x="1837834" y="8704884"/>
            <a:ext cx="11450744"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AWS Cloud Adoption Framework (AWS CAF) - Technical Group</a:t>
            </a:r>
          </a:p>
        </p:txBody>
      </p:sp>
      <p:sp>
        <p:nvSpPr>
          <p:cNvPr name="TextBox 22" id="22"/>
          <p:cNvSpPr txBox="true"/>
          <p:nvPr/>
        </p:nvSpPr>
        <p:spPr>
          <a:xfrm rot="0">
            <a:off x="1837834" y="9212040"/>
            <a:ext cx="7764373"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Platform, Security, Operations.</a:t>
            </a:r>
          </a:p>
        </p:txBody>
      </p:sp>
      <p:sp>
        <p:nvSpPr>
          <p:cNvPr name="Freeform 23" id="23"/>
          <p:cNvSpPr/>
          <p:nvPr/>
        </p:nvSpPr>
        <p:spPr>
          <a:xfrm flipH="true" flipV="false" rot="0">
            <a:off x="7924631" y="4276748"/>
            <a:ext cx="9978940" cy="8229600"/>
          </a:xfrm>
          <a:custGeom>
            <a:avLst/>
            <a:gdLst/>
            <a:ahLst/>
            <a:cxnLst/>
            <a:rect r="r" b="b" t="t" l="l"/>
            <a:pathLst>
              <a:path h="8229600" w="9978940">
                <a:moveTo>
                  <a:pt x="9978940" y="0"/>
                </a:moveTo>
                <a:lnTo>
                  <a:pt x="0" y="0"/>
                </a:lnTo>
                <a:lnTo>
                  <a:pt x="0" y="8229600"/>
                </a:lnTo>
                <a:lnTo>
                  <a:pt x="9978940" y="8229600"/>
                </a:lnTo>
                <a:lnTo>
                  <a:pt x="9978940" y="0"/>
                </a:lnTo>
                <a:close/>
              </a:path>
            </a:pathLst>
          </a:custGeom>
          <a:blipFill>
            <a:blip r:embed="rId2"/>
            <a:stretch>
              <a:fillRect l="0" t="0" r="0" b="0"/>
            </a:stretch>
          </a:blipFill>
        </p:spPr>
      </p:sp>
      <p:sp>
        <p:nvSpPr>
          <p:cNvPr name="Freeform 24" id="24"/>
          <p:cNvSpPr/>
          <p:nvPr/>
        </p:nvSpPr>
        <p:spPr>
          <a:xfrm flipH="false" flipV="false" rot="-6719697">
            <a:off x="-4707021" y="-6484248"/>
            <a:ext cx="10951759" cy="10528031"/>
          </a:xfrm>
          <a:custGeom>
            <a:avLst/>
            <a:gdLst/>
            <a:ahLst/>
            <a:cxnLst/>
            <a:rect r="r" b="b" t="t" l="l"/>
            <a:pathLst>
              <a:path h="10528031" w="10951759">
                <a:moveTo>
                  <a:pt x="0" y="0"/>
                </a:moveTo>
                <a:lnTo>
                  <a:pt x="10951760" y="0"/>
                </a:lnTo>
                <a:lnTo>
                  <a:pt x="10951760" y="10528031"/>
                </a:lnTo>
                <a:lnTo>
                  <a:pt x="0" y="10528031"/>
                </a:lnTo>
                <a:lnTo>
                  <a:pt x="0" y="0"/>
                </a:lnTo>
                <a:close/>
              </a:path>
            </a:pathLst>
          </a:custGeom>
          <a:blipFill>
            <a:blip r:embed="rId3"/>
            <a:stretch>
              <a:fillRect l="0" t="0" r="0" b="0"/>
            </a:stretch>
          </a:blipFill>
        </p:spPr>
      </p:sp>
      <p:sp>
        <p:nvSpPr>
          <p:cNvPr name="TextBox 25" id="25"/>
          <p:cNvSpPr txBox="true"/>
          <p:nvPr/>
        </p:nvSpPr>
        <p:spPr>
          <a:xfrm rot="0">
            <a:off x="0" y="551858"/>
            <a:ext cx="12626676" cy="2343765"/>
          </a:xfrm>
          <a:prstGeom prst="rect">
            <a:avLst/>
          </a:prstGeom>
        </p:spPr>
        <p:txBody>
          <a:bodyPr anchor="t" rtlCol="false" tIns="0" lIns="0" bIns="0" rIns="0">
            <a:spAutoFit/>
          </a:bodyPr>
          <a:lstStyle/>
          <a:p>
            <a:pPr algn="r">
              <a:lnSpc>
                <a:spcPts val="9416"/>
              </a:lnSpc>
            </a:pPr>
            <a:r>
              <a:rPr lang="en-US" sz="6725" b="true">
                <a:solidFill>
                  <a:srgbClr val="FFFFFF"/>
                </a:solidFill>
                <a:latin typeface="Montserrat Bold"/>
                <a:ea typeface="Montserrat Bold"/>
                <a:cs typeface="Montserrat Bold"/>
                <a:sym typeface="Montserrat Bold"/>
              </a:rPr>
              <a:t>Cloud Concepts (24%)</a:t>
            </a:r>
          </a:p>
          <a:p>
            <a:pPr algn="r">
              <a:lnSpc>
                <a:spcPts val="9416"/>
              </a:lnSpc>
              <a:spcBef>
                <a:spcPct val="0"/>
              </a:spcBef>
            </a:pPr>
          </a:p>
        </p:txBody>
      </p:sp>
      <p:sp>
        <p:nvSpPr>
          <p:cNvPr name="Freeform 26" id="26"/>
          <p:cNvSpPr/>
          <p:nvPr/>
        </p:nvSpPr>
        <p:spPr>
          <a:xfrm flipH="false" flipV="false" rot="0">
            <a:off x="359348" y="544620"/>
            <a:ext cx="2435427" cy="1369928"/>
          </a:xfrm>
          <a:custGeom>
            <a:avLst/>
            <a:gdLst/>
            <a:ahLst/>
            <a:cxnLst/>
            <a:rect r="r" b="b" t="t" l="l"/>
            <a:pathLst>
              <a:path h="1369928" w="2435427">
                <a:moveTo>
                  <a:pt x="0" y="0"/>
                </a:moveTo>
                <a:lnTo>
                  <a:pt x="2435427" y="0"/>
                </a:lnTo>
                <a:lnTo>
                  <a:pt x="2435427" y="1369928"/>
                </a:lnTo>
                <a:lnTo>
                  <a:pt x="0" y="1369928"/>
                </a:lnTo>
                <a:lnTo>
                  <a:pt x="0" y="0"/>
                </a:lnTo>
                <a:close/>
              </a:path>
            </a:pathLst>
          </a:custGeom>
          <a:blipFill>
            <a:blip r:embed="rId4"/>
            <a:stretch>
              <a:fillRect l="0" t="0" r="0" b="0"/>
            </a:stretch>
          </a:blipFill>
        </p:spPr>
      </p:sp>
      <p:sp>
        <p:nvSpPr>
          <p:cNvPr name="Freeform 27" id="27"/>
          <p:cNvSpPr/>
          <p:nvPr/>
        </p:nvSpPr>
        <p:spPr>
          <a:xfrm flipH="false" flipV="false" rot="0">
            <a:off x="650353" y="2301882"/>
            <a:ext cx="1187481" cy="1187481"/>
          </a:xfrm>
          <a:custGeom>
            <a:avLst/>
            <a:gdLst/>
            <a:ahLst/>
            <a:cxnLst/>
            <a:rect r="r" b="b" t="t" l="l"/>
            <a:pathLst>
              <a:path h="1187481" w="1187481">
                <a:moveTo>
                  <a:pt x="0" y="0"/>
                </a:moveTo>
                <a:lnTo>
                  <a:pt x="1187481" y="0"/>
                </a:lnTo>
                <a:lnTo>
                  <a:pt x="1187481" y="1187481"/>
                </a:lnTo>
                <a:lnTo>
                  <a:pt x="0" y="1187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2012262" y="2569358"/>
            <a:ext cx="15628402" cy="566806"/>
          </a:xfrm>
          <a:prstGeom prst="rect">
            <a:avLst/>
          </a:prstGeom>
        </p:spPr>
        <p:txBody>
          <a:bodyPr anchor="t" rtlCol="false" tIns="0" lIns="0" bIns="0" rIns="0">
            <a:spAutoFit/>
          </a:bodyPr>
          <a:lstStyle/>
          <a:p>
            <a:pPr algn="l">
              <a:lnSpc>
                <a:spcPts val="4458"/>
              </a:lnSpc>
              <a:spcBef>
                <a:spcPct val="0"/>
              </a:spcBef>
            </a:pPr>
            <a:r>
              <a:rPr lang="en-US" sz="3184">
                <a:solidFill>
                  <a:srgbClr val="FFFFFF"/>
                </a:solidFill>
                <a:latin typeface="Arimo"/>
                <a:ea typeface="Arimo"/>
                <a:cs typeface="Arimo"/>
                <a:sym typeface="Arimo"/>
              </a:rPr>
              <a:t>This section is not heavily technical, but focuses on digital transformation thinking.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AutoShape 2" id="2"/>
          <p:cNvSpPr/>
          <p:nvPr/>
        </p:nvSpPr>
        <p:spPr>
          <a:xfrm flipH="true">
            <a:off x="1047750" y="4629472"/>
            <a:ext cx="0" cy="6492240"/>
          </a:xfrm>
          <a:prstGeom prst="line">
            <a:avLst/>
          </a:prstGeom>
          <a:ln cap="flat" w="38100">
            <a:solidFill>
              <a:srgbClr val="FFFFFF"/>
            </a:solidFill>
            <a:prstDash val="solid"/>
            <a:headEnd type="none" len="sm" w="sm"/>
            <a:tailEnd type="none" len="sm" w="sm"/>
          </a:ln>
        </p:spPr>
      </p:sp>
      <p:grpSp>
        <p:nvGrpSpPr>
          <p:cNvPr name="Group 3" id="3"/>
          <p:cNvGrpSpPr/>
          <p:nvPr/>
        </p:nvGrpSpPr>
        <p:grpSpPr>
          <a:xfrm rot="0">
            <a:off x="796286" y="4437089"/>
            <a:ext cx="464829" cy="46482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796286" y="5933375"/>
            <a:ext cx="464829" cy="46482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796286" y="7429661"/>
            <a:ext cx="464829" cy="4648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96286" y="8925947"/>
            <a:ext cx="464829" cy="4648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sp>
        <p:nvSpPr>
          <p:cNvPr name="TextBox 15" id="15"/>
          <p:cNvSpPr txBox="true"/>
          <p:nvPr/>
        </p:nvSpPr>
        <p:spPr>
          <a:xfrm rot="0">
            <a:off x="1837834" y="4219598"/>
            <a:ext cx="7764373"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Shared Responsibility Model</a:t>
            </a:r>
          </a:p>
        </p:txBody>
      </p:sp>
      <p:sp>
        <p:nvSpPr>
          <p:cNvPr name="TextBox 16" id="16"/>
          <p:cNvSpPr txBox="true"/>
          <p:nvPr/>
        </p:nvSpPr>
        <p:spPr>
          <a:xfrm rot="0">
            <a:off x="1837834" y="4726754"/>
            <a:ext cx="14372801"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AWS is responsible for “Security OF the Cloud”, while customers are responsible for “Security IN the Cloud”.</a:t>
            </a:r>
          </a:p>
        </p:txBody>
      </p:sp>
      <p:sp>
        <p:nvSpPr>
          <p:cNvPr name="TextBox 17" id="17"/>
          <p:cNvSpPr txBox="true"/>
          <p:nvPr/>
        </p:nvSpPr>
        <p:spPr>
          <a:xfrm rot="0">
            <a:off x="1837834" y="5714693"/>
            <a:ext cx="8535356"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Identity and Access Management (IAM)</a:t>
            </a:r>
          </a:p>
        </p:txBody>
      </p:sp>
      <p:sp>
        <p:nvSpPr>
          <p:cNvPr name="TextBox 18" id="18"/>
          <p:cNvSpPr txBox="true"/>
          <p:nvPr/>
        </p:nvSpPr>
        <p:spPr>
          <a:xfrm rot="0">
            <a:off x="1837834" y="6221849"/>
            <a:ext cx="8160878" cy="676025"/>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Apply the principle of Least Privilege. Briefly explain the differences between IAM User, Group, Role and Policy.</a:t>
            </a:r>
          </a:p>
        </p:txBody>
      </p:sp>
      <p:sp>
        <p:nvSpPr>
          <p:cNvPr name="TextBox 19" id="19"/>
          <p:cNvSpPr txBox="true"/>
          <p:nvPr/>
        </p:nvSpPr>
        <p:spPr>
          <a:xfrm rot="0">
            <a:off x="1837834" y="7209789"/>
            <a:ext cx="12416276"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Basic Infrastructure Security</a:t>
            </a:r>
          </a:p>
        </p:txBody>
      </p:sp>
      <p:sp>
        <p:nvSpPr>
          <p:cNvPr name="TextBox 20" id="20"/>
          <p:cNvSpPr txBox="true"/>
          <p:nvPr/>
        </p:nvSpPr>
        <p:spPr>
          <a:xfrm rot="0">
            <a:off x="1837834" y="7716945"/>
            <a:ext cx="11450744" cy="676025"/>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The difference between Security Groups and NACLs. DDoS protection services such as AWS Shield or web application firewalls like AWS WAF.</a:t>
            </a:r>
          </a:p>
        </p:txBody>
      </p:sp>
      <p:sp>
        <p:nvSpPr>
          <p:cNvPr name="TextBox 21" id="21"/>
          <p:cNvSpPr txBox="true"/>
          <p:nvPr/>
        </p:nvSpPr>
        <p:spPr>
          <a:xfrm rot="0">
            <a:off x="1837834" y="8704884"/>
            <a:ext cx="11450744"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Compliance</a:t>
            </a:r>
          </a:p>
        </p:txBody>
      </p:sp>
      <p:sp>
        <p:nvSpPr>
          <p:cNvPr name="TextBox 22" id="22"/>
          <p:cNvSpPr txBox="true"/>
          <p:nvPr/>
        </p:nvSpPr>
        <p:spPr>
          <a:xfrm rot="0">
            <a:off x="1837834" y="9212040"/>
            <a:ext cx="7764373"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The AWS Artifact service for downloading audit reports.</a:t>
            </a:r>
          </a:p>
        </p:txBody>
      </p:sp>
      <p:sp>
        <p:nvSpPr>
          <p:cNvPr name="Freeform 23" id="23"/>
          <p:cNvSpPr/>
          <p:nvPr/>
        </p:nvSpPr>
        <p:spPr>
          <a:xfrm flipH="true" flipV="false" rot="0">
            <a:off x="7924631" y="4276748"/>
            <a:ext cx="9978940" cy="8229600"/>
          </a:xfrm>
          <a:custGeom>
            <a:avLst/>
            <a:gdLst/>
            <a:ahLst/>
            <a:cxnLst/>
            <a:rect r="r" b="b" t="t" l="l"/>
            <a:pathLst>
              <a:path h="8229600" w="9978940">
                <a:moveTo>
                  <a:pt x="9978940" y="0"/>
                </a:moveTo>
                <a:lnTo>
                  <a:pt x="0" y="0"/>
                </a:lnTo>
                <a:lnTo>
                  <a:pt x="0" y="8229600"/>
                </a:lnTo>
                <a:lnTo>
                  <a:pt x="9978940" y="8229600"/>
                </a:lnTo>
                <a:lnTo>
                  <a:pt x="9978940" y="0"/>
                </a:lnTo>
                <a:close/>
              </a:path>
            </a:pathLst>
          </a:custGeom>
          <a:blipFill>
            <a:blip r:embed="rId2"/>
            <a:stretch>
              <a:fillRect l="0" t="0" r="0" b="0"/>
            </a:stretch>
          </a:blipFill>
        </p:spPr>
      </p:sp>
      <p:sp>
        <p:nvSpPr>
          <p:cNvPr name="Freeform 24" id="24"/>
          <p:cNvSpPr/>
          <p:nvPr/>
        </p:nvSpPr>
        <p:spPr>
          <a:xfrm flipH="false" flipV="false" rot="-6719697">
            <a:off x="-4707021" y="-6484248"/>
            <a:ext cx="10951759" cy="10528031"/>
          </a:xfrm>
          <a:custGeom>
            <a:avLst/>
            <a:gdLst/>
            <a:ahLst/>
            <a:cxnLst/>
            <a:rect r="r" b="b" t="t" l="l"/>
            <a:pathLst>
              <a:path h="10528031" w="10951759">
                <a:moveTo>
                  <a:pt x="0" y="0"/>
                </a:moveTo>
                <a:lnTo>
                  <a:pt x="10951760" y="0"/>
                </a:lnTo>
                <a:lnTo>
                  <a:pt x="10951760" y="10528031"/>
                </a:lnTo>
                <a:lnTo>
                  <a:pt x="0" y="10528031"/>
                </a:lnTo>
                <a:lnTo>
                  <a:pt x="0" y="0"/>
                </a:lnTo>
                <a:close/>
              </a:path>
            </a:pathLst>
          </a:custGeom>
          <a:blipFill>
            <a:blip r:embed="rId3"/>
            <a:stretch>
              <a:fillRect l="0" t="0" r="0" b="0"/>
            </a:stretch>
          </a:blipFill>
        </p:spPr>
      </p:sp>
      <p:sp>
        <p:nvSpPr>
          <p:cNvPr name="TextBox 25" id="25"/>
          <p:cNvSpPr txBox="true"/>
          <p:nvPr/>
        </p:nvSpPr>
        <p:spPr>
          <a:xfrm rot="0">
            <a:off x="-1131850" y="684558"/>
            <a:ext cx="18772514" cy="912474"/>
          </a:xfrm>
          <a:prstGeom prst="rect">
            <a:avLst/>
          </a:prstGeom>
        </p:spPr>
        <p:txBody>
          <a:bodyPr anchor="t" rtlCol="false" tIns="0" lIns="0" bIns="0" rIns="0">
            <a:spAutoFit/>
          </a:bodyPr>
          <a:lstStyle/>
          <a:p>
            <a:pPr algn="r">
              <a:lnSpc>
                <a:spcPts val="7456"/>
              </a:lnSpc>
              <a:spcBef>
                <a:spcPct val="0"/>
              </a:spcBef>
            </a:pPr>
            <a:r>
              <a:rPr lang="en-US" b="true" sz="5325">
                <a:solidFill>
                  <a:srgbClr val="FFFFFF"/>
                </a:solidFill>
                <a:latin typeface="Montserrat Bold"/>
                <a:ea typeface="Montserrat Bold"/>
                <a:cs typeface="Montserrat Bold"/>
                <a:sym typeface="Montserrat Bold"/>
              </a:rPr>
              <a:t>Domain 2: Security and Compliance (30%)</a:t>
            </a:r>
          </a:p>
        </p:txBody>
      </p:sp>
      <p:sp>
        <p:nvSpPr>
          <p:cNvPr name="Freeform 26" id="26"/>
          <p:cNvSpPr/>
          <p:nvPr/>
        </p:nvSpPr>
        <p:spPr>
          <a:xfrm flipH="false" flipV="false" rot="0">
            <a:off x="359348" y="544620"/>
            <a:ext cx="2435427" cy="1369928"/>
          </a:xfrm>
          <a:custGeom>
            <a:avLst/>
            <a:gdLst/>
            <a:ahLst/>
            <a:cxnLst/>
            <a:rect r="r" b="b" t="t" l="l"/>
            <a:pathLst>
              <a:path h="1369928" w="2435427">
                <a:moveTo>
                  <a:pt x="0" y="0"/>
                </a:moveTo>
                <a:lnTo>
                  <a:pt x="2435427" y="0"/>
                </a:lnTo>
                <a:lnTo>
                  <a:pt x="2435427" y="1369928"/>
                </a:lnTo>
                <a:lnTo>
                  <a:pt x="0" y="1369928"/>
                </a:lnTo>
                <a:lnTo>
                  <a:pt x="0" y="0"/>
                </a:lnTo>
                <a:close/>
              </a:path>
            </a:pathLst>
          </a:custGeom>
          <a:blipFill>
            <a:blip r:embed="rId4"/>
            <a:stretch>
              <a:fillRect l="0" t="0" r="0" b="0"/>
            </a:stretch>
          </a:blipFill>
        </p:spPr>
      </p:sp>
      <p:sp>
        <p:nvSpPr>
          <p:cNvPr name="Freeform 27" id="27"/>
          <p:cNvSpPr/>
          <p:nvPr/>
        </p:nvSpPr>
        <p:spPr>
          <a:xfrm flipH="false" flipV="false" rot="0">
            <a:off x="650353" y="2301882"/>
            <a:ext cx="1187481" cy="1187481"/>
          </a:xfrm>
          <a:custGeom>
            <a:avLst/>
            <a:gdLst/>
            <a:ahLst/>
            <a:cxnLst/>
            <a:rect r="r" b="b" t="t" l="l"/>
            <a:pathLst>
              <a:path h="1187481" w="1187481">
                <a:moveTo>
                  <a:pt x="0" y="0"/>
                </a:moveTo>
                <a:lnTo>
                  <a:pt x="1187481" y="0"/>
                </a:lnTo>
                <a:lnTo>
                  <a:pt x="1187481" y="1187481"/>
                </a:lnTo>
                <a:lnTo>
                  <a:pt x="0" y="1187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2012262" y="2569358"/>
            <a:ext cx="15628402" cy="566806"/>
          </a:xfrm>
          <a:prstGeom prst="rect">
            <a:avLst/>
          </a:prstGeom>
        </p:spPr>
        <p:txBody>
          <a:bodyPr anchor="t" rtlCol="false" tIns="0" lIns="0" bIns="0" rIns="0">
            <a:spAutoFit/>
          </a:bodyPr>
          <a:lstStyle/>
          <a:p>
            <a:pPr algn="l">
              <a:lnSpc>
                <a:spcPts val="4458"/>
              </a:lnSpc>
              <a:spcBef>
                <a:spcPct val="0"/>
              </a:spcBef>
            </a:pPr>
            <a:r>
              <a:rPr lang="en-US" sz="3184">
                <a:solidFill>
                  <a:srgbClr val="FFFFFF"/>
                </a:solidFill>
                <a:latin typeface="Arimo"/>
                <a:ea typeface="Arimo"/>
                <a:cs typeface="Arimo"/>
                <a:sym typeface="Arimo"/>
              </a:rPr>
              <a:t>Who is responsible when a system is hacked?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AutoShape 2" id="2"/>
          <p:cNvSpPr/>
          <p:nvPr/>
        </p:nvSpPr>
        <p:spPr>
          <a:xfrm flipH="true">
            <a:off x="1047750" y="4629472"/>
            <a:ext cx="0" cy="6492240"/>
          </a:xfrm>
          <a:prstGeom prst="line">
            <a:avLst/>
          </a:prstGeom>
          <a:ln cap="flat" w="38100">
            <a:solidFill>
              <a:srgbClr val="FFFFFF"/>
            </a:solidFill>
            <a:prstDash val="solid"/>
            <a:headEnd type="none" len="sm" w="sm"/>
            <a:tailEnd type="none" len="sm" w="sm"/>
          </a:ln>
        </p:spPr>
      </p:sp>
      <p:grpSp>
        <p:nvGrpSpPr>
          <p:cNvPr name="Group 3" id="3"/>
          <p:cNvGrpSpPr/>
          <p:nvPr/>
        </p:nvGrpSpPr>
        <p:grpSpPr>
          <a:xfrm rot="0">
            <a:off x="796286" y="4437089"/>
            <a:ext cx="464829" cy="46482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796286" y="5933375"/>
            <a:ext cx="464829" cy="46482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796286" y="7429661"/>
            <a:ext cx="464829" cy="4648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96286" y="8925947"/>
            <a:ext cx="464829" cy="4648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sp>
        <p:nvSpPr>
          <p:cNvPr name="TextBox 15" id="15"/>
          <p:cNvSpPr txBox="true"/>
          <p:nvPr/>
        </p:nvSpPr>
        <p:spPr>
          <a:xfrm rot="0">
            <a:off x="1837834" y="4219598"/>
            <a:ext cx="7764373"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Global Infrastructure</a:t>
            </a:r>
          </a:p>
        </p:txBody>
      </p:sp>
      <p:sp>
        <p:nvSpPr>
          <p:cNvPr name="TextBox 16" id="16"/>
          <p:cNvSpPr txBox="true"/>
          <p:nvPr/>
        </p:nvSpPr>
        <p:spPr>
          <a:xfrm rot="0">
            <a:off x="1837834" y="4726754"/>
            <a:ext cx="14372801"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Region, Availability Zone, Edge Location...</a:t>
            </a:r>
          </a:p>
        </p:txBody>
      </p:sp>
      <p:sp>
        <p:nvSpPr>
          <p:cNvPr name="TextBox 17" id="17"/>
          <p:cNvSpPr txBox="true"/>
          <p:nvPr/>
        </p:nvSpPr>
        <p:spPr>
          <a:xfrm rot="0">
            <a:off x="1837834" y="5714693"/>
            <a:ext cx="8535356"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Compute</a:t>
            </a:r>
          </a:p>
        </p:txBody>
      </p:sp>
      <p:sp>
        <p:nvSpPr>
          <p:cNvPr name="TextBox 18" id="18"/>
          <p:cNvSpPr txBox="true"/>
          <p:nvPr/>
        </p:nvSpPr>
        <p:spPr>
          <a:xfrm rot="0">
            <a:off x="1837834" y="6221849"/>
            <a:ext cx="8160878"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Amazon EC2, AWS Lambda...</a:t>
            </a:r>
          </a:p>
        </p:txBody>
      </p:sp>
      <p:sp>
        <p:nvSpPr>
          <p:cNvPr name="TextBox 19" id="19"/>
          <p:cNvSpPr txBox="true"/>
          <p:nvPr/>
        </p:nvSpPr>
        <p:spPr>
          <a:xfrm rot="0">
            <a:off x="1837834" y="7209789"/>
            <a:ext cx="12416276"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Storage, Database</a:t>
            </a:r>
          </a:p>
        </p:txBody>
      </p:sp>
      <p:sp>
        <p:nvSpPr>
          <p:cNvPr name="TextBox 20" id="20"/>
          <p:cNvSpPr txBox="true"/>
          <p:nvPr/>
        </p:nvSpPr>
        <p:spPr>
          <a:xfrm rot="0">
            <a:off x="1837834" y="7716945"/>
            <a:ext cx="7764373"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Amazon S3, EBS, EFS, RDS, DynamoDB...</a:t>
            </a:r>
          </a:p>
        </p:txBody>
      </p:sp>
      <p:sp>
        <p:nvSpPr>
          <p:cNvPr name="TextBox 21" id="21"/>
          <p:cNvSpPr txBox="true"/>
          <p:nvPr/>
        </p:nvSpPr>
        <p:spPr>
          <a:xfrm rot="0">
            <a:off x="1837834" y="8704884"/>
            <a:ext cx="11450744"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Networking</a:t>
            </a:r>
          </a:p>
        </p:txBody>
      </p:sp>
      <p:sp>
        <p:nvSpPr>
          <p:cNvPr name="TextBox 22" id="22"/>
          <p:cNvSpPr txBox="true"/>
          <p:nvPr/>
        </p:nvSpPr>
        <p:spPr>
          <a:xfrm rot="0">
            <a:off x="1837834" y="9212040"/>
            <a:ext cx="7764373"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Amazon VPC, Route 53...</a:t>
            </a:r>
          </a:p>
        </p:txBody>
      </p:sp>
      <p:sp>
        <p:nvSpPr>
          <p:cNvPr name="Freeform 23" id="23"/>
          <p:cNvSpPr/>
          <p:nvPr/>
        </p:nvSpPr>
        <p:spPr>
          <a:xfrm flipH="true" flipV="false" rot="0">
            <a:off x="7924631" y="4276748"/>
            <a:ext cx="9978940" cy="8229600"/>
          </a:xfrm>
          <a:custGeom>
            <a:avLst/>
            <a:gdLst/>
            <a:ahLst/>
            <a:cxnLst/>
            <a:rect r="r" b="b" t="t" l="l"/>
            <a:pathLst>
              <a:path h="8229600" w="9978940">
                <a:moveTo>
                  <a:pt x="9978940" y="0"/>
                </a:moveTo>
                <a:lnTo>
                  <a:pt x="0" y="0"/>
                </a:lnTo>
                <a:lnTo>
                  <a:pt x="0" y="8229600"/>
                </a:lnTo>
                <a:lnTo>
                  <a:pt x="9978940" y="8229600"/>
                </a:lnTo>
                <a:lnTo>
                  <a:pt x="9978940" y="0"/>
                </a:lnTo>
                <a:close/>
              </a:path>
            </a:pathLst>
          </a:custGeom>
          <a:blipFill>
            <a:blip r:embed="rId2"/>
            <a:stretch>
              <a:fillRect l="0" t="0" r="0" b="0"/>
            </a:stretch>
          </a:blipFill>
        </p:spPr>
      </p:sp>
      <p:sp>
        <p:nvSpPr>
          <p:cNvPr name="Freeform 24" id="24"/>
          <p:cNvSpPr/>
          <p:nvPr/>
        </p:nvSpPr>
        <p:spPr>
          <a:xfrm flipH="false" flipV="false" rot="-6719697">
            <a:off x="-4707021" y="-6484248"/>
            <a:ext cx="10951759" cy="10528031"/>
          </a:xfrm>
          <a:custGeom>
            <a:avLst/>
            <a:gdLst/>
            <a:ahLst/>
            <a:cxnLst/>
            <a:rect r="r" b="b" t="t" l="l"/>
            <a:pathLst>
              <a:path h="10528031" w="10951759">
                <a:moveTo>
                  <a:pt x="0" y="0"/>
                </a:moveTo>
                <a:lnTo>
                  <a:pt x="10951760" y="0"/>
                </a:lnTo>
                <a:lnTo>
                  <a:pt x="10951760" y="10528031"/>
                </a:lnTo>
                <a:lnTo>
                  <a:pt x="0" y="10528031"/>
                </a:lnTo>
                <a:lnTo>
                  <a:pt x="0" y="0"/>
                </a:lnTo>
                <a:close/>
              </a:path>
            </a:pathLst>
          </a:custGeom>
          <a:blipFill>
            <a:blip r:embed="rId3"/>
            <a:stretch>
              <a:fillRect l="0" t="0" r="0" b="0"/>
            </a:stretch>
          </a:blipFill>
        </p:spPr>
      </p:sp>
      <p:sp>
        <p:nvSpPr>
          <p:cNvPr name="TextBox 25" id="25"/>
          <p:cNvSpPr txBox="true"/>
          <p:nvPr/>
        </p:nvSpPr>
        <p:spPr>
          <a:xfrm rot="0">
            <a:off x="0" y="942975"/>
            <a:ext cx="17259300" cy="770868"/>
          </a:xfrm>
          <a:prstGeom prst="rect">
            <a:avLst/>
          </a:prstGeom>
        </p:spPr>
        <p:txBody>
          <a:bodyPr anchor="t" rtlCol="false" tIns="0" lIns="0" bIns="0" rIns="0">
            <a:spAutoFit/>
          </a:bodyPr>
          <a:lstStyle/>
          <a:p>
            <a:pPr algn="r">
              <a:lnSpc>
                <a:spcPts val="6336"/>
              </a:lnSpc>
              <a:spcBef>
                <a:spcPct val="0"/>
              </a:spcBef>
            </a:pPr>
            <a:r>
              <a:rPr lang="en-US" b="true" sz="4525">
                <a:solidFill>
                  <a:srgbClr val="FFFFFF"/>
                </a:solidFill>
                <a:latin typeface="Montserrat Bold"/>
                <a:ea typeface="Montserrat Bold"/>
                <a:cs typeface="Montserrat Bold"/>
                <a:sym typeface="Montserrat Bold"/>
              </a:rPr>
              <a:t>Domain 3: Cloud Technology and Services (34%)</a:t>
            </a:r>
          </a:p>
        </p:txBody>
      </p:sp>
      <p:sp>
        <p:nvSpPr>
          <p:cNvPr name="Freeform 26" id="26"/>
          <p:cNvSpPr/>
          <p:nvPr/>
        </p:nvSpPr>
        <p:spPr>
          <a:xfrm flipH="false" flipV="false" rot="0">
            <a:off x="359348" y="544620"/>
            <a:ext cx="2435427" cy="1369928"/>
          </a:xfrm>
          <a:custGeom>
            <a:avLst/>
            <a:gdLst/>
            <a:ahLst/>
            <a:cxnLst/>
            <a:rect r="r" b="b" t="t" l="l"/>
            <a:pathLst>
              <a:path h="1369928" w="2435427">
                <a:moveTo>
                  <a:pt x="0" y="0"/>
                </a:moveTo>
                <a:lnTo>
                  <a:pt x="2435427" y="0"/>
                </a:lnTo>
                <a:lnTo>
                  <a:pt x="2435427" y="1369928"/>
                </a:lnTo>
                <a:lnTo>
                  <a:pt x="0" y="1369928"/>
                </a:lnTo>
                <a:lnTo>
                  <a:pt x="0" y="0"/>
                </a:lnTo>
                <a:close/>
              </a:path>
            </a:pathLst>
          </a:custGeom>
          <a:blipFill>
            <a:blip r:embed="rId4"/>
            <a:stretch>
              <a:fillRect l="0" t="0" r="0" b="0"/>
            </a:stretch>
          </a:blipFill>
        </p:spPr>
      </p:sp>
      <p:sp>
        <p:nvSpPr>
          <p:cNvPr name="Freeform 27" id="27"/>
          <p:cNvSpPr/>
          <p:nvPr/>
        </p:nvSpPr>
        <p:spPr>
          <a:xfrm flipH="false" flipV="false" rot="0">
            <a:off x="650353" y="2301882"/>
            <a:ext cx="1187481" cy="1187481"/>
          </a:xfrm>
          <a:custGeom>
            <a:avLst/>
            <a:gdLst/>
            <a:ahLst/>
            <a:cxnLst/>
            <a:rect r="r" b="b" t="t" l="l"/>
            <a:pathLst>
              <a:path h="1187481" w="1187481">
                <a:moveTo>
                  <a:pt x="0" y="0"/>
                </a:moveTo>
                <a:lnTo>
                  <a:pt x="1187481" y="0"/>
                </a:lnTo>
                <a:lnTo>
                  <a:pt x="1187481" y="1187481"/>
                </a:lnTo>
                <a:lnTo>
                  <a:pt x="0" y="1187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2012262" y="2569358"/>
            <a:ext cx="15628402" cy="566806"/>
          </a:xfrm>
          <a:prstGeom prst="rect">
            <a:avLst/>
          </a:prstGeom>
        </p:spPr>
        <p:txBody>
          <a:bodyPr anchor="t" rtlCol="false" tIns="0" lIns="0" bIns="0" rIns="0">
            <a:spAutoFit/>
          </a:bodyPr>
          <a:lstStyle/>
          <a:p>
            <a:pPr algn="l">
              <a:lnSpc>
                <a:spcPts val="4458"/>
              </a:lnSpc>
              <a:spcBef>
                <a:spcPct val="0"/>
              </a:spcBef>
            </a:pPr>
            <a:r>
              <a:rPr lang="en-US" sz="3184">
                <a:solidFill>
                  <a:srgbClr val="FFFFFF"/>
                </a:solidFill>
                <a:latin typeface="Arimo"/>
                <a:ea typeface="Arimo"/>
                <a:cs typeface="Arimo"/>
                <a:sym typeface="Arimo"/>
              </a:rPr>
              <a:t>You can understand what the service is used for just by its name (use case).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AutoShape 2" id="2"/>
          <p:cNvSpPr/>
          <p:nvPr/>
        </p:nvSpPr>
        <p:spPr>
          <a:xfrm flipH="true">
            <a:off x="1047750" y="4629472"/>
            <a:ext cx="0" cy="6492240"/>
          </a:xfrm>
          <a:prstGeom prst="line">
            <a:avLst/>
          </a:prstGeom>
          <a:ln cap="flat" w="38100">
            <a:solidFill>
              <a:srgbClr val="FFFFFF"/>
            </a:solidFill>
            <a:prstDash val="solid"/>
            <a:headEnd type="none" len="sm" w="sm"/>
            <a:tailEnd type="none" len="sm" w="sm"/>
          </a:ln>
        </p:spPr>
      </p:sp>
      <p:grpSp>
        <p:nvGrpSpPr>
          <p:cNvPr name="Group 3" id="3"/>
          <p:cNvGrpSpPr/>
          <p:nvPr/>
        </p:nvGrpSpPr>
        <p:grpSpPr>
          <a:xfrm rot="0">
            <a:off x="796286" y="4437089"/>
            <a:ext cx="464829" cy="46482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796286" y="5933375"/>
            <a:ext cx="464829" cy="46482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796286" y="7429661"/>
            <a:ext cx="464829" cy="4648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761E"/>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359"/>
                </a:lnSpc>
              </a:pPr>
            </a:p>
          </p:txBody>
        </p:sp>
      </p:grpSp>
      <p:sp>
        <p:nvSpPr>
          <p:cNvPr name="TextBox 12" id="12"/>
          <p:cNvSpPr txBox="true"/>
          <p:nvPr/>
        </p:nvSpPr>
        <p:spPr>
          <a:xfrm rot="0">
            <a:off x="1837834" y="4219598"/>
            <a:ext cx="7764373"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EC2 pricing models</a:t>
            </a:r>
          </a:p>
        </p:txBody>
      </p:sp>
      <p:sp>
        <p:nvSpPr>
          <p:cNvPr name="TextBox 13" id="13"/>
          <p:cNvSpPr txBox="true"/>
          <p:nvPr/>
        </p:nvSpPr>
        <p:spPr>
          <a:xfrm rot="0">
            <a:off x="1837834" y="4726754"/>
            <a:ext cx="14372801"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On-Demand, Reserved Instances, Spot Instances...</a:t>
            </a:r>
          </a:p>
        </p:txBody>
      </p:sp>
      <p:sp>
        <p:nvSpPr>
          <p:cNvPr name="TextBox 14" id="14"/>
          <p:cNvSpPr txBox="true"/>
          <p:nvPr/>
        </p:nvSpPr>
        <p:spPr>
          <a:xfrm rot="0">
            <a:off x="1837834" y="5714693"/>
            <a:ext cx="9240255" cy="1856227"/>
          </a:xfrm>
          <a:prstGeom prst="rect">
            <a:avLst/>
          </a:prstGeom>
        </p:spPr>
        <p:txBody>
          <a:bodyPr anchor="t" rtlCol="false" tIns="0" lIns="0" bIns="0" rIns="0">
            <a:spAutoFit/>
          </a:bodyPr>
          <a:lstStyle/>
          <a:p>
            <a:pPr algn="l">
              <a:lnSpc>
                <a:spcPts val="3738"/>
              </a:lnSpc>
            </a:pPr>
            <a:r>
              <a:rPr lang="en-US" sz="2670" b="true">
                <a:solidFill>
                  <a:srgbClr val="EF761E"/>
                </a:solidFill>
                <a:latin typeface="Montserrat Bold"/>
                <a:ea typeface="Montserrat Bold"/>
                <a:cs typeface="Montserrat Bold"/>
                <a:sym typeface="Montserrat Bold"/>
              </a:rPr>
              <a:t>Cost management tools</a:t>
            </a:r>
          </a:p>
          <a:p>
            <a:pPr algn="l">
              <a:lnSpc>
                <a:spcPts val="3738"/>
              </a:lnSpc>
            </a:pPr>
          </a:p>
          <a:p>
            <a:pPr algn="l">
              <a:lnSpc>
                <a:spcPts val="3738"/>
              </a:lnSpc>
            </a:pPr>
          </a:p>
          <a:p>
            <a:pPr algn="l">
              <a:lnSpc>
                <a:spcPts val="3738"/>
              </a:lnSpc>
              <a:spcBef>
                <a:spcPct val="0"/>
              </a:spcBef>
            </a:pPr>
          </a:p>
        </p:txBody>
      </p:sp>
      <p:sp>
        <p:nvSpPr>
          <p:cNvPr name="TextBox 15" id="15"/>
          <p:cNvSpPr txBox="true"/>
          <p:nvPr/>
        </p:nvSpPr>
        <p:spPr>
          <a:xfrm rot="0">
            <a:off x="1837834" y="6221849"/>
            <a:ext cx="8160878"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AWS Cost Explorer, AWS Budgets...</a:t>
            </a:r>
          </a:p>
        </p:txBody>
      </p:sp>
      <p:sp>
        <p:nvSpPr>
          <p:cNvPr name="TextBox 16" id="16"/>
          <p:cNvSpPr txBox="true"/>
          <p:nvPr/>
        </p:nvSpPr>
        <p:spPr>
          <a:xfrm rot="0">
            <a:off x="1837834" y="7209789"/>
            <a:ext cx="12416276" cy="456052"/>
          </a:xfrm>
          <a:prstGeom prst="rect">
            <a:avLst/>
          </a:prstGeom>
        </p:spPr>
        <p:txBody>
          <a:bodyPr anchor="t" rtlCol="false" tIns="0" lIns="0" bIns="0" rIns="0">
            <a:spAutoFit/>
          </a:bodyPr>
          <a:lstStyle/>
          <a:p>
            <a:pPr algn="l">
              <a:lnSpc>
                <a:spcPts val="3738"/>
              </a:lnSpc>
              <a:spcBef>
                <a:spcPct val="0"/>
              </a:spcBef>
            </a:pPr>
            <a:r>
              <a:rPr lang="en-US" sz="2670" b="true">
                <a:solidFill>
                  <a:srgbClr val="EF761E"/>
                </a:solidFill>
                <a:latin typeface="Montserrat Bold"/>
                <a:ea typeface="Montserrat Bold"/>
                <a:cs typeface="Montserrat Bold"/>
                <a:sym typeface="Montserrat Bold"/>
              </a:rPr>
              <a:t>Support plans</a:t>
            </a:r>
          </a:p>
        </p:txBody>
      </p:sp>
      <p:sp>
        <p:nvSpPr>
          <p:cNvPr name="TextBox 17" id="17"/>
          <p:cNvSpPr txBox="true"/>
          <p:nvPr/>
        </p:nvSpPr>
        <p:spPr>
          <a:xfrm rot="0">
            <a:off x="1837834" y="7716945"/>
            <a:ext cx="7764373" cy="342650"/>
          </a:xfrm>
          <a:prstGeom prst="rect">
            <a:avLst/>
          </a:prstGeom>
        </p:spPr>
        <p:txBody>
          <a:bodyPr anchor="t" rtlCol="false" tIns="0" lIns="0" bIns="0" rIns="0">
            <a:spAutoFit/>
          </a:bodyPr>
          <a:lstStyle/>
          <a:p>
            <a:pPr algn="l">
              <a:lnSpc>
                <a:spcPts val="2638"/>
              </a:lnSpc>
              <a:spcBef>
                <a:spcPct val="0"/>
              </a:spcBef>
            </a:pPr>
            <a:r>
              <a:rPr lang="en-US" sz="1884" b="true">
                <a:solidFill>
                  <a:srgbClr val="FFFFFF"/>
                </a:solidFill>
                <a:latin typeface="Arimo Bold"/>
                <a:ea typeface="Arimo Bold"/>
                <a:cs typeface="Arimo Bold"/>
                <a:sym typeface="Arimo Bold"/>
              </a:rPr>
              <a:t>Basic, Developer, Business and Enterprise</a:t>
            </a:r>
          </a:p>
        </p:txBody>
      </p:sp>
      <p:sp>
        <p:nvSpPr>
          <p:cNvPr name="Freeform 18" id="18"/>
          <p:cNvSpPr/>
          <p:nvPr/>
        </p:nvSpPr>
        <p:spPr>
          <a:xfrm flipH="true" flipV="false" rot="0">
            <a:off x="7924631" y="4276748"/>
            <a:ext cx="9978940" cy="8229600"/>
          </a:xfrm>
          <a:custGeom>
            <a:avLst/>
            <a:gdLst/>
            <a:ahLst/>
            <a:cxnLst/>
            <a:rect r="r" b="b" t="t" l="l"/>
            <a:pathLst>
              <a:path h="8229600" w="9978940">
                <a:moveTo>
                  <a:pt x="9978940" y="0"/>
                </a:moveTo>
                <a:lnTo>
                  <a:pt x="0" y="0"/>
                </a:lnTo>
                <a:lnTo>
                  <a:pt x="0" y="8229600"/>
                </a:lnTo>
                <a:lnTo>
                  <a:pt x="9978940" y="8229600"/>
                </a:lnTo>
                <a:lnTo>
                  <a:pt x="9978940" y="0"/>
                </a:lnTo>
                <a:close/>
              </a:path>
            </a:pathLst>
          </a:custGeom>
          <a:blipFill>
            <a:blip r:embed="rId2"/>
            <a:stretch>
              <a:fillRect l="0" t="0" r="0" b="0"/>
            </a:stretch>
          </a:blipFill>
        </p:spPr>
      </p:sp>
      <p:sp>
        <p:nvSpPr>
          <p:cNvPr name="Freeform 19" id="19"/>
          <p:cNvSpPr/>
          <p:nvPr/>
        </p:nvSpPr>
        <p:spPr>
          <a:xfrm flipH="false" flipV="false" rot="-6719697">
            <a:off x="-4707021" y="-6484248"/>
            <a:ext cx="10951759" cy="10528031"/>
          </a:xfrm>
          <a:custGeom>
            <a:avLst/>
            <a:gdLst/>
            <a:ahLst/>
            <a:cxnLst/>
            <a:rect r="r" b="b" t="t" l="l"/>
            <a:pathLst>
              <a:path h="10528031" w="10951759">
                <a:moveTo>
                  <a:pt x="0" y="0"/>
                </a:moveTo>
                <a:lnTo>
                  <a:pt x="10951760" y="0"/>
                </a:lnTo>
                <a:lnTo>
                  <a:pt x="10951760" y="10528031"/>
                </a:lnTo>
                <a:lnTo>
                  <a:pt x="0" y="10528031"/>
                </a:lnTo>
                <a:lnTo>
                  <a:pt x="0" y="0"/>
                </a:lnTo>
                <a:close/>
              </a:path>
            </a:pathLst>
          </a:custGeom>
          <a:blipFill>
            <a:blip r:embed="rId3"/>
            <a:stretch>
              <a:fillRect l="0" t="0" r="0" b="0"/>
            </a:stretch>
          </a:blipFill>
        </p:spPr>
      </p:sp>
      <p:sp>
        <p:nvSpPr>
          <p:cNvPr name="TextBox 20" id="20"/>
          <p:cNvSpPr txBox="true"/>
          <p:nvPr/>
        </p:nvSpPr>
        <p:spPr>
          <a:xfrm rot="0">
            <a:off x="-774360" y="783619"/>
            <a:ext cx="17640665" cy="813413"/>
          </a:xfrm>
          <a:prstGeom prst="rect">
            <a:avLst/>
          </a:prstGeom>
        </p:spPr>
        <p:txBody>
          <a:bodyPr anchor="t" rtlCol="false" tIns="0" lIns="0" bIns="0" rIns="0">
            <a:spAutoFit/>
          </a:bodyPr>
          <a:lstStyle/>
          <a:p>
            <a:pPr algn="r">
              <a:lnSpc>
                <a:spcPts val="6616"/>
              </a:lnSpc>
              <a:spcBef>
                <a:spcPct val="0"/>
              </a:spcBef>
            </a:pPr>
            <a:r>
              <a:rPr lang="en-US" b="true" sz="4725">
                <a:solidFill>
                  <a:srgbClr val="FFFFFF"/>
                </a:solidFill>
                <a:latin typeface="Montserrat Bold"/>
                <a:ea typeface="Montserrat Bold"/>
                <a:cs typeface="Montserrat Bold"/>
                <a:sym typeface="Montserrat Bold"/>
              </a:rPr>
              <a:t>Domain 4: Billing, Pricing, and Support (12%)</a:t>
            </a:r>
          </a:p>
        </p:txBody>
      </p:sp>
      <p:sp>
        <p:nvSpPr>
          <p:cNvPr name="Freeform 21" id="21"/>
          <p:cNvSpPr/>
          <p:nvPr/>
        </p:nvSpPr>
        <p:spPr>
          <a:xfrm flipH="false" flipV="false" rot="0">
            <a:off x="359348" y="544620"/>
            <a:ext cx="2435427" cy="1369928"/>
          </a:xfrm>
          <a:custGeom>
            <a:avLst/>
            <a:gdLst/>
            <a:ahLst/>
            <a:cxnLst/>
            <a:rect r="r" b="b" t="t" l="l"/>
            <a:pathLst>
              <a:path h="1369928" w="2435427">
                <a:moveTo>
                  <a:pt x="0" y="0"/>
                </a:moveTo>
                <a:lnTo>
                  <a:pt x="2435427" y="0"/>
                </a:lnTo>
                <a:lnTo>
                  <a:pt x="2435427" y="1369928"/>
                </a:lnTo>
                <a:lnTo>
                  <a:pt x="0" y="1369928"/>
                </a:lnTo>
                <a:lnTo>
                  <a:pt x="0" y="0"/>
                </a:lnTo>
                <a:close/>
              </a:path>
            </a:pathLst>
          </a:custGeom>
          <a:blipFill>
            <a:blip r:embed="rId4"/>
            <a:stretch>
              <a:fillRect l="0" t="0" r="0" b="0"/>
            </a:stretch>
          </a:blipFill>
        </p:spPr>
      </p:sp>
      <p:sp>
        <p:nvSpPr>
          <p:cNvPr name="Freeform 22" id="22"/>
          <p:cNvSpPr/>
          <p:nvPr/>
        </p:nvSpPr>
        <p:spPr>
          <a:xfrm flipH="false" flipV="false" rot="0">
            <a:off x="650353" y="2301882"/>
            <a:ext cx="1187481" cy="1187481"/>
          </a:xfrm>
          <a:custGeom>
            <a:avLst/>
            <a:gdLst/>
            <a:ahLst/>
            <a:cxnLst/>
            <a:rect r="r" b="b" t="t" l="l"/>
            <a:pathLst>
              <a:path h="1187481" w="1187481">
                <a:moveTo>
                  <a:pt x="0" y="0"/>
                </a:moveTo>
                <a:lnTo>
                  <a:pt x="1187481" y="0"/>
                </a:lnTo>
                <a:lnTo>
                  <a:pt x="1187481" y="1187481"/>
                </a:lnTo>
                <a:lnTo>
                  <a:pt x="0" y="11874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2012262" y="2569358"/>
            <a:ext cx="15628402" cy="566806"/>
          </a:xfrm>
          <a:prstGeom prst="rect">
            <a:avLst/>
          </a:prstGeom>
        </p:spPr>
        <p:txBody>
          <a:bodyPr anchor="t" rtlCol="false" tIns="0" lIns="0" bIns="0" rIns="0">
            <a:spAutoFit/>
          </a:bodyPr>
          <a:lstStyle/>
          <a:p>
            <a:pPr algn="l">
              <a:lnSpc>
                <a:spcPts val="4458"/>
              </a:lnSpc>
              <a:spcBef>
                <a:spcPct val="0"/>
              </a:spcBef>
            </a:pPr>
            <a:r>
              <a:rPr lang="en-US" sz="3184">
                <a:solidFill>
                  <a:srgbClr val="FFFFFF"/>
                </a:solidFill>
                <a:latin typeface="Arimo"/>
                <a:ea typeface="Arimo"/>
                <a:cs typeface="Arimo"/>
                <a:sym typeface="Arimo"/>
              </a:rPr>
              <a:t>How much does using the cloud cost, and who helps when the system goes down?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sp>
        <p:nvSpPr>
          <p:cNvPr name="Freeform 3" id="3"/>
          <p:cNvSpPr/>
          <p:nvPr/>
        </p:nvSpPr>
        <p:spPr>
          <a:xfrm flipH="false" flipV="false" rot="0">
            <a:off x="-411892" y="4502396"/>
            <a:ext cx="20709924" cy="8229600"/>
          </a:xfrm>
          <a:custGeom>
            <a:avLst/>
            <a:gdLst/>
            <a:ahLst/>
            <a:cxnLst/>
            <a:rect r="r" b="b" t="t" l="l"/>
            <a:pathLst>
              <a:path h="8229600" w="20709924">
                <a:moveTo>
                  <a:pt x="0" y="0"/>
                </a:moveTo>
                <a:lnTo>
                  <a:pt x="20709924" y="0"/>
                </a:lnTo>
                <a:lnTo>
                  <a:pt x="20709924" y="8229600"/>
                </a:lnTo>
                <a:lnTo>
                  <a:pt x="0" y="8229600"/>
                </a:lnTo>
                <a:lnTo>
                  <a:pt x="0" y="0"/>
                </a:lnTo>
                <a:close/>
              </a:path>
            </a:pathLst>
          </a:custGeom>
          <a:blipFill>
            <a:blip r:embed="rId3"/>
            <a:stretch>
              <a:fillRect l="0" t="-20777" r="0" b="-20777"/>
            </a:stretch>
          </a:blipFill>
        </p:spPr>
      </p:sp>
      <p:sp>
        <p:nvSpPr>
          <p:cNvPr name="Freeform 4" id="4"/>
          <p:cNvSpPr/>
          <p:nvPr/>
        </p:nvSpPr>
        <p:spPr>
          <a:xfrm flipH="false" flipV="false" rot="0">
            <a:off x="843966" y="687411"/>
            <a:ext cx="2435427" cy="1369928"/>
          </a:xfrm>
          <a:custGeom>
            <a:avLst/>
            <a:gdLst/>
            <a:ahLst/>
            <a:cxnLst/>
            <a:rect r="r" b="b" t="t" l="l"/>
            <a:pathLst>
              <a:path h="1369928" w="2435427">
                <a:moveTo>
                  <a:pt x="0" y="0"/>
                </a:moveTo>
                <a:lnTo>
                  <a:pt x="2435428" y="0"/>
                </a:lnTo>
                <a:lnTo>
                  <a:pt x="2435428" y="1369928"/>
                </a:lnTo>
                <a:lnTo>
                  <a:pt x="0" y="1369928"/>
                </a:lnTo>
                <a:lnTo>
                  <a:pt x="0" y="0"/>
                </a:lnTo>
                <a:close/>
              </a:path>
            </a:pathLst>
          </a:custGeom>
          <a:blipFill>
            <a:blip r:embed="rId4"/>
            <a:stretch>
              <a:fillRect l="0" t="0" r="0" b="0"/>
            </a:stretch>
          </a:blipFill>
        </p:spPr>
      </p:sp>
      <p:sp>
        <p:nvSpPr>
          <p:cNvPr name="Freeform 5" id="5"/>
          <p:cNvSpPr/>
          <p:nvPr/>
        </p:nvSpPr>
        <p:spPr>
          <a:xfrm flipH="false" flipV="false" rot="0">
            <a:off x="378647" y="3436231"/>
            <a:ext cx="930638" cy="953278"/>
          </a:xfrm>
          <a:custGeom>
            <a:avLst/>
            <a:gdLst/>
            <a:ahLst/>
            <a:cxnLst/>
            <a:rect r="r" b="b" t="t" l="l"/>
            <a:pathLst>
              <a:path h="953278" w="930638">
                <a:moveTo>
                  <a:pt x="0" y="0"/>
                </a:moveTo>
                <a:lnTo>
                  <a:pt x="930638" y="0"/>
                </a:lnTo>
                <a:lnTo>
                  <a:pt x="930638" y="953278"/>
                </a:lnTo>
                <a:lnTo>
                  <a:pt x="0" y="953278"/>
                </a:lnTo>
                <a:lnTo>
                  <a:pt x="0" y="0"/>
                </a:lnTo>
                <a:close/>
              </a:path>
            </a:pathLst>
          </a:custGeom>
          <a:blipFill>
            <a:blip r:embed="rId5"/>
            <a:stretch>
              <a:fillRect l="0" t="0" r="0" b="0"/>
            </a:stretch>
          </a:blipFill>
        </p:spPr>
      </p:sp>
      <p:sp>
        <p:nvSpPr>
          <p:cNvPr name="TextBox 6" id="6"/>
          <p:cNvSpPr txBox="true"/>
          <p:nvPr/>
        </p:nvSpPr>
        <p:spPr>
          <a:xfrm rot="0">
            <a:off x="3583959" y="809132"/>
            <a:ext cx="13675341" cy="1012185"/>
          </a:xfrm>
          <a:prstGeom prst="rect">
            <a:avLst/>
          </a:prstGeom>
        </p:spPr>
        <p:txBody>
          <a:bodyPr anchor="t" rtlCol="false" tIns="0" lIns="0" bIns="0" rIns="0">
            <a:spAutoFit/>
          </a:bodyPr>
          <a:lstStyle/>
          <a:p>
            <a:pPr algn="just">
              <a:lnSpc>
                <a:spcPts val="8260"/>
              </a:lnSpc>
              <a:spcBef>
                <a:spcPct val="0"/>
              </a:spcBef>
            </a:pPr>
            <a:r>
              <a:rPr lang="en-US" b="true" sz="5900">
                <a:solidFill>
                  <a:srgbClr val="FFFFFF"/>
                </a:solidFill>
                <a:latin typeface="Montserrat Bold"/>
                <a:ea typeface="Montserrat Bold"/>
                <a:cs typeface="Montserrat Bold"/>
                <a:sym typeface="Montserrat Bold"/>
              </a:rPr>
              <a:t>How did I prepare for this exam?</a:t>
            </a:r>
          </a:p>
        </p:txBody>
      </p:sp>
      <p:sp>
        <p:nvSpPr>
          <p:cNvPr name="TextBox 7" id="7"/>
          <p:cNvSpPr txBox="true"/>
          <p:nvPr/>
        </p:nvSpPr>
        <p:spPr>
          <a:xfrm rot="0">
            <a:off x="1589942" y="3129280"/>
            <a:ext cx="15825133" cy="14909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Map Keyword Thinking:</a:t>
            </a:r>
            <a:r>
              <a:rPr lang="en-US" sz="2800">
                <a:solidFill>
                  <a:srgbClr val="FFFFFF"/>
                </a:solidFill>
                <a:latin typeface="Arimo"/>
                <a:ea typeface="Arimo"/>
                <a:cs typeface="Arimo"/>
                <a:sym typeface="Arimo"/>
              </a:rPr>
              <a:t> AWS asks a lot about real-world use cases. So when learning a service, always associate it with 1–2 keywords. (For example: when you see “Decouple/Microservices,” choose SQS; when you see “Data monetization” choose the Business Perspective in AWS CAF).</a:t>
            </a:r>
          </a:p>
        </p:txBody>
      </p:sp>
      <p:sp>
        <p:nvSpPr>
          <p:cNvPr name="Freeform 8" id="8"/>
          <p:cNvSpPr/>
          <p:nvPr/>
        </p:nvSpPr>
        <p:spPr>
          <a:xfrm flipH="false" flipV="false" rot="0">
            <a:off x="378647" y="5468580"/>
            <a:ext cx="930638" cy="953278"/>
          </a:xfrm>
          <a:custGeom>
            <a:avLst/>
            <a:gdLst/>
            <a:ahLst/>
            <a:cxnLst/>
            <a:rect r="r" b="b" t="t" l="l"/>
            <a:pathLst>
              <a:path h="953278" w="930638">
                <a:moveTo>
                  <a:pt x="0" y="0"/>
                </a:moveTo>
                <a:lnTo>
                  <a:pt x="930638" y="0"/>
                </a:lnTo>
                <a:lnTo>
                  <a:pt x="930638" y="953279"/>
                </a:lnTo>
                <a:lnTo>
                  <a:pt x="0" y="953279"/>
                </a:lnTo>
                <a:lnTo>
                  <a:pt x="0" y="0"/>
                </a:lnTo>
                <a:close/>
              </a:path>
            </a:pathLst>
          </a:custGeom>
          <a:blipFill>
            <a:blip r:embed="rId5"/>
            <a:stretch>
              <a:fillRect l="0" t="0" r="0" b="0"/>
            </a:stretch>
          </a:blipFill>
        </p:spPr>
      </p:sp>
      <p:sp>
        <p:nvSpPr>
          <p:cNvPr name="TextBox 9" id="9"/>
          <p:cNvSpPr txBox="true"/>
          <p:nvPr/>
        </p:nvSpPr>
        <p:spPr>
          <a:xfrm rot="0">
            <a:off x="1589942" y="5067300"/>
            <a:ext cx="15825133" cy="1986279"/>
          </a:xfrm>
          <a:prstGeom prst="rect">
            <a:avLst/>
          </a:prstGeom>
        </p:spPr>
        <p:txBody>
          <a:bodyPr anchor="t" rtlCol="false" tIns="0" lIns="0" bIns="0" rIns="0">
            <a:spAutoFit/>
          </a:bodyPr>
          <a:lstStyle/>
          <a:p>
            <a:pPr algn="just">
              <a:lnSpc>
                <a:spcPts val="3920"/>
              </a:lnSpc>
            </a:pPr>
            <a:r>
              <a:rPr lang="en-US" sz="2800" b="true">
                <a:solidFill>
                  <a:srgbClr val="FFFFFF"/>
                </a:solidFill>
                <a:latin typeface="Arimo Bold"/>
                <a:ea typeface="Arimo Bold"/>
                <a:cs typeface="Arimo Bold"/>
                <a:sym typeface="Arimo Bold"/>
              </a:rPr>
              <a:t>Review Mistakes:</a:t>
            </a:r>
            <a:r>
              <a:rPr lang="en-US" sz="2800">
                <a:solidFill>
                  <a:srgbClr val="FFFFFF"/>
                </a:solidFill>
                <a:latin typeface="Arimo"/>
                <a:ea typeface="Arimo"/>
                <a:cs typeface="Arimo"/>
                <a:sym typeface="Arimo"/>
              </a:rPr>
              <a:t> Doing mock tests is not as important as reviewing incorrect answers. You must clearly analyze: why option A is correct, and why B, C, and D are incorrect. Understanding the exam creator’s traps is when the knowledge truly sinks in.</a:t>
            </a:r>
          </a:p>
          <a:p>
            <a:pPr algn="just">
              <a:lnSpc>
                <a:spcPts val="3920"/>
              </a:lnSpc>
              <a:spcBef>
                <a:spcPct val="0"/>
              </a:spcBef>
            </a:pPr>
          </a:p>
        </p:txBody>
      </p:sp>
      <p:sp>
        <p:nvSpPr>
          <p:cNvPr name="Freeform 10" id="10"/>
          <p:cNvSpPr/>
          <p:nvPr/>
        </p:nvSpPr>
        <p:spPr>
          <a:xfrm flipH="false" flipV="false" rot="0">
            <a:off x="378647" y="7498184"/>
            <a:ext cx="930638" cy="953278"/>
          </a:xfrm>
          <a:custGeom>
            <a:avLst/>
            <a:gdLst/>
            <a:ahLst/>
            <a:cxnLst/>
            <a:rect r="r" b="b" t="t" l="l"/>
            <a:pathLst>
              <a:path h="953278" w="930638">
                <a:moveTo>
                  <a:pt x="0" y="0"/>
                </a:moveTo>
                <a:lnTo>
                  <a:pt x="930638" y="0"/>
                </a:lnTo>
                <a:lnTo>
                  <a:pt x="930638" y="953278"/>
                </a:lnTo>
                <a:lnTo>
                  <a:pt x="0" y="953278"/>
                </a:lnTo>
                <a:lnTo>
                  <a:pt x="0" y="0"/>
                </a:lnTo>
                <a:close/>
              </a:path>
            </a:pathLst>
          </a:custGeom>
          <a:blipFill>
            <a:blip r:embed="rId5"/>
            <a:stretch>
              <a:fillRect l="0" t="0" r="0" b="0"/>
            </a:stretch>
          </a:blipFill>
        </p:spPr>
      </p:sp>
      <p:sp>
        <p:nvSpPr>
          <p:cNvPr name="TextBox 11" id="11"/>
          <p:cNvSpPr txBox="true"/>
          <p:nvPr/>
        </p:nvSpPr>
        <p:spPr>
          <a:xfrm rot="0">
            <a:off x="1589942" y="7191233"/>
            <a:ext cx="15825133" cy="14909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Hands-on practice on AWS Free Tier:</a:t>
            </a:r>
            <a:r>
              <a:rPr lang="en-US" sz="2800">
                <a:solidFill>
                  <a:srgbClr val="FFFFFF"/>
                </a:solidFill>
                <a:latin typeface="Arimo"/>
                <a:ea typeface="Arimo"/>
                <a:cs typeface="Arimo"/>
                <a:sym typeface="Arimo"/>
              </a:rPr>
              <a:t> Create a free AWS account and try services like EC2, S3, IAM, etc. This will help you visualize what you are learning—especially if you have never used AWS before.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sp>
        <p:nvSpPr>
          <p:cNvPr name="Freeform 3" id="3"/>
          <p:cNvSpPr/>
          <p:nvPr/>
        </p:nvSpPr>
        <p:spPr>
          <a:xfrm flipH="false" flipV="false" rot="0">
            <a:off x="-411892" y="4502396"/>
            <a:ext cx="20709924" cy="8229600"/>
          </a:xfrm>
          <a:custGeom>
            <a:avLst/>
            <a:gdLst/>
            <a:ahLst/>
            <a:cxnLst/>
            <a:rect r="r" b="b" t="t" l="l"/>
            <a:pathLst>
              <a:path h="8229600" w="20709924">
                <a:moveTo>
                  <a:pt x="0" y="0"/>
                </a:moveTo>
                <a:lnTo>
                  <a:pt x="20709924" y="0"/>
                </a:lnTo>
                <a:lnTo>
                  <a:pt x="20709924" y="8229600"/>
                </a:lnTo>
                <a:lnTo>
                  <a:pt x="0" y="8229600"/>
                </a:lnTo>
                <a:lnTo>
                  <a:pt x="0" y="0"/>
                </a:lnTo>
                <a:close/>
              </a:path>
            </a:pathLst>
          </a:custGeom>
          <a:blipFill>
            <a:blip r:embed="rId3"/>
            <a:stretch>
              <a:fillRect l="0" t="-20777" r="0" b="-20777"/>
            </a:stretch>
          </a:blipFill>
        </p:spPr>
      </p:sp>
      <p:sp>
        <p:nvSpPr>
          <p:cNvPr name="Freeform 4" id="4"/>
          <p:cNvSpPr/>
          <p:nvPr/>
        </p:nvSpPr>
        <p:spPr>
          <a:xfrm flipH="false" flipV="false" rot="0">
            <a:off x="843966" y="687411"/>
            <a:ext cx="2435427" cy="1369928"/>
          </a:xfrm>
          <a:custGeom>
            <a:avLst/>
            <a:gdLst/>
            <a:ahLst/>
            <a:cxnLst/>
            <a:rect r="r" b="b" t="t" l="l"/>
            <a:pathLst>
              <a:path h="1369928" w="2435427">
                <a:moveTo>
                  <a:pt x="0" y="0"/>
                </a:moveTo>
                <a:lnTo>
                  <a:pt x="2435428" y="0"/>
                </a:lnTo>
                <a:lnTo>
                  <a:pt x="2435428" y="1369928"/>
                </a:lnTo>
                <a:lnTo>
                  <a:pt x="0" y="1369928"/>
                </a:lnTo>
                <a:lnTo>
                  <a:pt x="0" y="0"/>
                </a:lnTo>
                <a:close/>
              </a:path>
            </a:pathLst>
          </a:custGeom>
          <a:blipFill>
            <a:blip r:embed="rId4"/>
            <a:stretch>
              <a:fillRect l="0" t="0" r="0" b="0"/>
            </a:stretch>
          </a:blipFill>
        </p:spPr>
      </p:sp>
      <p:sp>
        <p:nvSpPr>
          <p:cNvPr name="Freeform 5" id="5"/>
          <p:cNvSpPr/>
          <p:nvPr/>
        </p:nvSpPr>
        <p:spPr>
          <a:xfrm flipH="false" flipV="false" rot="0">
            <a:off x="109771" y="2949889"/>
            <a:ext cx="1468390" cy="1690234"/>
          </a:xfrm>
          <a:custGeom>
            <a:avLst/>
            <a:gdLst/>
            <a:ahLst/>
            <a:cxnLst/>
            <a:rect r="r" b="b" t="t" l="l"/>
            <a:pathLst>
              <a:path h="1690234" w="1468390">
                <a:moveTo>
                  <a:pt x="0" y="0"/>
                </a:moveTo>
                <a:lnTo>
                  <a:pt x="1468390" y="0"/>
                </a:lnTo>
                <a:lnTo>
                  <a:pt x="1468390" y="1690234"/>
                </a:lnTo>
                <a:lnTo>
                  <a:pt x="0" y="16902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583959" y="809132"/>
            <a:ext cx="13675341" cy="1012185"/>
          </a:xfrm>
          <a:prstGeom prst="rect">
            <a:avLst/>
          </a:prstGeom>
        </p:spPr>
        <p:txBody>
          <a:bodyPr anchor="t" rtlCol="false" tIns="0" lIns="0" bIns="0" rIns="0">
            <a:spAutoFit/>
          </a:bodyPr>
          <a:lstStyle/>
          <a:p>
            <a:pPr algn="just">
              <a:lnSpc>
                <a:spcPts val="8260"/>
              </a:lnSpc>
              <a:spcBef>
                <a:spcPct val="0"/>
              </a:spcBef>
            </a:pPr>
            <a:r>
              <a:rPr lang="en-US" b="true" sz="5900">
                <a:solidFill>
                  <a:srgbClr val="FFFFFF"/>
                </a:solidFill>
                <a:latin typeface="Montserrat Bold"/>
                <a:ea typeface="Montserrat Bold"/>
                <a:cs typeface="Montserrat Bold"/>
                <a:sym typeface="Montserrat Bold"/>
              </a:rPr>
              <a:t>Reference Materials</a:t>
            </a:r>
          </a:p>
        </p:txBody>
      </p:sp>
      <p:sp>
        <p:nvSpPr>
          <p:cNvPr name="TextBox 7" id="7"/>
          <p:cNvSpPr txBox="true"/>
          <p:nvPr/>
        </p:nvSpPr>
        <p:spPr>
          <a:xfrm rot="0">
            <a:off x="2030504" y="3126680"/>
            <a:ext cx="15825133" cy="9956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AWS Skill Builder</a:t>
            </a:r>
            <a:r>
              <a:rPr lang="en-US" sz="2800">
                <a:solidFill>
                  <a:srgbClr val="FFFFFF"/>
                </a:solidFill>
                <a:latin typeface="Arimo"/>
                <a:ea typeface="Arimo"/>
                <a:cs typeface="Arimo"/>
                <a:sym typeface="Arimo"/>
              </a:rPr>
              <a:t> (Cloud Practitioner Essentials): 100% free resource from AWS. It provides visual and easy-to-understand videos for beginners.</a:t>
            </a:r>
          </a:p>
        </p:txBody>
      </p:sp>
      <p:sp>
        <p:nvSpPr>
          <p:cNvPr name="Freeform 8" id="8"/>
          <p:cNvSpPr/>
          <p:nvPr/>
        </p:nvSpPr>
        <p:spPr>
          <a:xfrm flipH="false" flipV="false" rot="0">
            <a:off x="109771" y="5143500"/>
            <a:ext cx="1468390" cy="1690234"/>
          </a:xfrm>
          <a:custGeom>
            <a:avLst/>
            <a:gdLst/>
            <a:ahLst/>
            <a:cxnLst/>
            <a:rect r="r" b="b" t="t" l="l"/>
            <a:pathLst>
              <a:path h="1690234" w="1468390">
                <a:moveTo>
                  <a:pt x="0" y="0"/>
                </a:moveTo>
                <a:lnTo>
                  <a:pt x="1468390" y="0"/>
                </a:lnTo>
                <a:lnTo>
                  <a:pt x="1468390" y="1690234"/>
                </a:lnTo>
                <a:lnTo>
                  <a:pt x="0" y="16902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030504" y="7912804"/>
            <a:ext cx="15825133" cy="5003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Udemy courses</a:t>
            </a:r>
          </a:p>
        </p:txBody>
      </p:sp>
      <p:sp>
        <p:nvSpPr>
          <p:cNvPr name="Freeform 10" id="10"/>
          <p:cNvSpPr/>
          <p:nvPr/>
        </p:nvSpPr>
        <p:spPr>
          <a:xfrm flipH="false" flipV="false" rot="0">
            <a:off x="109771" y="7568066"/>
            <a:ext cx="1468390" cy="1690234"/>
          </a:xfrm>
          <a:custGeom>
            <a:avLst/>
            <a:gdLst/>
            <a:ahLst/>
            <a:cxnLst/>
            <a:rect r="r" b="b" t="t" l="l"/>
            <a:pathLst>
              <a:path h="1690234" w="1468390">
                <a:moveTo>
                  <a:pt x="0" y="0"/>
                </a:moveTo>
                <a:lnTo>
                  <a:pt x="1468390" y="0"/>
                </a:lnTo>
                <a:lnTo>
                  <a:pt x="1468390" y="1690234"/>
                </a:lnTo>
                <a:lnTo>
                  <a:pt x="0" y="16902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2030504" y="5488237"/>
            <a:ext cx="15825133" cy="5003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Mock Exams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sp>
        <p:nvSpPr>
          <p:cNvPr name="Freeform 3" id="3"/>
          <p:cNvSpPr/>
          <p:nvPr/>
        </p:nvSpPr>
        <p:spPr>
          <a:xfrm flipH="false" flipV="false" rot="0">
            <a:off x="-411892" y="4502396"/>
            <a:ext cx="20709924" cy="8229600"/>
          </a:xfrm>
          <a:custGeom>
            <a:avLst/>
            <a:gdLst/>
            <a:ahLst/>
            <a:cxnLst/>
            <a:rect r="r" b="b" t="t" l="l"/>
            <a:pathLst>
              <a:path h="8229600" w="20709924">
                <a:moveTo>
                  <a:pt x="0" y="0"/>
                </a:moveTo>
                <a:lnTo>
                  <a:pt x="20709924" y="0"/>
                </a:lnTo>
                <a:lnTo>
                  <a:pt x="20709924" y="8229600"/>
                </a:lnTo>
                <a:lnTo>
                  <a:pt x="0" y="8229600"/>
                </a:lnTo>
                <a:lnTo>
                  <a:pt x="0" y="0"/>
                </a:lnTo>
                <a:close/>
              </a:path>
            </a:pathLst>
          </a:custGeom>
          <a:blipFill>
            <a:blip r:embed="rId3"/>
            <a:stretch>
              <a:fillRect l="0" t="-20777" r="0" b="-20777"/>
            </a:stretch>
          </a:blipFill>
        </p:spPr>
      </p:sp>
      <p:sp>
        <p:nvSpPr>
          <p:cNvPr name="Freeform 4" id="4"/>
          <p:cNvSpPr/>
          <p:nvPr/>
        </p:nvSpPr>
        <p:spPr>
          <a:xfrm flipH="false" flipV="false" rot="0">
            <a:off x="843966" y="687411"/>
            <a:ext cx="2435427" cy="1369928"/>
          </a:xfrm>
          <a:custGeom>
            <a:avLst/>
            <a:gdLst/>
            <a:ahLst/>
            <a:cxnLst/>
            <a:rect r="r" b="b" t="t" l="l"/>
            <a:pathLst>
              <a:path h="1369928" w="2435427">
                <a:moveTo>
                  <a:pt x="0" y="0"/>
                </a:moveTo>
                <a:lnTo>
                  <a:pt x="2435428" y="0"/>
                </a:lnTo>
                <a:lnTo>
                  <a:pt x="2435428" y="1369928"/>
                </a:lnTo>
                <a:lnTo>
                  <a:pt x="0" y="1369928"/>
                </a:lnTo>
                <a:lnTo>
                  <a:pt x="0" y="0"/>
                </a:lnTo>
                <a:close/>
              </a:path>
            </a:pathLst>
          </a:custGeom>
          <a:blipFill>
            <a:blip r:embed="rId4"/>
            <a:stretch>
              <a:fillRect l="0" t="0" r="0" b="0"/>
            </a:stretch>
          </a:blipFill>
        </p:spPr>
      </p:sp>
      <p:sp>
        <p:nvSpPr>
          <p:cNvPr name="Freeform 5" id="5"/>
          <p:cNvSpPr/>
          <p:nvPr/>
        </p:nvSpPr>
        <p:spPr>
          <a:xfrm flipH="false" flipV="false" rot="0">
            <a:off x="327476" y="3280310"/>
            <a:ext cx="1032980" cy="1339950"/>
          </a:xfrm>
          <a:custGeom>
            <a:avLst/>
            <a:gdLst/>
            <a:ahLst/>
            <a:cxnLst/>
            <a:rect r="r" b="b" t="t" l="l"/>
            <a:pathLst>
              <a:path h="1339950" w="1032980">
                <a:moveTo>
                  <a:pt x="0" y="0"/>
                </a:moveTo>
                <a:lnTo>
                  <a:pt x="1032980" y="0"/>
                </a:lnTo>
                <a:lnTo>
                  <a:pt x="1032980" y="1339950"/>
                </a:lnTo>
                <a:lnTo>
                  <a:pt x="0" y="1339950"/>
                </a:lnTo>
                <a:lnTo>
                  <a:pt x="0" y="0"/>
                </a:lnTo>
                <a:close/>
              </a:path>
            </a:pathLst>
          </a:custGeom>
          <a:blipFill>
            <a:blip r:embed="rId5"/>
            <a:stretch>
              <a:fillRect l="0" t="0" r="0" b="0"/>
            </a:stretch>
          </a:blipFill>
        </p:spPr>
      </p:sp>
      <p:sp>
        <p:nvSpPr>
          <p:cNvPr name="TextBox 6" id="6"/>
          <p:cNvSpPr txBox="true"/>
          <p:nvPr/>
        </p:nvSpPr>
        <p:spPr>
          <a:xfrm rot="0">
            <a:off x="3583959" y="809132"/>
            <a:ext cx="13675341" cy="1012185"/>
          </a:xfrm>
          <a:prstGeom prst="rect">
            <a:avLst/>
          </a:prstGeom>
        </p:spPr>
        <p:txBody>
          <a:bodyPr anchor="t" rtlCol="false" tIns="0" lIns="0" bIns="0" rIns="0">
            <a:spAutoFit/>
          </a:bodyPr>
          <a:lstStyle/>
          <a:p>
            <a:pPr algn="just">
              <a:lnSpc>
                <a:spcPts val="8260"/>
              </a:lnSpc>
              <a:spcBef>
                <a:spcPct val="0"/>
              </a:spcBef>
            </a:pPr>
            <a:r>
              <a:rPr lang="en-US" b="true" sz="5900">
                <a:solidFill>
                  <a:srgbClr val="FFFFFF"/>
                </a:solidFill>
                <a:latin typeface="Montserrat Bold"/>
                <a:ea typeface="Montserrat Bold"/>
                <a:cs typeface="Montserrat Bold"/>
                <a:sym typeface="Montserrat Bold"/>
              </a:rPr>
              <a:t>Tips &amp; Tricks</a:t>
            </a:r>
          </a:p>
        </p:txBody>
      </p:sp>
      <p:sp>
        <p:nvSpPr>
          <p:cNvPr name="TextBox 7" id="7"/>
          <p:cNvSpPr txBox="true"/>
          <p:nvPr/>
        </p:nvSpPr>
        <p:spPr>
          <a:xfrm rot="0">
            <a:off x="1589942" y="3129280"/>
            <a:ext cx="15825133" cy="14909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Elimination technique:</a:t>
            </a:r>
            <a:r>
              <a:rPr lang="en-US" sz="2800">
                <a:solidFill>
                  <a:srgbClr val="FFFFFF"/>
                </a:solidFill>
                <a:latin typeface="Arimo"/>
                <a:ea typeface="Arimo"/>
                <a:cs typeface="Arimo"/>
                <a:sym typeface="Arimo"/>
              </a:rPr>
              <a:t> Questions often provide four answer choices, in which two are “made-up” services or completely irrelevant. Eliminate those first, and your chances of getting the correct answer immediately increase to 50%.</a:t>
            </a:r>
          </a:p>
        </p:txBody>
      </p:sp>
      <p:sp>
        <p:nvSpPr>
          <p:cNvPr name="TextBox 8" id="8"/>
          <p:cNvSpPr txBox="true"/>
          <p:nvPr/>
        </p:nvSpPr>
        <p:spPr>
          <a:xfrm rot="0">
            <a:off x="1589942" y="5029885"/>
            <a:ext cx="15825133" cy="14909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Don’t overthink:</a:t>
            </a:r>
            <a:r>
              <a:rPr lang="en-US" sz="2800">
                <a:solidFill>
                  <a:srgbClr val="FFFFFF"/>
                </a:solidFill>
                <a:latin typeface="Arimo"/>
                <a:ea typeface="Arimo"/>
                <a:cs typeface="Arimo"/>
                <a:sym typeface="Arimo"/>
              </a:rPr>
              <a:t> The Cloud Practitioner exam focuses on fundamental knowledge. If a question seems to require overly complex configuration, you’re likely overthinking it. Choose the simplest and most straightforward answer.</a:t>
            </a:r>
          </a:p>
        </p:txBody>
      </p:sp>
      <p:sp>
        <p:nvSpPr>
          <p:cNvPr name="TextBox 9" id="9"/>
          <p:cNvSpPr txBox="true"/>
          <p:nvPr/>
        </p:nvSpPr>
        <p:spPr>
          <a:xfrm rot="0">
            <a:off x="1589942" y="7266063"/>
            <a:ext cx="15825133" cy="1986279"/>
          </a:xfrm>
          <a:prstGeom prst="rect">
            <a:avLst/>
          </a:prstGeom>
        </p:spPr>
        <p:txBody>
          <a:bodyPr anchor="t" rtlCol="false" tIns="0" lIns="0" bIns="0" rIns="0">
            <a:spAutoFit/>
          </a:bodyPr>
          <a:lstStyle/>
          <a:p>
            <a:pPr algn="just">
              <a:lnSpc>
                <a:spcPts val="3920"/>
              </a:lnSpc>
            </a:pPr>
            <a:r>
              <a:rPr lang="en-US" sz="2800" b="true">
                <a:solidFill>
                  <a:srgbClr val="FFFFFF"/>
                </a:solidFill>
                <a:latin typeface="Arimo Bold"/>
                <a:ea typeface="Arimo Bold"/>
                <a:cs typeface="Arimo Bold"/>
                <a:sym typeface="Arimo Bold"/>
              </a:rPr>
              <a:t>Language pitfalls:</a:t>
            </a:r>
            <a:r>
              <a:rPr lang="en-US" sz="2800">
                <a:solidFill>
                  <a:srgbClr val="FFFFFF"/>
                </a:solidFill>
                <a:latin typeface="Arimo"/>
                <a:ea typeface="Arimo"/>
                <a:cs typeface="Arimo"/>
                <a:sym typeface="Arimo"/>
              </a:rPr>
              <a:t> The English exam can be tricky with keywords like “Not” “Least cost” or “Most scalable.” It’s recommended to highlight these decisive terms immediately when reading the question.</a:t>
            </a:r>
          </a:p>
          <a:p>
            <a:pPr algn="just">
              <a:lnSpc>
                <a:spcPts val="3920"/>
              </a:lnSpc>
              <a:spcBef>
                <a:spcPct val="0"/>
              </a:spcBef>
            </a:pPr>
          </a:p>
        </p:txBody>
      </p:sp>
      <p:sp>
        <p:nvSpPr>
          <p:cNvPr name="Freeform 10" id="10"/>
          <p:cNvSpPr/>
          <p:nvPr/>
        </p:nvSpPr>
        <p:spPr>
          <a:xfrm flipH="false" flipV="false" rot="0">
            <a:off x="327476" y="5143500"/>
            <a:ext cx="1032980" cy="1339950"/>
          </a:xfrm>
          <a:custGeom>
            <a:avLst/>
            <a:gdLst/>
            <a:ahLst/>
            <a:cxnLst/>
            <a:rect r="r" b="b" t="t" l="l"/>
            <a:pathLst>
              <a:path h="1339950" w="1032980">
                <a:moveTo>
                  <a:pt x="0" y="0"/>
                </a:moveTo>
                <a:lnTo>
                  <a:pt x="1032980" y="0"/>
                </a:lnTo>
                <a:lnTo>
                  <a:pt x="1032980" y="1339950"/>
                </a:lnTo>
                <a:lnTo>
                  <a:pt x="0" y="1339950"/>
                </a:lnTo>
                <a:lnTo>
                  <a:pt x="0" y="0"/>
                </a:lnTo>
                <a:close/>
              </a:path>
            </a:pathLst>
          </a:custGeom>
          <a:blipFill>
            <a:blip r:embed="rId5"/>
            <a:stretch>
              <a:fillRect l="0" t="0" r="0" b="0"/>
            </a:stretch>
          </a:blipFill>
        </p:spPr>
      </p:sp>
      <p:sp>
        <p:nvSpPr>
          <p:cNvPr name="Freeform 11" id="11"/>
          <p:cNvSpPr/>
          <p:nvPr/>
        </p:nvSpPr>
        <p:spPr>
          <a:xfrm flipH="false" flipV="false" rot="0">
            <a:off x="327476" y="7342263"/>
            <a:ext cx="1032980" cy="1339950"/>
          </a:xfrm>
          <a:custGeom>
            <a:avLst/>
            <a:gdLst/>
            <a:ahLst/>
            <a:cxnLst/>
            <a:rect r="r" b="b" t="t" l="l"/>
            <a:pathLst>
              <a:path h="1339950" w="1032980">
                <a:moveTo>
                  <a:pt x="0" y="0"/>
                </a:moveTo>
                <a:lnTo>
                  <a:pt x="1032980" y="0"/>
                </a:lnTo>
                <a:lnTo>
                  <a:pt x="1032980" y="1339950"/>
                </a:lnTo>
                <a:lnTo>
                  <a:pt x="0" y="1339950"/>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sp>
        <p:nvSpPr>
          <p:cNvPr name="Freeform 3" id="3"/>
          <p:cNvSpPr/>
          <p:nvPr/>
        </p:nvSpPr>
        <p:spPr>
          <a:xfrm flipH="false" flipV="false" rot="0">
            <a:off x="-411892" y="4502396"/>
            <a:ext cx="20709924" cy="8229600"/>
          </a:xfrm>
          <a:custGeom>
            <a:avLst/>
            <a:gdLst/>
            <a:ahLst/>
            <a:cxnLst/>
            <a:rect r="r" b="b" t="t" l="l"/>
            <a:pathLst>
              <a:path h="8229600" w="20709924">
                <a:moveTo>
                  <a:pt x="0" y="0"/>
                </a:moveTo>
                <a:lnTo>
                  <a:pt x="20709924" y="0"/>
                </a:lnTo>
                <a:lnTo>
                  <a:pt x="20709924" y="8229600"/>
                </a:lnTo>
                <a:lnTo>
                  <a:pt x="0" y="8229600"/>
                </a:lnTo>
                <a:lnTo>
                  <a:pt x="0" y="0"/>
                </a:lnTo>
                <a:close/>
              </a:path>
            </a:pathLst>
          </a:custGeom>
          <a:blipFill>
            <a:blip r:embed="rId3"/>
            <a:stretch>
              <a:fillRect l="0" t="-20777" r="0" b="-20777"/>
            </a:stretch>
          </a:blipFill>
        </p:spPr>
      </p:sp>
      <p:sp>
        <p:nvSpPr>
          <p:cNvPr name="Freeform 4" id="4"/>
          <p:cNvSpPr/>
          <p:nvPr/>
        </p:nvSpPr>
        <p:spPr>
          <a:xfrm flipH="false" flipV="false" rot="0">
            <a:off x="843966" y="687411"/>
            <a:ext cx="2435427" cy="1369928"/>
          </a:xfrm>
          <a:custGeom>
            <a:avLst/>
            <a:gdLst/>
            <a:ahLst/>
            <a:cxnLst/>
            <a:rect r="r" b="b" t="t" l="l"/>
            <a:pathLst>
              <a:path h="1369928" w="2435427">
                <a:moveTo>
                  <a:pt x="0" y="0"/>
                </a:moveTo>
                <a:lnTo>
                  <a:pt x="2435428" y="0"/>
                </a:lnTo>
                <a:lnTo>
                  <a:pt x="2435428" y="1369928"/>
                </a:lnTo>
                <a:lnTo>
                  <a:pt x="0" y="1369928"/>
                </a:lnTo>
                <a:lnTo>
                  <a:pt x="0" y="0"/>
                </a:lnTo>
                <a:close/>
              </a:path>
            </a:pathLst>
          </a:custGeom>
          <a:blipFill>
            <a:blip r:embed="rId4"/>
            <a:stretch>
              <a:fillRect l="0" t="0" r="0" b="0"/>
            </a:stretch>
          </a:blipFill>
        </p:spPr>
      </p:sp>
      <p:sp>
        <p:nvSpPr>
          <p:cNvPr name="Freeform 5" id="5"/>
          <p:cNvSpPr/>
          <p:nvPr/>
        </p:nvSpPr>
        <p:spPr>
          <a:xfrm flipH="false" flipV="false" rot="0">
            <a:off x="327476" y="2995245"/>
            <a:ext cx="1032980" cy="1339950"/>
          </a:xfrm>
          <a:custGeom>
            <a:avLst/>
            <a:gdLst/>
            <a:ahLst/>
            <a:cxnLst/>
            <a:rect r="r" b="b" t="t" l="l"/>
            <a:pathLst>
              <a:path h="1339950" w="1032980">
                <a:moveTo>
                  <a:pt x="0" y="0"/>
                </a:moveTo>
                <a:lnTo>
                  <a:pt x="1032980" y="0"/>
                </a:lnTo>
                <a:lnTo>
                  <a:pt x="1032980" y="1339950"/>
                </a:lnTo>
                <a:lnTo>
                  <a:pt x="0" y="1339950"/>
                </a:lnTo>
                <a:lnTo>
                  <a:pt x="0" y="0"/>
                </a:lnTo>
                <a:close/>
              </a:path>
            </a:pathLst>
          </a:custGeom>
          <a:blipFill>
            <a:blip r:embed="rId5"/>
            <a:stretch>
              <a:fillRect l="0" t="0" r="0" b="0"/>
            </a:stretch>
          </a:blipFill>
        </p:spPr>
      </p:sp>
      <p:sp>
        <p:nvSpPr>
          <p:cNvPr name="TextBox 6" id="6"/>
          <p:cNvSpPr txBox="true"/>
          <p:nvPr/>
        </p:nvSpPr>
        <p:spPr>
          <a:xfrm rot="0">
            <a:off x="3583959" y="809132"/>
            <a:ext cx="13675341" cy="1012185"/>
          </a:xfrm>
          <a:prstGeom prst="rect">
            <a:avLst/>
          </a:prstGeom>
        </p:spPr>
        <p:txBody>
          <a:bodyPr anchor="t" rtlCol="false" tIns="0" lIns="0" bIns="0" rIns="0">
            <a:spAutoFit/>
          </a:bodyPr>
          <a:lstStyle/>
          <a:p>
            <a:pPr algn="just">
              <a:lnSpc>
                <a:spcPts val="8260"/>
              </a:lnSpc>
              <a:spcBef>
                <a:spcPct val="0"/>
              </a:spcBef>
            </a:pPr>
            <a:r>
              <a:rPr lang="en-US" b="true" sz="5900">
                <a:solidFill>
                  <a:srgbClr val="FFFFFF"/>
                </a:solidFill>
                <a:latin typeface="Montserrat Bold"/>
                <a:ea typeface="Montserrat Bold"/>
                <a:cs typeface="Montserrat Bold"/>
                <a:sym typeface="Montserrat Bold"/>
              </a:rPr>
              <a:t>Tips &amp; Tricks</a:t>
            </a:r>
          </a:p>
        </p:txBody>
      </p:sp>
      <p:sp>
        <p:nvSpPr>
          <p:cNvPr name="TextBox 7" id="7"/>
          <p:cNvSpPr txBox="true"/>
          <p:nvPr/>
        </p:nvSpPr>
        <p:spPr>
          <a:xfrm rot="0">
            <a:off x="1589942" y="2705632"/>
            <a:ext cx="15825133" cy="19862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Mental preparation &amp; procedures:</a:t>
            </a:r>
            <a:r>
              <a:rPr lang="en-US" sz="2800">
                <a:solidFill>
                  <a:srgbClr val="FFFFFF"/>
                </a:solidFill>
                <a:latin typeface="Arimo"/>
                <a:ea typeface="Arimo"/>
                <a:cs typeface="Arimo"/>
                <a:sym typeface="Arimo"/>
              </a:rPr>
              <a:t> Please remember that when registering to take the exam at testing centers (Pearson VUE), you need to carefully prepare your identification documents (original ID card/passport). It’s recommended to arrive 30 minutes early, bring a jacket as the test room can be very cold, and stay relaxed before the exam.</a:t>
            </a:r>
          </a:p>
        </p:txBody>
      </p:sp>
      <p:sp>
        <p:nvSpPr>
          <p:cNvPr name="TextBox 8" id="8"/>
          <p:cNvSpPr txBox="true"/>
          <p:nvPr/>
        </p:nvSpPr>
        <p:spPr>
          <a:xfrm rot="0">
            <a:off x="1589942" y="5192445"/>
            <a:ext cx="15825133" cy="14909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Flag for review:</a:t>
            </a:r>
            <a:r>
              <a:rPr lang="en-US" sz="2800">
                <a:solidFill>
                  <a:srgbClr val="FFFFFF"/>
                </a:solidFill>
                <a:latin typeface="Arimo"/>
                <a:ea typeface="Arimo"/>
                <a:cs typeface="Arimo"/>
                <a:sym typeface="Arimo"/>
              </a:rPr>
              <a:t> If you encounter a question you’re unsure about, don’t waste time. Use the “flag for review” feature to mark it and move on to the next question. After finishing all other questions, come back to the flagged ones.</a:t>
            </a:r>
          </a:p>
        </p:txBody>
      </p:sp>
      <p:sp>
        <p:nvSpPr>
          <p:cNvPr name="TextBox 9" id="9"/>
          <p:cNvSpPr txBox="true"/>
          <p:nvPr/>
        </p:nvSpPr>
        <p:spPr>
          <a:xfrm rot="0">
            <a:off x="1589942" y="7476298"/>
            <a:ext cx="15825133" cy="995679"/>
          </a:xfrm>
          <a:prstGeom prst="rect">
            <a:avLst/>
          </a:prstGeom>
        </p:spPr>
        <p:txBody>
          <a:bodyPr anchor="t" rtlCol="false" tIns="0" lIns="0" bIns="0" rIns="0">
            <a:spAutoFit/>
          </a:bodyPr>
          <a:lstStyle/>
          <a:p>
            <a:pPr algn="just">
              <a:lnSpc>
                <a:spcPts val="3920"/>
              </a:lnSpc>
              <a:spcBef>
                <a:spcPct val="0"/>
              </a:spcBef>
            </a:pPr>
            <a:r>
              <a:rPr lang="en-US" b="true" sz="2800">
                <a:solidFill>
                  <a:srgbClr val="FFFFFF"/>
                </a:solidFill>
                <a:latin typeface="Arimo Bold"/>
                <a:ea typeface="Arimo Bold"/>
                <a:cs typeface="Arimo Bold"/>
                <a:sym typeface="Arimo Bold"/>
              </a:rPr>
              <a:t>Get results immediately:</a:t>
            </a:r>
            <a:r>
              <a:rPr lang="en-US" sz="2800">
                <a:solidFill>
                  <a:srgbClr val="FFFFFF"/>
                </a:solidFill>
                <a:latin typeface="Arimo"/>
                <a:ea typeface="Arimo"/>
                <a:cs typeface="Arimo"/>
                <a:sym typeface="Arimo"/>
              </a:rPr>
              <a:t> Your Pass/Fail result will be displayed on the screen right after you submit the exam. A detailed score report will be sent to your email within a few days.</a:t>
            </a:r>
          </a:p>
        </p:txBody>
      </p:sp>
      <p:sp>
        <p:nvSpPr>
          <p:cNvPr name="Freeform 10" id="10"/>
          <p:cNvSpPr/>
          <p:nvPr/>
        </p:nvSpPr>
        <p:spPr>
          <a:xfrm flipH="false" flipV="false" rot="0">
            <a:off x="327476" y="5268645"/>
            <a:ext cx="1032980" cy="1339950"/>
          </a:xfrm>
          <a:custGeom>
            <a:avLst/>
            <a:gdLst/>
            <a:ahLst/>
            <a:cxnLst/>
            <a:rect r="r" b="b" t="t" l="l"/>
            <a:pathLst>
              <a:path h="1339950" w="1032980">
                <a:moveTo>
                  <a:pt x="0" y="0"/>
                </a:moveTo>
                <a:lnTo>
                  <a:pt x="1032980" y="0"/>
                </a:lnTo>
                <a:lnTo>
                  <a:pt x="1032980" y="1339950"/>
                </a:lnTo>
                <a:lnTo>
                  <a:pt x="0" y="1339950"/>
                </a:lnTo>
                <a:lnTo>
                  <a:pt x="0" y="0"/>
                </a:lnTo>
                <a:close/>
              </a:path>
            </a:pathLst>
          </a:custGeom>
          <a:blipFill>
            <a:blip r:embed="rId5"/>
            <a:stretch>
              <a:fillRect l="0" t="0" r="0" b="0"/>
            </a:stretch>
          </a:blipFill>
        </p:spPr>
      </p:sp>
      <p:sp>
        <p:nvSpPr>
          <p:cNvPr name="Freeform 11" id="11"/>
          <p:cNvSpPr/>
          <p:nvPr/>
        </p:nvSpPr>
        <p:spPr>
          <a:xfrm flipH="false" flipV="false" rot="0">
            <a:off x="327476" y="7342263"/>
            <a:ext cx="1032980" cy="1339950"/>
          </a:xfrm>
          <a:custGeom>
            <a:avLst/>
            <a:gdLst/>
            <a:ahLst/>
            <a:cxnLst/>
            <a:rect r="r" b="b" t="t" l="l"/>
            <a:pathLst>
              <a:path h="1339950" w="1032980">
                <a:moveTo>
                  <a:pt x="0" y="0"/>
                </a:moveTo>
                <a:lnTo>
                  <a:pt x="1032980" y="0"/>
                </a:lnTo>
                <a:lnTo>
                  <a:pt x="1032980" y="1339950"/>
                </a:lnTo>
                <a:lnTo>
                  <a:pt x="0" y="1339950"/>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sp>
        <p:nvSpPr>
          <p:cNvPr name="Freeform 2" id="2"/>
          <p:cNvSpPr/>
          <p:nvPr/>
        </p:nvSpPr>
        <p:spPr>
          <a:xfrm flipH="false" flipV="false" rot="2220290">
            <a:off x="-8562197" y="-7703936"/>
            <a:ext cx="15258309" cy="14667958"/>
          </a:xfrm>
          <a:custGeom>
            <a:avLst/>
            <a:gdLst/>
            <a:ahLst/>
            <a:cxnLst/>
            <a:rect r="r" b="b" t="t" l="l"/>
            <a:pathLst>
              <a:path h="14667958" w="15258309">
                <a:moveTo>
                  <a:pt x="0" y="0"/>
                </a:moveTo>
                <a:lnTo>
                  <a:pt x="15258310" y="0"/>
                </a:lnTo>
                <a:lnTo>
                  <a:pt x="15258310" y="14667958"/>
                </a:lnTo>
                <a:lnTo>
                  <a:pt x="0" y="14667958"/>
                </a:lnTo>
                <a:lnTo>
                  <a:pt x="0" y="0"/>
                </a:lnTo>
                <a:close/>
              </a:path>
            </a:pathLst>
          </a:custGeom>
          <a:blipFill>
            <a:blip r:embed="rId2"/>
            <a:stretch>
              <a:fillRect l="0" t="0" r="0" b="0"/>
            </a:stretch>
          </a:blipFill>
        </p:spPr>
      </p:sp>
      <p:grpSp>
        <p:nvGrpSpPr>
          <p:cNvPr name="Group 3" id="3"/>
          <p:cNvGrpSpPr/>
          <p:nvPr/>
        </p:nvGrpSpPr>
        <p:grpSpPr>
          <a:xfrm rot="0">
            <a:off x="403608" y="6270179"/>
            <a:ext cx="5198536" cy="657295"/>
            <a:chOff x="0" y="0"/>
            <a:chExt cx="1369162" cy="173102"/>
          </a:xfrm>
        </p:grpSpPr>
        <p:sp>
          <p:nvSpPr>
            <p:cNvPr name="Freeform 4" id="4"/>
            <p:cNvSpPr/>
            <p:nvPr/>
          </p:nvSpPr>
          <p:spPr>
            <a:xfrm flipH="false" flipV="false" rot="0">
              <a:off x="0" y="0"/>
              <a:ext cx="1369162" cy="173102"/>
            </a:xfrm>
            <a:custGeom>
              <a:avLst/>
              <a:gdLst/>
              <a:ahLst/>
              <a:cxnLst/>
              <a:rect r="r" b="b" t="t" l="l"/>
              <a:pathLst>
                <a:path h="173102" w="1369162">
                  <a:moveTo>
                    <a:pt x="1369162" y="86551"/>
                  </a:moveTo>
                  <a:lnTo>
                    <a:pt x="1369162" y="86551"/>
                  </a:lnTo>
                  <a:cubicBezTo>
                    <a:pt x="1369162" y="109506"/>
                    <a:pt x="1360043" y="131520"/>
                    <a:pt x="1343812" y="147752"/>
                  </a:cubicBezTo>
                  <a:cubicBezTo>
                    <a:pt x="1327580" y="163983"/>
                    <a:pt x="1305566" y="173102"/>
                    <a:pt x="1282611" y="173102"/>
                  </a:cubicBezTo>
                  <a:lnTo>
                    <a:pt x="86551" y="173102"/>
                  </a:lnTo>
                  <a:cubicBezTo>
                    <a:pt x="63596" y="173102"/>
                    <a:pt x="41582" y="163983"/>
                    <a:pt x="25350" y="147752"/>
                  </a:cubicBezTo>
                  <a:cubicBezTo>
                    <a:pt x="9119" y="131520"/>
                    <a:pt x="0" y="109506"/>
                    <a:pt x="0" y="86551"/>
                  </a:cubicBezTo>
                  <a:lnTo>
                    <a:pt x="0" y="86551"/>
                  </a:lnTo>
                  <a:cubicBezTo>
                    <a:pt x="0" y="63596"/>
                    <a:pt x="9119" y="41582"/>
                    <a:pt x="25350" y="25350"/>
                  </a:cubicBezTo>
                  <a:cubicBezTo>
                    <a:pt x="41582" y="9119"/>
                    <a:pt x="63596" y="0"/>
                    <a:pt x="86551" y="0"/>
                  </a:cubicBezTo>
                  <a:lnTo>
                    <a:pt x="1282611" y="0"/>
                  </a:lnTo>
                  <a:cubicBezTo>
                    <a:pt x="1305566" y="0"/>
                    <a:pt x="1327580" y="9119"/>
                    <a:pt x="1343812" y="25350"/>
                  </a:cubicBezTo>
                  <a:cubicBezTo>
                    <a:pt x="1360043" y="41582"/>
                    <a:pt x="1369162" y="63596"/>
                    <a:pt x="1369162" y="86551"/>
                  </a:cubicBezTo>
                  <a:close/>
                </a:path>
              </a:pathLst>
            </a:custGeom>
            <a:gradFill rotWithShape="true">
              <a:gsLst>
                <a:gs pos="0">
                  <a:srgbClr val="D9D9D9">
                    <a:alpha val="50000"/>
                  </a:srgbClr>
                </a:gs>
                <a:gs pos="100000">
                  <a:srgbClr val="797979">
                    <a:alpha val="50000"/>
                  </a:srgbClr>
                </a:gs>
              </a:gsLst>
              <a:lin ang="2700000"/>
            </a:gradFill>
            <a:ln w="9525" cap="rnd">
              <a:solidFill>
                <a:srgbClr val="D9D9D9"/>
              </a:solidFill>
              <a:prstDash val="solid"/>
              <a:round/>
            </a:ln>
          </p:spPr>
        </p:sp>
        <p:sp>
          <p:nvSpPr>
            <p:cNvPr name="TextBox 5" id="5"/>
            <p:cNvSpPr txBox="true"/>
            <p:nvPr/>
          </p:nvSpPr>
          <p:spPr>
            <a:xfrm>
              <a:off x="0" y="-57150"/>
              <a:ext cx="1369162" cy="230252"/>
            </a:xfrm>
            <a:prstGeom prst="rect">
              <a:avLst/>
            </a:prstGeom>
          </p:spPr>
          <p:txBody>
            <a:bodyPr anchor="ctr" rtlCol="false" tIns="50800" lIns="50800" bIns="50800" rIns="50800"/>
            <a:lstStyle/>
            <a:p>
              <a:pPr algn="ctr">
                <a:lnSpc>
                  <a:spcPts val="3359"/>
                </a:lnSpc>
              </a:pPr>
              <a:r>
                <a:rPr lang="en-US" b="true" sz="2400">
                  <a:solidFill>
                    <a:srgbClr val="FFFFFF"/>
                  </a:solidFill>
                  <a:latin typeface="Arimo Bold"/>
                  <a:ea typeface="Arimo Bold"/>
                  <a:cs typeface="Arimo Bold"/>
                  <a:sym typeface="Arimo Bold"/>
                </a:rPr>
                <a:t>Presenter: Ngo Le Tan Huy</a:t>
              </a:r>
            </a:p>
          </p:txBody>
        </p:sp>
      </p:grpSp>
      <p:sp>
        <p:nvSpPr>
          <p:cNvPr name="Freeform 6" id="6"/>
          <p:cNvSpPr/>
          <p:nvPr/>
        </p:nvSpPr>
        <p:spPr>
          <a:xfrm flipH="false" flipV="true" rot="5400000">
            <a:off x="6104564" y="2002907"/>
            <a:ext cx="20038276" cy="10161076"/>
          </a:xfrm>
          <a:custGeom>
            <a:avLst/>
            <a:gdLst/>
            <a:ahLst/>
            <a:cxnLst/>
            <a:rect r="r" b="b" t="t" l="l"/>
            <a:pathLst>
              <a:path h="10161076" w="20038276">
                <a:moveTo>
                  <a:pt x="0" y="10161075"/>
                </a:moveTo>
                <a:lnTo>
                  <a:pt x="20038276" y="10161075"/>
                </a:lnTo>
                <a:lnTo>
                  <a:pt x="20038276" y="0"/>
                </a:lnTo>
                <a:lnTo>
                  <a:pt x="0" y="0"/>
                </a:lnTo>
                <a:lnTo>
                  <a:pt x="0" y="10161075"/>
                </a:lnTo>
                <a:close/>
              </a:path>
            </a:pathLst>
          </a:custGeom>
          <a:blipFill>
            <a:blip r:embed="rId3"/>
            <a:stretch>
              <a:fillRect l="0" t="0" r="0" b="0"/>
            </a:stretch>
          </a:blipFill>
        </p:spPr>
      </p:sp>
      <p:sp>
        <p:nvSpPr>
          <p:cNvPr name="Freeform 7" id="7"/>
          <p:cNvSpPr/>
          <p:nvPr/>
        </p:nvSpPr>
        <p:spPr>
          <a:xfrm flipH="false" flipV="false" rot="0">
            <a:off x="693986" y="1718561"/>
            <a:ext cx="4063365" cy="4114800"/>
          </a:xfrm>
          <a:custGeom>
            <a:avLst/>
            <a:gdLst/>
            <a:ahLst/>
            <a:cxnLst/>
            <a:rect r="r" b="b" t="t" l="l"/>
            <a:pathLst>
              <a:path h="4114800" w="4063365">
                <a:moveTo>
                  <a:pt x="0" y="0"/>
                </a:moveTo>
                <a:lnTo>
                  <a:pt x="4063365" y="0"/>
                </a:lnTo>
                <a:lnTo>
                  <a:pt x="40633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5352897" y="1585211"/>
            <a:ext cx="10613481" cy="3615661"/>
          </a:xfrm>
          <a:prstGeom prst="rect">
            <a:avLst/>
          </a:prstGeom>
        </p:spPr>
        <p:txBody>
          <a:bodyPr anchor="t" rtlCol="false" tIns="0" lIns="0" bIns="0" rIns="0">
            <a:spAutoFit/>
          </a:bodyPr>
          <a:lstStyle/>
          <a:p>
            <a:pPr algn="l">
              <a:lnSpc>
                <a:spcPts val="9661"/>
              </a:lnSpc>
              <a:spcBef>
                <a:spcPct val="0"/>
              </a:spcBef>
            </a:pPr>
            <a:r>
              <a:rPr lang="en-US" sz="6901" b="true">
                <a:solidFill>
                  <a:srgbClr val="FFFFFF"/>
                </a:solidFill>
                <a:latin typeface="Montserrat Bold"/>
                <a:ea typeface="Montserrat Bold"/>
                <a:cs typeface="Montserrat Bold"/>
                <a:sym typeface="Montserrat Bold"/>
              </a:rPr>
              <a:t>Wishing you all the best in earning your certification soon!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DAHHTysyG8I</dc:identifier>
  <dcterms:modified xsi:type="dcterms:W3CDTF">2011-08-01T06:04:30Z</dcterms:modified>
  <cp:revision>1</cp:revision>
  <dc:title>Inside the Exam: AWS Cloud Practitioner.</dc:title>
</cp:coreProperties>
</file>