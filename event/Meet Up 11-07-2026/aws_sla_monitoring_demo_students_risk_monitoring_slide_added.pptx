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 bằng một câu chuyện đơn giản: AWS console có thể xanh, server có thể chạy, nhưng user vẫn không login được. Mục tiêu talk là giúp sinh viên hiểu vì sao monitoring cần đo trải nghiệm người dùng, không chỉ đo CPU/Memory.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 bằng một câu chuyện đơn giản: AWS console có thể xanh, server có thể chạy, nhưng user vẫn không login được. Mục tiêu talk là giúp sinh viên hiểu vì sao monitoring cần đo trải nghiệm người dùng, không chỉ đo CPU/Memory.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Giải thích cho sinh viên: SLA giống như bảo hành/cam kết có điều kiện. Nó không đảm bảo toàn bộ sản phẩm của mình chạy đúng. AWS có SLA cho dịch vụ của họ, còn trải nghiệm user là trách nhiệm của hệ thống mình xây.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bridge after SLA: risk management is the broader discipline. Monitoring sits in the detect and measure step, but its signals drive response and improvement. Use this slide to explain why CloudWatch metrics, alarms, dashboards, and SNS are risk controls, not just technical tools.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Dùng slide này để đưa ra mô hình. AWS và infrastructure là nền tảng. Nhưng user chỉ cảm nhận tầng trên cùng: login, đặt hàng, thanh toán.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slide chính để sinh viên nhớ. Tầng dưới giúp chẩn đoán root cause. Tầng trên giúp biết user/business đang bị ảnh hưởng hay không.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thông điệp core. Nói chậm: “Server chạy không có nghĩa là user đang dùng được hệ thống.” Đây là framing cho phần SLA và monitoring.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Giải thích lab thật đơn giản. Nếu bạn dùng sơ đồ production-like có CloudFront/WAF/Multi-AZ, vẫn chỉ cần kể một đường đi: User → ALB → EC2 app → RDS. Điểm phá demo là security group 3306 từ EC2 tới 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slide chính để sinh viên nhớ. Tầng dưới giúp chẩn đoán root cause. Tầng trên giúp biết user/business đang bị ảnh hưởng hay không.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mấu chốt của demo. ALB có thể chỉ check /health. Endpoint này không đụng database, nên vẫn OK. Còn /login là đường đi thật của user và cần database.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step: mở browser hoặc curl endpoint /login với user admin / 123456. Sau đó mở CloudWatch dashboard và chỉ vào LoginSuccess. Đừng vội phá lỗi.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Lúc này chuyển sang business/custom metrics. Nói: “User không quan tâm CPU 18%. User chỉ quan tâm có login được không.”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Sau khi phá DB access, mở dashboard hạ tầng. Nhấn mạnh: CPU không tăng, target vẫn healthy vì /health không kiểm tra DB. Đây là “everything is green”.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có custom metric, ta tạo CloudWatch Alarm. Alarm gửi notification qua SNS tới email hoặc Slack. Với demo, đặt threshold thấp để alarm bắn nhanh.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Tóm lại bằng 3 câu. Đây là slide quan trọng nhất để audience mang về.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thúc bằng quote dễ nhớ. Sau đó mở Q&amp;A. Nếu còn thời gian, hỏi lại audience: “Vậy từ giờ các bạn sẽ monitor CPU trước hay Login Success Rate trước?”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buNone/>
        <a:defRPr sz="4400">
          <a:solidFill>
            <a:schemeClr val="tx1"/>
          </a:solidFill>
          <a:latin typeface="+mj-lt"/>
          <a:ea typeface="+mj-lt"/>
          <a:cs typeface="+mj-lt"/>
        </a:defRPr>
      </a:lvl1pPr>
    </p:titleStyle>
    <p:bodyStyle>
      <a:lvl1pPr marL="342900" indent="-342900" algn="l">
        <a:buChar char="•"/>
        <a:defRPr sz="3200">
          <a:solidFill>
            <a:schemeClr val="tx1"/>
          </a:solidFill>
          <a:latin typeface="+mn-lt"/>
          <a:ea typeface="+mn-lt"/>
          <a:cs typeface="+mn-lt"/>
        </a:defRPr>
      </a:lvl1pPr>
      <a:lvl2pPr marL="742950" indent="-285750" algn="l">
        <a:buChar char="–"/>
        <a:defRPr sz="2800">
          <a:solidFill>
            <a:schemeClr val="tx1"/>
          </a:solidFill>
          <a:latin typeface="+mn-lt"/>
          <a:ea typeface="+mn-lt"/>
          <a:cs typeface="+mn-lt"/>
        </a:defRPr>
      </a:lvl2pPr>
      <a:lvl3pPr marL="1143000" indent="-228600" algn="l">
        <a:buChar char="•"/>
        <a:defRPr sz="2400">
          <a:solidFill>
            <a:schemeClr val="tx1"/>
          </a:solidFill>
          <a:latin typeface="+mn-lt"/>
          <a:ea typeface="+mn-lt"/>
          <a:cs typeface="+mn-lt"/>
        </a:defRPr>
      </a:lvl3pPr>
      <a:lvl4pPr marL="1600200" indent="-228600" algn="l">
        <a:buChar char="–"/>
        <a:defRPr sz="2000">
          <a:solidFill>
            <a:schemeClr val="tx1"/>
          </a:solidFill>
          <a:latin typeface="+mn-lt"/>
          <a:ea typeface="+mn-lt"/>
          <a:cs typeface="+mn-lt"/>
        </a:defRPr>
      </a:lvl4pPr>
      <a:lvl5pPr marL="2057400" indent="-228600" algn="l">
        <a:buChar char="»"/>
        <a:defRPr sz="2000">
          <a:solidFill>
            <a:schemeClr val="tx1"/>
          </a:solidFill>
          <a:latin typeface="+mn-lt"/>
          <a:ea typeface="+mn-lt"/>
          <a:cs typeface="+mn-l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0"/>
          <p:cNvPicPr>
            <a:picLocks noChangeAspect="1"/>
          </p:cNvPicPr>
          <p:nvPr/>
        </p:nvPicPr>
        <p:blipFill>
          <a:blip r:embed="rId3"/>
          <a:stretch>
            <a:fillRect/>
          </a:stretch>
        </p:blipFill>
        <p:spPr>
          <a:xfrm>
            <a:off x="0" y="0"/>
            <a:ext cx="12191695" cy="6858000"/>
          </a:xfrm>
          <a:prstGeom prst="rect">
            <a:avLst/>
          </a:prstGeom>
        </p:spPr>
      </p:pic>
      <p:sp>
        <p:nvSpPr>
          <p:cNvPr id="4" name="Text 1">
            <a:extLst>
              <a:ext uri="{FF2B5EF4-FFF2-40B4-BE49-F238E27FC236}">
                <a16:creationId xmlns:a16="http://schemas.microsoft.com/office/drawing/2014/main" id="{69F7AADC-A872-405B-827F-9646624B3173}"/>
              </a:ext>
            </a:extLst>
          </p:cNvPr>
          <p:cNvSpPr>
            <a:spLocks noGrp="1"/>
          </p:cNvSpPr>
          <p:nvPr/>
        </p:nvSpPr>
        <p:spPr>
          <a:xfrm>
            <a:off x="475488" y="2350008"/>
            <a:ext cx="7315200" cy="548640"/>
          </a:xfrm>
          <a:prstGeom prst="rect">
            <a:avLst/>
          </a:prstGeom>
          <a:noFill/>
        </p:spPr>
        <p:txBody>
          <a:bodyPr wrap="square" lIns="0" tIns="0" rIns="0" bIns="0" anchor="ctr">
            <a:normAutofit fontScale="92500" lnSpcReduction="10000"/>
          </a:bodyPr>
          <a:lstStyle/>
          <a:p>
            <a:pPr marL="0" indent="0">
              <a:buNone/>
            </a:pPr>
            <a:r>
              <a:rPr sz="4200" b="1">
                <a:solidFill>
                  <a:srgbClr val="FFFFFF"/>
                </a:solidFill>
                <a:latin typeface="Arial"/>
                <a:ea typeface="Arial"/>
                <a:cs typeface="Arial"/>
              </a:rPr>
              <a:t>SLA and Monitoring</a:t>
            </a:r>
          </a:p>
        </p:txBody>
      </p:sp>
      <p:sp>
        <p:nvSpPr>
          <p:cNvPr id="5" name="Text 2">
            <a:extLst>
              <a:ext uri="{FF2B5EF4-FFF2-40B4-BE49-F238E27FC236}">
                <a16:creationId xmlns:a16="http://schemas.microsoft.com/office/drawing/2014/main" id="{6A0690C1-A216-4831-B6F8-F3F1DC6A0620}"/>
              </a:ext>
            </a:extLst>
          </p:cNvPr>
          <p:cNvSpPr>
            <a:spLocks noGrp="1"/>
          </p:cNvSpPr>
          <p:nvPr/>
        </p:nvSpPr>
        <p:spPr>
          <a:xfrm>
            <a:off x="475488" y="2916936"/>
            <a:ext cx="7772400" cy="640080"/>
          </a:xfrm>
          <a:prstGeom prst="rect">
            <a:avLst/>
          </a:prstGeom>
          <a:noFill/>
        </p:spPr>
        <p:txBody>
          <a:bodyPr wrap="square" lIns="0" tIns="0" rIns="0" bIns="0" anchor="ctr">
            <a:normAutofit fontScale="70000" lnSpcReduction="20000"/>
          </a:bodyPr>
          <a:lstStyle/>
          <a:p>
            <a:r>
              <a:rPr sz="4400">
                <a:solidFill>
                  <a:schemeClr val="accent2">
                    <a:lumMod val="75000"/>
                  </a:schemeClr>
                </a:solidFill>
                <a:latin typeface="Arial"/>
                <a:ea typeface="Arial"/>
                <a:cs typeface="Arial"/>
              </a:rPr>
              <a:t>From SLA to Monitoring what really matters</a:t>
            </a:r>
          </a:p>
        </p:txBody>
      </p:sp>
      <p:sp>
        <p:nvSpPr>
          <p:cNvPr id="6" name="Text 3">
            <a:extLst>
              <a:ext uri="{FF2B5EF4-FFF2-40B4-BE49-F238E27FC236}">
                <a16:creationId xmlns:a16="http://schemas.microsoft.com/office/drawing/2014/main" id="{634A57FB-FD02-4C3F-ACD6-8FBA2C5933C9}"/>
              </a:ext>
            </a:extLst>
          </p:cNvPr>
          <p:cNvSpPr>
            <a:spLocks noGrp="1"/>
          </p:cNvSpPr>
          <p:nvPr/>
        </p:nvSpPr>
        <p:spPr>
          <a:xfrm>
            <a:off x="676656" y="2542032"/>
            <a:ext cx="6675120" cy="320040"/>
          </a:xfrm>
          <a:prstGeom prst="rect">
            <a:avLst/>
          </a:prstGeom>
          <a:noFill/>
        </p:spPr>
        <p:txBody>
          <a:bodyPr wrap="square" lIns="0" tIns="0" rIns="0" bIns="0" anchor="ctr"/>
          <a:lstStyle/>
          <a:p>
            <a:pPr marL="0" indent="0">
              <a:buNone/>
            </a:pPr>
            <a:endParaRPr/>
          </a:p>
        </p:txBody>
      </p:sp>
      <p:sp>
        <p:nvSpPr>
          <p:cNvPr id="9" name="Text 6">
            <a:extLst>
              <a:ext uri="{FF2B5EF4-FFF2-40B4-BE49-F238E27FC236}">
                <a16:creationId xmlns:a16="http://schemas.microsoft.com/office/drawing/2014/main" id="{4D10D878-3308-4BB9-A5C0-3B413990C417}"/>
              </a:ext>
            </a:extLst>
          </p:cNvPr>
          <p:cNvSpPr>
            <a:spLocks noGrp="1"/>
          </p:cNvSpPr>
          <p:nvPr/>
        </p:nvSpPr>
        <p:spPr>
          <a:xfrm>
            <a:off x="475488" y="3588121"/>
            <a:ext cx="3474720" cy="219456"/>
          </a:xfrm>
          <a:prstGeom prst="rect">
            <a:avLst/>
          </a:prstGeom>
          <a:noFill/>
        </p:spPr>
        <p:txBody>
          <a:bodyPr wrap="square" lIns="0" tIns="0" rIns="0" bIns="0" anchor="ctr"/>
          <a:lstStyle/>
          <a:p>
            <a:pPr marL="0" indent="0">
              <a:buNone/>
            </a:pPr>
            <a:r>
              <a:rPr sz="1600">
                <a:solidFill>
                  <a:srgbClr val="A9A4B7"/>
                </a:solidFill>
                <a:latin typeface="Arial"/>
                <a:ea typeface="Arial"/>
                <a:cs typeface="Arial"/>
              </a:rPr>
              <a:t>Nguyễn Huỳnh Sơn</a:t>
            </a:r>
          </a:p>
        </p:txBody>
      </p:sp>
    </p:spTree>
    <p:extLst>
      <p:ext uri="{BB962C8B-B14F-4D97-AF65-F5344CB8AC3E}">
        <p14:creationId xmlns:p14="http://schemas.microsoft.com/office/powerpoint/2010/main" val="1089942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0"/>
          <p:cNvPicPr>
            <a:picLocks noChangeAspect="1"/>
          </p:cNvPicPr>
          <p:nvPr/>
        </p:nvPicPr>
        <p:blipFill>
          <a:blip r:embed="rId3"/>
          <a:stretch>
            <a:fillRect/>
          </a:stretch>
        </p:blipFill>
        <p:spPr>
          <a:xfrm>
            <a:off x="305" y="0"/>
            <a:ext cx="12191695" cy="6858000"/>
          </a:xfrm>
          <a:prstGeom prst="rect">
            <a:avLst/>
          </a:prstGeom>
        </p:spPr>
      </p:pic>
      <p:sp>
        <p:nvSpPr>
          <p:cNvPr id="4" name="Text 1">
            <a:extLst>
              <a:ext uri="{FF2B5EF4-FFF2-40B4-BE49-F238E27FC236}">
                <a16:creationId xmlns:a16="http://schemas.microsoft.com/office/drawing/2014/main" id="{F2318759-91A2-52C3-A04E-204D16F62BC6}"/>
              </a:ext>
            </a:extLst>
          </p:cNvPr>
          <p:cNvSpPr>
            <a:spLocks noGrp="1"/>
          </p:cNvSpPr>
          <p:nvPr/>
        </p:nvSpPr>
        <p:spPr>
          <a:xfrm>
            <a:off x="475488" y="543091"/>
            <a:ext cx="7315200" cy="548640"/>
          </a:xfrm>
          <a:prstGeom prst="rect">
            <a:avLst/>
          </a:prstGeom>
          <a:noFill/>
        </p:spPr>
        <p:txBody>
          <a:bodyPr wrap="square" lIns="0" tIns="0" rIns="0" bIns="0" anchor="ctr">
            <a:normAutofit fontScale="92500" lnSpcReduction="10000"/>
          </a:bodyPr>
          <a:lstStyle/>
          <a:p>
            <a:pPr marL="0" indent="0">
              <a:buNone/>
            </a:pPr>
            <a:r>
              <a:rPr sz="4200" b="1">
                <a:solidFill>
                  <a:srgbClr val="FFFFFF"/>
                </a:solidFill>
                <a:latin typeface="Arial"/>
                <a:ea typeface="Arial"/>
                <a:cs typeface="Arial"/>
              </a:rPr>
              <a:t>About me</a:t>
            </a:r>
          </a:p>
        </p:txBody>
      </p:sp>
      <p:sp>
        <p:nvSpPr>
          <p:cNvPr id="5" name="Text 2">
            <a:extLst>
              <a:ext uri="{FF2B5EF4-FFF2-40B4-BE49-F238E27FC236}">
                <a16:creationId xmlns:a16="http://schemas.microsoft.com/office/drawing/2014/main" id="{CCA8F50B-1D11-2EBF-F474-6583880D979D}"/>
              </a:ext>
            </a:extLst>
          </p:cNvPr>
          <p:cNvSpPr>
            <a:spLocks noGrp="1"/>
          </p:cNvSpPr>
          <p:nvPr/>
        </p:nvSpPr>
        <p:spPr>
          <a:xfrm>
            <a:off x="475488" y="2916936"/>
            <a:ext cx="7772400" cy="640080"/>
          </a:xfrm>
          <a:prstGeom prst="rect">
            <a:avLst/>
          </a:prstGeom>
          <a:noFill/>
        </p:spPr>
        <p:txBody>
          <a:bodyPr wrap="square" lIns="0" tIns="0" rIns="0" bIns="0" anchor="ctr">
            <a:normAutofit/>
          </a:bodyPr>
          <a:lstStyle/>
          <a:p>
            <a:endParaRPr/>
          </a:p>
        </p:txBody>
      </p:sp>
      <p:sp>
        <p:nvSpPr>
          <p:cNvPr id="6" name="Text 3">
            <a:extLst>
              <a:ext uri="{FF2B5EF4-FFF2-40B4-BE49-F238E27FC236}">
                <a16:creationId xmlns:a16="http://schemas.microsoft.com/office/drawing/2014/main" id="{E591D879-2075-8583-1EC7-752EC83C2678}"/>
              </a:ext>
            </a:extLst>
          </p:cNvPr>
          <p:cNvSpPr>
            <a:spLocks noGrp="1"/>
          </p:cNvSpPr>
          <p:nvPr/>
        </p:nvSpPr>
        <p:spPr>
          <a:xfrm>
            <a:off x="676656" y="2542032"/>
            <a:ext cx="6675120" cy="320040"/>
          </a:xfrm>
          <a:prstGeom prst="rect">
            <a:avLst/>
          </a:prstGeom>
          <a:noFill/>
        </p:spPr>
        <p:txBody>
          <a:bodyPr wrap="square" lIns="0" tIns="0" rIns="0" bIns="0" anchor="ctr"/>
          <a:lstStyle/>
          <a:p>
            <a:pPr marL="0" indent="0">
              <a:buNone/>
            </a:pPr>
            <a:endParaRPr/>
          </a:p>
        </p:txBody>
      </p:sp>
      <p:pic>
        <p:nvPicPr>
          <p:cNvPr id="39" name="Picture 11"/>
          <p:cNvPicPr>
            <a:picLocks noChangeAspect="1"/>
          </p:cNvPicPr>
          <p:nvPr/>
        </p:nvPicPr>
        <p:blipFill>
          <a:blip r:embed="rId4"/>
          <a:stretch>
            <a:fillRect/>
          </a:stretch>
        </p:blipFill>
        <p:spPr>
          <a:xfrm>
            <a:off x="676656" y="1935861"/>
            <a:ext cx="1962150" cy="1962150"/>
          </a:xfrm>
          <a:prstGeom prst="ellipse">
            <a:avLst/>
          </a:prstGeom>
          <a:ln w="63500" cap="rnd">
            <a:solidFill>
              <a:srgbClr val="333333"/>
            </a:solidFill>
          </a:ln>
          <a:effectLst>
            <a:outerShdw blurRad="381000" dist="292100" dir="5400000" sx="-80000" sy="-18000" rotWithShape="0">
              <a:srgbClr val="000000">
                <a:alpha val="22000"/>
              </a:srgbClr>
            </a:outerShdw>
          </a:effectLst>
        </p:spPr>
      </p:pic>
      <p:sp>
        <p:nvSpPr>
          <p:cNvPr id="14" name="Text 0">
            <a:extLst>
              <a:ext uri="{FF2B5EF4-FFF2-40B4-BE49-F238E27FC236}">
                <a16:creationId xmlns:a16="http://schemas.microsoft.com/office/drawing/2014/main" id="{91E15796-A64F-6AC6-284C-C55CC6B8867E}"/>
              </a:ext>
            </a:extLst>
          </p:cNvPr>
          <p:cNvSpPr>
            <a:spLocks noGrp="1"/>
          </p:cNvSpPr>
          <p:nvPr/>
        </p:nvSpPr>
        <p:spPr>
          <a:xfrm>
            <a:off x="2839975" y="2226055"/>
            <a:ext cx="3482670" cy="201168"/>
          </a:xfrm>
          <a:prstGeom prst="rect">
            <a:avLst/>
          </a:prstGeom>
          <a:noFill/>
        </p:spPr>
        <p:txBody>
          <a:bodyPr wrap="square" lIns="0" tIns="0" rIns="0" bIns="0" anchor="ctr"/>
          <a:lstStyle/>
          <a:p>
            <a:pPr marL="285750" indent="-285750">
              <a:buChar char="•"/>
            </a:pPr>
            <a:r>
              <a:rPr sz="1400" b="1">
                <a:solidFill>
                  <a:schemeClr val="accent5">
                    <a:lumMod val="40000"/>
                    <a:lumOff val="60000"/>
                  </a:schemeClr>
                </a:solidFill>
                <a:latin typeface="Arial"/>
                <a:ea typeface="Arial"/>
                <a:cs typeface="Arial"/>
              </a:rPr>
              <a:t>Freshly graduated from HUFLIT </a:t>
            </a:r>
          </a:p>
        </p:txBody>
      </p:sp>
      <p:sp>
        <p:nvSpPr>
          <p:cNvPr id="17" name="Text 6">
            <a:extLst>
              <a:ext uri="{FF2B5EF4-FFF2-40B4-BE49-F238E27FC236}">
                <a16:creationId xmlns:a16="http://schemas.microsoft.com/office/drawing/2014/main" id="{0FB4D28D-BCF0-7872-3646-529DB7ACEBAD}"/>
              </a:ext>
            </a:extLst>
          </p:cNvPr>
          <p:cNvSpPr>
            <a:spLocks noGrp="1"/>
          </p:cNvSpPr>
          <p:nvPr/>
        </p:nvSpPr>
        <p:spPr>
          <a:xfrm>
            <a:off x="658368" y="4031177"/>
            <a:ext cx="3474720" cy="219456"/>
          </a:xfrm>
          <a:prstGeom prst="rect">
            <a:avLst/>
          </a:prstGeom>
          <a:noFill/>
        </p:spPr>
        <p:txBody>
          <a:bodyPr wrap="square" lIns="0" tIns="0" rIns="0" bIns="0" anchor="ctr"/>
          <a:lstStyle/>
          <a:p>
            <a:pPr marL="0" indent="0">
              <a:buNone/>
            </a:pPr>
            <a:r>
              <a:rPr sz="1600" b="1">
                <a:solidFill>
                  <a:schemeClr val="accent2"/>
                </a:solidFill>
                <a:latin typeface="Arial"/>
                <a:ea typeface="Arial"/>
                <a:cs typeface="Arial"/>
              </a:rPr>
              <a:t>Nguyễn Huỳnh Sơn</a:t>
            </a:r>
          </a:p>
        </p:txBody>
      </p:sp>
      <p:sp>
        <p:nvSpPr>
          <p:cNvPr id="19" name="Text 0">
            <a:extLst>
              <a:ext uri="{FF2B5EF4-FFF2-40B4-BE49-F238E27FC236}">
                <a16:creationId xmlns:a16="http://schemas.microsoft.com/office/drawing/2014/main" id="{F9DEA307-25C0-EA31-8196-FFE8F0430AB8}"/>
              </a:ext>
            </a:extLst>
          </p:cNvPr>
          <p:cNvSpPr>
            <a:spLocks noGrp="1"/>
          </p:cNvSpPr>
          <p:nvPr/>
        </p:nvSpPr>
        <p:spPr>
          <a:xfrm>
            <a:off x="2839974" y="2644887"/>
            <a:ext cx="4639349" cy="201168"/>
          </a:xfrm>
          <a:prstGeom prst="rect">
            <a:avLst/>
          </a:prstGeom>
          <a:noFill/>
        </p:spPr>
        <p:txBody>
          <a:bodyPr wrap="square" lIns="0" tIns="0" rIns="0" bIns="0" anchor="ctr"/>
          <a:lstStyle/>
          <a:p>
            <a:pPr marL="285750" indent="-285750">
              <a:buChar char="•"/>
            </a:pPr>
            <a:r>
              <a:rPr sz="1400" b="1">
                <a:solidFill>
                  <a:schemeClr val="accent5">
                    <a:lumMod val="40000"/>
                    <a:lumOff val="60000"/>
                  </a:schemeClr>
                </a:solidFill>
                <a:latin typeface="Arial"/>
                <a:ea typeface="Arial"/>
                <a:cs typeface="Arial"/>
              </a:rPr>
              <a:t>Member of AWS Student Builder Group HUFLIT  </a:t>
            </a:r>
          </a:p>
        </p:txBody>
      </p:sp>
      <p:sp>
        <p:nvSpPr>
          <p:cNvPr id="21" name="Text 0">
            <a:extLst>
              <a:ext uri="{FF2B5EF4-FFF2-40B4-BE49-F238E27FC236}">
                <a16:creationId xmlns:a16="http://schemas.microsoft.com/office/drawing/2014/main" id="{2B7AB377-34BD-55B7-678E-D6EAA9ABDF02}"/>
              </a:ext>
            </a:extLst>
          </p:cNvPr>
          <p:cNvSpPr>
            <a:spLocks noGrp="1"/>
          </p:cNvSpPr>
          <p:nvPr/>
        </p:nvSpPr>
        <p:spPr>
          <a:xfrm>
            <a:off x="2839974" y="3098838"/>
            <a:ext cx="4131349" cy="201168"/>
          </a:xfrm>
          <a:prstGeom prst="rect">
            <a:avLst/>
          </a:prstGeom>
          <a:noFill/>
        </p:spPr>
        <p:txBody>
          <a:bodyPr wrap="square" lIns="0" tIns="0" rIns="0" bIns="0" anchor="ctr"/>
          <a:lstStyle/>
          <a:p>
            <a:pPr marL="285750" indent="-285750">
              <a:buChar char="•"/>
            </a:pPr>
            <a:r>
              <a:rPr sz="1400" b="1">
                <a:solidFill>
                  <a:schemeClr val="accent5">
                    <a:lumMod val="40000"/>
                    <a:lumOff val="60000"/>
                  </a:schemeClr>
                </a:solidFill>
                <a:latin typeface="Arial"/>
                <a:ea typeface="Arial"/>
                <a:cs typeface="Arial"/>
              </a:rPr>
              <a:t>Ex Infrastructure Reliability Engineer at SPS  </a:t>
            </a:r>
          </a:p>
        </p:txBody>
      </p:sp>
      <p:sp>
        <p:nvSpPr>
          <p:cNvPr id="23" name="Text 0">
            <a:extLst>
              <a:ext uri="{FF2B5EF4-FFF2-40B4-BE49-F238E27FC236}">
                <a16:creationId xmlns:a16="http://schemas.microsoft.com/office/drawing/2014/main" id="{606F5739-15EE-B826-870F-FBAAE5C8F265}"/>
              </a:ext>
            </a:extLst>
          </p:cNvPr>
          <p:cNvSpPr>
            <a:spLocks noGrp="1"/>
          </p:cNvSpPr>
          <p:nvPr/>
        </p:nvSpPr>
        <p:spPr>
          <a:xfrm>
            <a:off x="2839973" y="3597226"/>
            <a:ext cx="4131349" cy="201168"/>
          </a:xfrm>
          <a:prstGeom prst="rect">
            <a:avLst/>
          </a:prstGeom>
          <a:noFill/>
        </p:spPr>
        <p:txBody>
          <a:bodyPr wrap="square" lIns="0" tIns="0" rIns="0" bIns="0" anchor="ctr"/>
          <a:lstStyle/>
          <a:p>
            <a:pPr marL="0" indent="0">
              <a:buNone/>
            </a:pPr>
            <a:r>
              <a:rPr sz="1400" b="1">
                <a:solidFill>
                  <a:srgbClr val="FF9900"/>
                </a:solidFill>
                <a:latin typeface="Arial"/>
                <a:ea typeface="Arial"/>
                <a:cs typeface="Arial"/>
              </a:rPr>
              <a:t>  </a:t>
            </a:r>
          </a:p>
        </p:txBody>
      </p:sp>
      <p:sp>
        <p:nvSpPr>
          <p:cNvPr id="25" name="Text 0">
            <a:extLst>
              <a:ext uri="{FF2B5EF4-FFF2-40B4-BE49-F238E27FC236}">
                <a16:creationId xmlns:a16="http://schemas.microsoft.com/office/drawing/2014/main" id="{9C31F9EB-FCF2-D745-32A3-584E152A140F}"/>
              </a:ext>
            </a:extLst>
          </p:cNvPr>
          <p:cNvSpPr>
            <a:spLocks noGrp="1"/>
          </p:cNvSpPr>
          <p:nvPr/>
        </p:nvSpPr>
        <p:spPr>
          <a:xfrm>
            <a:off x="2839972" y="3564869"/>
            <a:ext cx="4131349" cy="201168"/>
          </a:xfrm>
          <a:prstGeom prst="rect">
            <a:avLst/>
          </a:prstGeom>
          <a:noFill/>
        </p:spPr>
        <p:txBody>
          <a:bodyPr wrap="square" lIns="0" tIns="0" rIns="0" bIns="0" anchor="ctr"/>
          <a:lstStyle/>
          <a:p>
            <a:pPr marL="285750" indent="-285750">
              <a:buChar char="•"/>
            </a:pPr>
            <a:r>
              <a:rPr sz="1400" b="1">
                <a:solidFill>
                  <a:schemeClr val="accent5">
                    <a:lumMod val="40000"/>
                    <a:lumOff val="60000"/>
                  </a:schemeClr>
                </a:solidFill>
                <a:latin typeface="Arial"/>
                <a:ea typeface="Arial"/>
                <a:cs typeface="Arial"/>
              </a:rPr>
              <a:t>Infrastructure Support Engineer at Endava  </a:t>
            </a:r>
          </a:p>
        </p:txBody>
      </p:sp>
      <p:pic>
        <p:nvPicPr>
          <p:cNvPr id="46" name="Picture 25"/>
          <p:cNvPicPr>
            <a:picLocks noChangeAspect="1"/>
          </p:cNvPicPr>
          <p:nvPr/>
        </p:nvPicPr>
        <p:blipFill>
          <a:blip r:embed="rId5"/>
          <a:stretch>
            <a:fillRect/>
          </a:stretch>
        </p:blipFill>
        <p:spPr>
          <a:xfrm>
            <a:off x="7008797" y="2969486"/>
            <a:ext cx="394089" cy="394089"/>
          </a:xfrm>
          <a:prstGeom prst="rect">
            <a:avLst/>
          </a:prstGeom>
        </p:spPr>
      </p:pic>
      <p:pic>
        <p:nvPicPr>
          <p:cNvPr id="47" name="Picture 26"/>
          <p:cNvPicPr>
            <a:picLocks noChangeAspect="1"/>
          </p:cNvPicPr>
          <p:nvPr/>
        </p:nvPicPr>
        <p:blipFill>
          <a:blip r:embed="rId6"/>
          <a:stretch>
            <a:fillRect/>
          </a:stretch>
        </p:blipFill>
        <p:spPr>
          <a:xfrm>
            <a:off x="6736804" y="3452243"/>
            <a:ext cx="469038" cy="573349"/>
          </a:xfrm>
          <a:prstGeom prst="rect">
            <a:avLst/>
          </a:prstGeom>
        </p:spPr>
      </p:pic>
      <p:sp>
        <p:nvSpPr>
          <p:cNvPr id="29" name="Text 6">
            <a:extLst>
              <a:ext uri="{FF2B5EF4-FFF2-40B4-BE49-F238E27FC236}">
                <a16:creationId xmlns:a16="http://schemas.microsoft.com/office/drawing/2014/main" id="{3CB1AE86-3CA7-687C-5A46-8EA3CA2F9EAD}"/>
              </a:ext>
            </a:extLst>
          </p:cNvPr>
          <p:cNvSpPr>
            <a:spLocks noGrp="1"/>
          </p:cNvSpPr>
          <p:nvPr/>
        </p:nvSpPr>
        <p:spPr>
          <a:xfrm>
            <a:off x="733395" y="4912594"/>
            <a:ext cx="3002359" cy="219456"/>
          </a:xfrm>
          <a:prstGeom prst="rect">
            <a:avLst/>
          </a:prstGeom>
          <a:noFill/>
        </p:spPr>
        <p:txBody>
          <a:bodyPr wrap="square" lIns="0" tIns="0" rIns="0" bIns="0" anchor="ctr"/>
          <a:lstStyle/>
          <a:p>
            <a:pPr marL="0" indent="0">
              <a:buNone/>
            </a:pPr>
            <a:r>
              <a:rPr sz="1600" b="1">
                <a:solidFill>
                  <a:schemeClr val="accent1"/>
                </a:solidFill>
                <a:latin typeface="Arial"/>
                <a:ea typeface="Arial"/>
                <a:cs typeface="Arial"/>
              </a:rPr>
              <a:t>Connect with me on Linkedin</a:t>
            </a:r>
          </a:p>
        </p:txBody>
      </p:sp>
      <p:pic>
        <p:nvPicPr>
          <p:cNvPr id="49" name="Picture 30"/>
          <p:cNvPicPr>
            <a:picLocks noChangeAspect="1"/>
          </p:cNvPicPr>
          <p:nvPr/>
        </p:nvPicPr>
        <p:blipFill>
          <a:blip r:embed="rId7"/>
          <a:stretch>
            <a:fillRect/>
          </a:stretch>
        </p:blipFill>
        <p:spPr>
          <a:xfrm>
            <a:off x="3735754" y="4353291"/>
            <a:ext cx="1409700" cy="1409700"/>
          </a:xfrm>
          <a:prstGeom prst="rect">
            <a:avLst/>
          </a:prstGeom>
        </p:spPr>
      </p:pic>
    </p:spTree>
    <p:extLst>
      <p:ext uri="{BB962C8B-B14F-4D97-AF65-F5344CB8AC3E}">
        <p14:creationId xmlns:p14="http://schemas.microsoft.com/office/powerpoint/2010/main" val="3724358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 0"/>
          <p:cNvPicPr>
            <a:picLocks noChangeAspect="1"/>
          </p:cNvPicPr>
          <p:nvPr/>
        </p:nvPicPr>
        <p:blipFill>
          <a:blip r:embed="rId3"/>
          <a:stretch>
            <a:fillRect/>
          </a:stretch>
        </p:blipFill>
        <p:spPr>
          <a:xfrm>
            <a:off x="0" y="0"/>
            <a:ext cx="12191695" cy="6858000"/>
          </a:xfrm>
          <a:prstGeom prst="rect">
            <a:avLst/>
          </a:prstGeom>
        </p:spPr>
      </p:pic>
      <p:sp>
        <p:nvSpPr>
          <p:cNvPr id="4" name="Text 1">
            <a:extLst>
              <a:ext uri="{FF2B5EF4-FFF2-40B4-BE49-F238E27FC236}">
                <a16:creationId xmlns:a16="http://schemas.microsoft.com/office/drawing/2014/main" id="{7BA06356-3075-4942-9BE7-E5880621233C}"/>
              </a:ext>
            </a:extLst>
          </p:cNvPr>
          <p:cNvSpPr>
            <a:spLocks noGrp="1"/>
          </p:cNvSpPr>
          <p:nvPr/>
        </p:nvSpPr>
        <p:spPr>
          <a:xfrm>
            <a:off x="658368" y="530352"/>
            <a:ext cx="10881360" cy="438912"/>
          </a:xfrm>
          <a:prstGeom prst="rect">
            <a:avLst/>
          </a:prstGeom>
          <a:noFill/>
        </p:spPr>
        <p:txBody>
          <a:bodyPr wrap="square" lIns="0" tIns="0" rIns="0" bIns="0" anchor="ctr">
            <a:normAutofit lnSpcReduction="10000"/>
          </a:bodyPr>
          <a:lstStyle/>
          <a:p>
            <a:pPr marL="0" indent="0">
              <a:buNone/>
            </a:pPr>
            <a:r>
              <a:rPr sz="3100" b="1">
                <a:solidFill>
                  <a:srgbClr val="FFFFFF"/>
                </a:solidFill>
                <a:latin typeface="Arial"/>
                <a:ea typeface="Arial"/>
                <a:cs typeface="Arial"/>
              </a:rPr>
              <a:t>What is SLA ? </a:t>
            </a:r>
          </a:p>
        </p:txBody>
      </p:sp>
      <p:sp>
        <p:nvSpPr>
          <p:cNvPr id="6" name="Shape 3">
            <a:extLst>
              <a:ext uri="{FF2B5EF4-FFF2-40B4-BE49-F238E27FC236}">
                <a16:creationId xmlns:a16="http://schemas.microsoft.com/office/drawing/2014/main" id="{D5D34D28-D50F-4D13-B8DE-1B5EB2D92657}"/>
              </a:ext>
            </a:extLst>
          </p:cNvPr>
          <p:cNvSpPr>
            <a:spLocks noGrp="1"/>
          </p:cNvSpPr>
          <p:nvPr/>
        </p:nvSpPr>
        <p:spPr>
          <a:xfrm>
            <a:off x="899161" y="1471637"/>
            <a:ext cx="4846320" cy="3337560"/>
          </a:xfrm>
          <a:prstGeom prst="roundRect">
            <a:avLst>
              <a:gd name="adj" fmla="val 2740"/>
            </a:avLst>
          </a:prstGeom>
          <a:solidFill>
            <a:srgbClr val="110B22">
              <a:alpha val="96000"/>
            </a:srgbClr>
          </a:solidFill>
          <a:ln w="12700">
            <a:solidFill>
              <a:srgbClr val="FF9900"/>
            </a:solidFill>
            <a:prstDash val="solid"/>
          </a:ln>
        </p:spPr>
      </p:sp>
      <p:sp>
        <p:nvSpPr>
          <p:cNvPr id="7" name="Text 4">
            <a:extLst>
              <a:ext uri="{FF2B5EF4-FFF2-40B4-BE49-F238E27FC236}">
                <a16:creationId xmlns:a16="http://schemas.microsoft.com/office/drawing/2014/main" id="{CEB55F64-CFA9-4A35-AB33-62DCB2FD3359}"/>
              </a:ext>
            </a:extLst>
          </p:cNvPr>
          <p:cNvSpPr>
            <a:spLocks noGrp="1"/>
          </p:cNvSpPr>
          <p:nvPr/>
        </p:nvSpPr>
        <p:spPr>
          <a:xfrm>
            <a:off x="1133856" y="1810512"/>
            <a:ext cx="914400" cy="320040"/>
          </a:xfrm>
          <a:prstGeom prst="rect">
            <a:avLst/>
          </a:prstGeom>
          <a:noFill/>
        </p:spPr>
        <p:txBody>
          <a:bodyPr wrap="square" lIns="0" tIns="0" rIns="0" bIns="0" anchor="ctr"/>
          <a:lstStyle/>
          <a:p>
            <a:pPr marL="0" indent="0">
              <a:buNone/>
            </a:pPr>
            <a:r>
              <a:rPr sz="2200" b="1">
                <a:solidFill>
                  <a:srgbClr val="FF9900"/>
                </a:solidFill>
                <a:latin typeface="Arial"/>
                <a:ea typeface="Arial"/>
                <a:cs typeface="Arial"/>
              </a:rPr>
              <a:t>SLA</a:t>
            </a:r>
          </a:p>
        </p:txBody>
      </p:sp>
      <p:sp>
        <p:nvSpPr>
          <p:cNvPr id="8" name="Text 5">
            <a:extLst>
              <a:ext uri="{FF2B5EF4-FFF2-40B4-BE49-F238E27FC236}">
                <a16:creationId xmlns:a16="http://schemas.microsoft.com/office/drawing/2014/main" id="{9B45F8E6-7380-4F1B-BDEE-19E726FA9826}"/>
              </a:ext>
            </a:extLst>
          </p:cNvPr>
          <p:cNvSpPr>
            <a:spLocks noGrp="1"/>
          </p:cNvSpPr>
          <p:nvPr/>
        </p:nvSpPr>
        <p:spPr>
          <a:xfrm>
            <a:off x="1133856" y="1909181"/>
            <a:ext cx="4114800" cy="2298974"/>
          </a:xfrm>
          <a:prstGeom prst="rect">
            <a:avLst/>
          </a:prstGeom>
          <a:noFill/>
        </p:spPr>
        <p:txBody>
          <a:bodyPr wrap="square" lIns="0" tIns="0" rIns="0" bIns="0" anchor="ctr"/>
          <a:lstStyle/>
          <a:p>
            <a:r>
              <a:rPr b="1">
                <a:solidFill>
                  <a:schemeClr val="bg1"/>
                </a:solidFill>
                <a:latin typeface="Arial"/>
                <a:ea typeface="Arial"/>
                <a:cs typeface="Arial"/>
              </a:rPr>
              <a:t>Service Level Agreement </a:t>
            </a:r>
            <a:r>
              <a:rPr>
                <a:solidFill>
                  <a:schemeClr val="bg1"/>
                </a:solidFill>
              </a:rPr>
              <a:t>is a formal </a:t>
            </a:r>
            <a:r>
              <a:rPr sz="1600">
                <a:solidFill>
                  <a:schemeClr val="bg1"/>
                </a:solidFill>
              </a:rPr>
              <a:t>agreement</a:t>
            </a:r>
            <a:r>
              <a:rPr>
                <a:solidFill>
                  <a:schemeClr val="bg1"/>
                </a:solidFill>
              </a:rPr>
              <a:t> that defines the expected level of service between a provider and a customer</a:t>
            </a:r>
          </a:p>
        </p:txBody>
      </p:sp>
      <p:sp>
        <p:nvSpPr>
          <p:cNvPr id="9" name="Text 6">
            <a:extLst>
              <a:ext uri="{FF2B5EF4-FFF2-40B4-BE49-F238E27FC236}">
                <a16:creationId xmlns:a16="http://schemas.microsoft.com/office/drawing/2014/main" id="{BFF043B6-1B80-4741-A37D-661B3FFB57C4}"/>
              </a:ext>
            </a:extLst>
          </p:cNvPr>
          <p:cNvSpPr>
            <a:spLocks noGrp="1"/>
          </p:cNvSpPr>
          <p:nvPr/>
        </p:nvSpPr>
        <p:spPr>
          <a:xfrm>
            <a:off x="1133856" y="2880360"/>
            <a:ext cx="4251960" cy="822960"/>
          </a:xfrm>
          <a:prstGeom prst="rect">
            <a:avLst/>
          </a:prstGeom>
          <a:noFill/>
        </p:spPr>
        <p:txBody>
          <a:bodyPr wrap="square" lIns="0" tIns="0" rIns="0" bIns="0" anchor="ctr">
            <a:normAutofit/>
          </a:bodyPr>
          <a:lstStyle/>
          <a:p>
            <a:pPr marL="0" indent="0">
              <a:buNone/>
            </a:pPr>
            <a:endParaRPr/>
          </a:p>
        </p:txBody>
      </p:sp>
      <p:sp>
        <p:nvSpPr>
          <p:cNvPr id="11" name="Shape 8">
            <a:extLst>
              <a:ext uri="{FF2B5EF4-FFF2-40B4-BE49-F238E27FC236}">
                <a16:creationId xmlns:a16="http://schemas.microsoft.com/office/drawing/2014/main" id="{FFBE5942-AF68-4549-AB83-AB14496771DD}"/>
              </a:ext>
            </a:extLst>
          </p:cNvPr>
          <p:cNvSpPr>
            <a:spLocks noGrp="1"/>
          </p:cNvSpPr>
          <p:nvPr/>
        </p:nvSpPr>
        <p:spPr>
          <a:xfrm>
            <a:off x="6446520" y="1508760"/>
            <a:ext cx="4846320" cy="3337560"/>
          </a:xfrm>
          <a:prstGeom prst="roundRect">
            <a:avLst>
              <a:gd name="adj" fmla="val 2740"/>
            </a:avLst>
          </a:prstGeom>
          <a:solidFill>
            <a:srgbClr val="110B22">
              <a:alpha val="96000"/>
            </a:srgbClr>
          </a:solidFill>
          <a:ln w="12700">
            <a:solidFill>
              <a:srgbClr val="FF5A6E"/>
            </a:solidFill>
            <a:prstDash val="solid"/>
          </a:ln>
        </p:spPr>
      </p:sp>
      <p:sp>
        <p:nvSpPr>
          <p:cNvPr id="12" name="Text 9">
            <a:extLst>
              <a:ext uri="{FF2B5EF4-FFF2-40B4-BE49-F238E27FC236}">
                <a16:creationId xmlns:a16="http://schemas.microsoft.com/office/drawing/2014/main" id="{C7140E5F-D069-4E4E-A992-E41DB8878DBB}"/>
              </a:ext>
            </a:extLst>
          </p:cNvPr>
          <p:cNvSpPr>
            <a:spLocks noGrp="1"/>
          </p:cNvSpPr>
          <p:nvPr/>
        </p:nvSpPr>
        <p:spPr>
          <a:xfrm>
            <a:off x="6693408" y="1810512"/>
            <a:ext cx="4206240" cy="320040"/>
          </a:xfrm>
          <a:prstGeom prst="rect">
            <a:avLst/>
          </a:prstGeom>
          <a:noFill/>
        </p:spPr>
        <p:txBody>
          <a:bodyPr wrap="square" lIns="0" tIns="0" rIns="0" bIns="0" anchor="ctr"/>
          <a:lstStyle/>
          <a:p>
            <a:pPr marL="0" indent="0">
              <a:buNone/>
            </a:pPr>
            <a:r>
              <a:rPr sz="2000" b="1">
                <a:solidFill>
                  <a:srgbClr val="FF5A6E"/>
                </a:solidFill>
                <a:latin typeface="Arial"/>
                <a:ea typeface="Arial"/>
                <a:cs typeface="Arial"/>
              </a:rPr>
              <a:t> SLA is important !</a:t>
            </a:r>
          </a:p>
        </p:txBody>
      </p:sp>
      <p:sp>
        <p:nvSpPr>
          <p:cNvPr id="13" name="Text 10">
            <a:extLst>
              <a:ext uri="{FF2B5EF4-FFF2-40B4-BE49-F238E27FC236}">
                <a16:creationId xmlns:a16="http://schemas.microsoft.com/office/drawing/2014/main" id="{EA78DFDB-0642-40F8-9EAF-52AD52A1ED1B}"/>
              </a:ext>
            </a:extLst>
          </p:cNvPr>
          <p:cNvSpPr>
            <a:spLocks noGrp="1"/>
          </p:cNvSpPr>
          <p:nvPr/>
        </p:nvSpPr>
        <p:spPr>
          <a:xfrm>
            <a:off x="6711696" y="2468880"/>
            <a:ext cx="182880" cy="201168"/>
          </a:xfrm>
          <a:prstGeom prst="rect">
            <a:avLst/>
          </a:prstGeom>
          <a:noFill/>
        </p:spPr>
        <p:txBody>
          <a:bodyPr wrap="square" lIns="0" tIns="0" rIns="0" bIns="0" anchor="ctr"/>
          <a:lstStyle/>
          <a:p>
            <a:pPr marL="0" indent="0">
              <a:buNone/>
            </a:pPr>
            <a:endParaRPr/>
          </a:p>
        </p:txBody>
      </p:sp>
      <p:sp>
        <p:nvSpPr>
          <p:cNvPr id="14" name="Text 11">
            <a:extLst>
              <a:ext uri="{FF2B5EF4-FFF2-40B4-BE49-F238E27FC236}">
                <a16:creationId xmlns:a16="http://schemas.microsoft.com/office/drawing/2014/main" id="{64F557B5-FE63-43A4-9BFD-CDF0CC8C1FF8}"/>
              </a:ext>
            </a:extLst>
          </p:cNvPr>
          <p:cNvSpPr>
            <a:spLocks noGrp="1"/>
          </p:cNvSpPr>
          <p:nvPr/>
        </p:nvSpPr>
        <p:spPr>
          <a:xfrm>
            <a:off x="7022592" y="2468880"/>
            <a:ext cx="3566160" cy="228600"/>
          </a:xfrm>
          <a:prstGeom prst="rect">
            <a:avLst/>
          </a:prstGeom>
          <a:noFill/>
        </p:spPr>
        <p:txBody>
          <a:bodyPr wrap="square" lIns="0" tIns="0" rIns="0" bIns="0" anchor="ctr"/>
          <a:lstStyle/>
          <a:p>
            <a:pPr marL="285750" indent="-285750">
              <a:buChar char="•"/>
            </a:pPr>
            <a:r>
              <a:rPr sz="1400">
                <a:solidFill>
                  <a:schemeClr val="bg1"/>
                </a:solidFill>
              </a:rPr>
              <a:t>Clear Expectations</a:t>
            </a:r>
          </a:p>
        </p:txBody>
      </p:sp>
      <p:sp>
        <p:nvSpPr>
          <p:cNvPr id="15" name="Text 12">
            <a:extLst>
              <a:ext uri="{FF2B5EF4-FFF2-40B4-BE49-F238E27FC236}">
                <a16:creationId xmlns:a16="http://schemas.microsoft.com/office/drawing/2014/main" id="{73C7579C-977D-4F00-BA78-803577B1B6F7}"/>
              </a:ext>
            </a:extLst>
          </p:cNvPr>
          <p:cNvSpPr>
            <a:spLocks noGrp="1"/>
          </p:cNvSpPr>
          <p:nvPr/>
        </p:nvSpPr>
        <p:spPr>
          <a:xfrm>
            <a:off x="6711696" y="2944368"/>
            <a:ext cx="182880" cy="201168"/>
          </a:xfrm>
          <a:prstGeom prst="rect">
            <a:avLst/>
          </a:prstGeom>
          <a:noFill/>
        </p:spPr>
        <p:txBody>
          <a:bodyPr wrap="square" lIns="0" tIns="0" rIns="0" bIns="0" anchor="ctr"/>
          <a:lstStyle/>
          <a:p>
            <a:pPr marL="0" indent="0">
              <a:buNone/>
            </a:pPr>
            <a:endParaRPr/>
          </a:p>
        </p:txBody>
      </p:sp>
      <p:sp>
        <p:nvSpPr>
          <p:cNvPr id="16" name="Text 13">
            <a:extLst>
              <a:ext uri="{FF2B5EF4-FFF2-40B4-BE49-F238E27FC236}">
                <a16:creationId xmlns:a16="http://schemas.microsoft.com/office/drawing/2014/main" id="{D49DE3C3-E0CC-4434-A25A-09BD4E1AC355}"/>
              </a:ext>
            </a:extLst>
          </p:cNvPr>
          <p:cNvSpPr>
            <a:spLocks noGrp="1"/>
          </p:cNvSpPr>
          <p:nvPr/>
        </p:nvSpPr>
        <p:spPr>
          <a:xfrm>
            <a:off x="7022592" y="2944368"/>
            <a:ext cx="3566160" cy="228600"/>
          </a:xfrm>
          <a:prstGeom prst="rect">
            <a:avLst/>
          </a:prstGeom>
          <a:noFill/>
        </p:spPr>
        <p:txBody>
          <a:bodyPr wrap="square" lIns="0" tIns="0" rIns="0" bIns="0" anchor="ctr"/>
          <a:lstStyle/>
          <a:p>
            <a:pPr marL="285750" indent="-285750">
              <a:buChar char="•"/>
            </a:pPr>
            <a:r>
              <a:rPr sz="1400">
                <a:solidFill>
                  <a:schemeClr val="bg1"/>
                </a:solidFill>
              </a:rPr>
              <a:t>Service Accountability</a:t>
            </a:r>
          </a:p>
        </p:txBody>
      </p:sp>
      <p:sp>
        <p:nvSpPr>
          <p:cNvPr id="17" name="Text 14">
            <a:extLst>
              <a:ext uri="{FF2B5EF4-FFF2-40B4-BE49-F238E27FC236}">
                <a16:creationId xmlns:a16="http://schemas.microsoft.com/office/drawing/2014/main" id="{8DCCE0C4-F6D1-462F-A6E1-BCFD931BEE00}"/>
              </a:ext>
            </a:extLst>
          </p:cNvPr>
          <p:cNvSpPr>
            <a:spLocks noGrp="1"/>
          </p:cNvSpPr>
          <p:nvPr/>
        </p:nvSpPr>
        <p:spPr>
          <a:xfrm>
            <a:off x="6711696" y="3419856"/>
            <a:ext cx="182880" cy="201168"/>
          </a:xfrm>
          <a:prstGeom prst="rect">
            <a:avLst/>
          </a:prstGeom>
          <a:noFill/>
        </p:spPr>
        <p:txBody>
          <a:bodyPr wrap="square" lIns="0" tIns="0" rIns="0" bIns="0" anchor="ctr"/>
          <a:lstStyle/>
          <a:p>
            <a:pPr marL="0" indent="0">
              <a:buNone/>
            </a:pPr>
            <a:endParaRPr/>
          </a:p>
        </p:txBody>
      </p:sp>
      <p:sp>
        <p:nvSpPr>
          <p:cNvPr id="18" name="Text 15">
            <a:extLst>
              <a:ext uri="{FF2B5EF4-FFF2-40B4-BE49-F238E27FC236}">
                <a16:creationId xmlns:a16="http://schemas.microsoft.com/office/drawing/2014/main" id="{3454F2EA-6061-4929-A689-995354E398ED}"/>
              </a:ext>
            </a:extLst>
          </p:cNvPr>
          <p:cNvSpPr>
            <a:spLocks noGrp="1"/>
          </p:cNvSpPr>
          <p:nvPr/>
        </p:nvSpPr>
        <p:spPr>
          <a:xfrm>
            <a:off x="7022592" y="3419856"/>
            <a:ext cx="3566160" cy="228600"/>
          </a:xfrm>
          <a:prstGeom prst="rect">
            <a:avLst/>
          </a:prstGeom>
          <a:noFill/>
        </p:spPr>
        <p:txBody>
          <a:bodyPr wrap="square" lIns="0" tIns="0" rIns="0" bIns="0" anchor="ctr"/>
          <a:lstStyle/>
          <a:p>
            <a:pPr marL="285750" indent="-285750">
              <a:buChar char="•"/>
            </a:pPr>
            <a:r>
              <a:rPr sz="1400">
                <a:solidFill>
                  <a:schemeClr val="bg1"/>
                </a:solidFill>
              </a:rPr>
              <a:t>Risk Management</a:t>
            </a:r>
          </a:p>
        </p:txBody>
      </p:sp>
      <p:sp>
        <p:nvSpPr>
          <p:cNvPr id="19" name="Text 16">
            <a:extLst>
              <a:ext uri="{FF2B5EF4-FFF2-40B4-BE49-F238E27FC236}">
                <a16:creationId xmlns:a16="http://schemas.microsoft.com/office/drawing/2014/main" id="{7D1524BF-C6C1-40B1-BD5F-3E60C0FDB81E}"/>
              </a:ext>
            </a:extLst>
          </p:cNvPr>
          <p:cNvSpPr>
            <a:spLocks noGrp="1"/>
          </p:cNvSpPr>
          <p:nvPr/>
        </p:nvSpPr>
        <p:spPr>
          <a:xfrm>
            <a:off x="6711696" y="3895344"/>
            <a:ext cx="182880" cy="201168"/>
          </a:xfrm>
          <a:prstGeom prst="rect">
            <a:avLst/>
          </a:prstGeom>
          <a:noFill/>
        </p:spPr>
        <p:txBody>
          <a:bodyPr wrap="square" lIns="0" tIns="0" rIns="0" bIns="0" anchor="ctr"/>
          <a:lstStyle/>
          <a:p>
            <a:pPr marL="0" indent="0">
              <a:buNone/>
            </a:pPr>
            <a:endParaRPr/>
          </a:p>
        </p:txBody>
      </p:sp>
      <p:sp>
        <p:nvSpPr>
          <p:cNvPr id="20" name="Text 17">
            <a:extLst>
              <a:ext uri="{FF2B5EF4-FFF2-40B4-BE49-F238E27FC236}">
                <a16:creationId xmlns:a16="http://schemas.microsoft.com/office/drawing/2014/main" id="{6682F4F0-FF74-4D05-AECD-177592511E02}"/>
              </a:ext>
            </a:extLst>
          </p:cNvPr>
          <p:cNvSpPr>
            <a:spLocks noGrp="1"/>
          </p:cNvSpPr>
          <p:nvPr/>
        </p:nvSpPr>
        <p:spPr>
          <a:xfrm>
            <a:off x="7022592" y="3895344"/>
            <a:ext cx="3566160" cy="228600"/>
          </a:xfrm>
          <a:prstGeom prst="rect">
            <a:avLst/>
          </a:prstGeom>
          <a:noFill/>
        </p:spPr>
        <p:txBody>
          <a:bodyPr wrap="square" lIns="0" tIns="0" rIns="0" bIns="0" anchor="ctr"/>
          <a:lstStyle/>
          <a:p>
            <a:pPr marL="285750" indent="-285750">
              <a:buChar char="•"/>
            </a:pPr>
            <a:r>
              <a:rPr sz="1400">
                <a:solidFill>
                  <a:schemeClr val="bg1"/>
                </a:solidFill>
              </a:rPr>
              <a:t>Performance Measurement</a:t>
            </a:r>
          </a:p>
        </p:txBody>
      </p:sp>
      <p:sp>
        <p:nvSpPr>
          <p:cNvPr id="21" name="Text 18">
            <a:extLst>
              <a:ext uri="{FF2B5EF4-FFF2-40B4-BE49-F238E27FC236}">
                <a16:creationId xmlns:a16="http://schemas.microsoft.com/office/drawing/2014/main" id="{9767A0BB-2C3B-46E9-AD9E-AA41BBA7A545}"/>
              </a:ext>
            </a:extLst>
          </p:cNvPr>
          <p:cNvSpPr>
            <a:spLocks noGrp="1"/>
          </p:cNvSpPr>
          <p:nvPr/>
        </p:nvSpPr>
        <p:spPr>
          <a:xfrm>
            <a:off x="8321040" y="6327648"/>
            <a:ext cx="3566160" cy="228600"/>
          </a:xfrm>
          <a:prstGeom prst="rect">
            <a:avLst/>
          </a:prstGeom>
          <a:noFill/>
        </p:spPr>
        <p:txBody>
          <a:bodyPr wrap="square" lIns="0" tIns="0" rIns="0" bIns="0" anchor="ctr"/>
          <a:lstStyle/>
          <a:p>
            <a:pPr marL="0" indent="0" algn="r">
              <a:buNone/>
            </a:pPr>
            <a:r>
              <a:rPr sz="550">
                <a:solidFill>
                  <a:srgbClr val="7B758C"/>
                </a:solidFill>
                <a:latin typeface="Arial"/>
                <a:ea typeface="Arial"/>
                <a:cs typeface="Arial"/>
              </a:rPr>
              <a:t>Source: AWS SLA pages</a:t>
            </a:r>
          </a:p>
        </p:txBody>
      </p:sp>
    </p:spTree>
    <p:extLst>
      <p:ext uri="{BB962C8B-B14F-4D97-AF65-F5344CB8AC3E}">
        <p14:creationId xmlns:p14="http://schemas.microsoft.com/office/powerpoint/2010/main" val="125536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00C2DF37-6EAE-497C-947A-35E9D223BCDC}"/>
              </a:ext>
            </a:extLst>
          </p:cNvPr>
          <p:cNvSpPr>
            <a:spLocks noGrp="1"/>
          </p:cNvSpPr>
          <p:nvPr/>
        </p:nvSpPr>
        <p:spPr>
          <a:xfrm>
            <a:off x="658368" y="310896"/>
            <a:ext cx="4114800" cy="201168"/>
          </a:xfrm>
          <a:prstGeom prst="rect">
            <a:avLst/>
          </a:prstGeom>
          <a:noFill/>
        </p:spPr>
        <p:txBody>
          <a:bodyPr wrap="square" lIns="0" tIns="0" rIns="0" bIns="0" anchor="ctr"/>
          <a:lstStyle/>
          <a:p>
            <a:pPr marL="0" indent="0">
              <a:buNone/>
            </a:pPr>
            <a:r>
              <a:rPr sz="850" b="1">
                <a:solidFill>
                  <a:srgbClr val="FF9900"/>
                </a:solidFill>
                <a:latin typeface="Arial"/>
                <a:ea typeface="Arial"/>
                <a:cs typeface="Arial"/>
              </a:rPr>
              <a:t>RISK MANAGEMENT</a:t>
            </a:r>
          </a:p>
        </p:txBody>
      </p:sp>
      <p:sp>
        <p:nvSpPr>
          <p:cNvPr id="4" name="Text 1">
            <a:extLst>
              <a:ext uri="{FF2B5EF4-FFF2-40B4-BE49-F238E27FC236}">
                <a16:creationId xmlns:a16="http://schemas.microsoft.com/office/drawing/2014/main" id="{0E212BB3-ADBD-4C7E-9658-462645511757}"/>
              </a:ext>
            </a:extLst>
          </p:cNvPr>
          <p:cNvSpPr>
            <a:spLocks noGrp="1"/>
          </p:cNvSpPr>
          <p:nvPr/>
        </p:nvSpPr>
        <p:spPr>
          <a:xfrm>
            <a:off x="658368" y="530352"/>
            <a:ext cx="10881360" cy="457200"/>
          </a:xfrm>
          <a:prstGeom prst="rect">
            <a:avLst/>
          </a:prstGeom>
          <a:noFill/>
        </p:spPr>
        <p:txBody>
          <a:bodyPr wrap="square" lIns="0" tIns="0" rIns="0" bIns="0" anchor="ctr">
            <a:normAutofit/>
          </a:bodyPr>
          <a:lstStyle/>
          <a:p>
            <a:pPr marL="0" indent="0">
              <a:buNone/>
            </a:pPr>
            <a:r>
              <a:rPr sz="3000" b="1">
                <a:solidFill>
                  <a:srgbClr val="FFFFFF"/>
                </a:solidFill>
                <a:latin typeface="Arial"/>
                <a:ea typeface="Arial"/>
                <a:cs typeface="Arial"/>
              </a:rPr>
              <a:t>Monitoring sits inside risk management</a:t>
            </a:r>
          </a:p>
        </p:txBody>
      </p:sp>
      <p:sp>
        <p:nvSpPr>
          <p:cNvPr id="5" name="Text 2">
            <a:extLst>
              <a:ext uri="{FF2B5EF4-FFF2-40B4-BE49-F238E27FC236}">
                <a16:creationId xmlns:a16="http://schemas.microsoft.com/office/drawing/2014/main" id="{47DEBDEC-E305-4CF7-9BF0-6A6892206146}"/>
              </a:ext>
            </a:extLst>
          </p:cNvPr>
          <p:cNvSpPr>
            <a:spLocks noGrp="1"/>
          </p:cNvSpPr>
          <p:nvPr/>
        </p:nvSpPr>
        <p:spPr>
          <a:xfrm>
            <a:off x="658368" y="1042416"/>
            <a:ext cx="10881360" cy="201168"/>
          </a:xfrm>
          <a:prstGeom prst="rect">
            <a:avLst/>
          </a:prstGeom>
          <a:noFill/>
        </p:spPr>
        <p:txBody>
          <a:bodyPr wrap="square" lIns="0" tIns="0" rIns="0" bIns="0" anchor="ctr"/>
          <a:lstStyle/>
          <a:p>
            <a:pPr marL="0" indent="0">
              <a:buNone/>
            </a:pPr>
            <a:r>
              <a:rPr sz="1400">
                <a:solidFill>
                  <a:srgbClr val="A9A4B7"/>
                </a:solidFill>
                <a:latin typeface="Arial"/>
                <a:ea typeface="Arial"/>
                <a:cs typeface="Arial"/>
              </a:rPr>
              <a:t>It detects service risk early, before SLA impact becomes a customer complaint</a:t>
            </a:r>
          </a:p>
        </p:txBody>
      </p:sp>
      <p:sp>
        <p:nvSpPr>
          <p:cNvPr id="6" name="Shape 3">
            <a:extLst>
              <a:ext uri="{FF2B5EF4-FFF2-40B4-BE49-F238E27FC236}">
                <a16:creationId xmlns:a16="http://schemas.microsoft.com/office/drawing/2014/main" id="{BB58709D-B44A-4B63-A8A0-1809E65D156B}"/>
              </a:ext>
            </a:extLst>
          </p:cNvPr>
          <p:cNvSpPr>
            <a:spLocks noGrp="1"/>
          </p:cNvSpPr>
          <p:nvPr/>
        </p:nvSpPr>
        <p:spPr>
          <a:xfrm>
            <a:off x="841248" y="2304288"/>
            <a:ext cx="1965960" cy="987552"/>
          </a:xfrm>
          <a:prstGeom prst="roundRect">
            <a:avLst>
              <a:gd name="adj" fmla="val 9259"/>
            </a:avLst>
          </a:prstGeom>
          <a:solidFill>
            <a:srgbClr val="110B22">
              <a:alpha val="96000"/>
            </a:srgbClr>
          </a:solidFill>
          <a:ln w="12700">
            <a:solidFill>
              <a:srgbClr val="FF5A6E"/>
            </a:solidFill>
            <a:prstDash val="solid"/>
          </a:ln>
        </p:spPr>
      </p:sp>
      <p:sp>
        <p:nvSpPr>
          <p:cNvPr id="7" name="Text 4">
            <a:extLst>
              <a:ext uri="{FF2B5EF4-FFF2-40B4-BE49-F238E27FC236}">
                <a16:creationId xmlns:a16="http://schemas.microsoft.com/office/drawing/2014/main" id="{CE37CA98-AA11-4EE1-9F46-D1EA9F9BEBC7}"/>
              </a:ext>
            </a:extLst>
          </p:cNvPr>
          <p:cNvSpPr>
            <a:spLocks noGrp="1"/>
          </p:cNvSpPr>
          <p:nvPr/>
        </p:nvSpPr>
        <p:spPr>
          <a:xfrm>
            <a:off x="950976" y="2441448"/>
            <a:ext cx="174650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Identify risk</a:t>
            </a:r>
          </a:p>
        </p:txBody>
      </p:sp>
      <p:sp>
        <p:nvSpPr>
          <p:cNvPr id="8" name="Text 5">
            <a:extLst>
              <a:ext uri="{FF2B5EF4-FFF2-40B4-BE49-F238E27FC236}">
                <a16:creationId xmlns:a16="http://schemas.microsoft.com/office/drawing/2014/main" id="{6CE29E97-3C88-4879-A240-797E90C1EA8C}"/>
              </a:ext>
            </a:extLst>
          </p:cNvPr>
          <p:cNvSpPr>
            <a:spLocks noGrp="1"/>
          </p:cNvSpPr>
          <p:nvPr/>
        </p:nvSpPr>
        <p:spPr>
          <a:xfrm>
            <a:off x="950976" y="2761488"/>
            <a:ext cx="1746504" cy="182880"/>
          </a:xfrm>
          <a:prstGeom prst="rect">
            <a:avLst/>
          </a:prstGeom>
          <a:noFill/>
        </p:spPr>
        <p:txBody>
          <a:bodyPr wrap="square" lIns="0" tIns="0" rIns="0" bIns="0" anchor="ctr">
            <a:normAutofit/>
          </a:bodyPr>
          <a:lstStyle/>
          <a:p>
            <a:pPr marL="0" indent="0" algn="ctr">
              <a:buNone/>
            </a:pPr>
            <a:r>
              <a:rPr sz="850">
                <a:solidFill>
                  <a:srgbClr val="A9A4B7"/>
                </a:solidFill>
                <a:latin typeface="Arial"/>
                <a:ea typeface="Arial"/>
                <a:cs typeface="Arial"/>
              </a:rPr>
              <a:t>SLA breach, login, DB dependency</a:t>
            </a:r>
          </a:p>
        </p:txBody>
      </p:sp>
      <p:sp>
        <p:nvSpPr>
          <p:cNvPr id="9" name="Shape 6">
            <a:extLst>
              <a:ext uri="{FF2B5EF4-FFF2-40B4-BE49-F238E27FC236}">
                <a16:creationId xmlns:a16="http://schemas.microsoft.com/office/drawing/2014/main" id="{22D79FB6-0CD7-41C3-91A8-ABF9DF9C26F1}"/>
              </a:ext>
            </a:extLst>
          </p:cNvPr>
          <p:cNvSpPr>
            <a:spLocks noGrp="1"/>
          </p:cNvSpPr>
          <p:nvPr/>
        </p:nvSpPr>
        <p:spPr>
          <a:xfrm>
            <a:off x="2834640" y="2798064"/>
            <a:ext cx="338328" cy="0"/>
          </a:xfrm>
          <a:prstGeom prst="line">
            <a:avLst/>
          </a:prstGeom>
          <a:noFill/>
          <a:ln w="22860">
            <a:solidFill>
              <a:srgbClr val="A9A4B7"/>
            </a:solidFill>
            <a:prstDash val="solid"/>
            <a:headEnd type="none"/>
            <a:tailEnd type="triangle"/>
          </a:ln>
        </p:spPr>
      </p:sp>
      <p:sp>
        <p:nvSpPr>
          <p:cNvPr id="10" name="Shape 7">
            <a:extLst>
              <a:ext uri="{FF2B5EF4-FFF2-40B4-BE49-F238E27FC236}">
                <a16:creationId xmlns:a16="http://schemas.microsoft.com/office/drawing/2014/main" id="{889EFD8E-D04B-4668-83B0-80798D10EC4D}"/>
              </a:ext>
            </a:extLst>
          </p:cNvPr>
          <p:cNvSpPr>
            <a:spLocks noGrp="1"/>
          </p:cNvSpPr>
          <p:nvPr/>
        </p:nvSpPr>
        <p:spPr>
          <a:xfrm>
            <a:off x="3337560" y="2304288"/>
            <a:ext cx="1965960" cy="987552"/>
          </a:xfrm>
          <a:prstGeom prst="roundRect">
            <a:avLst>
              <a:gd name="adj" fmla="val 9259"/>
            </a:avLst>
          </a:prstGeom>
          <a:solidFill>
            <a:srgbClr val="110B22">
              <a:alpha val="96000"/>
            </a:srgbClr>
          </a:solidFill>
          <a:ln w="12700">
            <a:solidFill>
              <a:srgbClr val="FF9900"/>
            </a:solidFill>
            <a:prstDash val="solid"/>
          </a:ln>
        </p:spPr>
      </p:sp>
      <p:sp>
        <p:nvSpPr>
          <p:cNvPr id="11" name="Text 8">
            <a:extLst>
              <a:ext uri="{FF2B5EF4-FFF2-40B4-BE49-F238E27FC236}">
                <a16:creationId xmlns:a16="http://schemas.microsoft.com/office/drawing/2014/main" id="{425D19B2-89D2-436B-A7D2-EEC193E0B045}"/>
              </a:ext>
            </a:extLst>
          </p:cNvPr>
          <p:cNvSpPr>
            <a:spLocks noGrp="1"/>
          </p:cNvSpPr>
          <p:nvPr/>
        </p:nvSpPr>
        <p:spPr>
          <a:xfrm>
            <a:off x="3447288" y="2441448"/>
            <a:ext cx="174650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Monitor signals</a:t>
            </a:r>
          </a:p>
        </p:txBody>
      </p:sp>
      <p:sp>
        <p:nvSpPr>
          <p:cNvPr id="12" name="Text 9">
            <a:extLst>
              <a:ext uri="{FF2B5EF4-FFF2-40B4-BE49-F238E27FC236}">
                <a16:creationId xmlns:a16="http://schemas.microsoft.com/office/drawing/2014/main" id="{A86A979A-B3F6-4569-93AF-AFFC3D1CEC7B}"/>
              </a:ext>
            </a:extLst>
          </p:cNvPr>
          <p:cNvSpPr>
            <a:spLocks noGrp="1"/>
          </p:cNvSpPr>
          <p:nvPr/>
        </p:nvSpPr>
        <p:spPr>
          <a:xfrm>
            <a:off x="3447288" y="2761488"/>
            <a:ext cx="1746504" cy="182880"/>
          </a:xfrm>
          <a:prstGeom prst="rect">
            <a:avLst/>
          </a:prstGeom>
          <a:noFill/>
        </p:spPr>
        <p:txBody>
          <a:bodyPr wrap="square" lIns="0" tIns="0" rIns="0" bIns="0" anchor="ctr">
            <a:normAutofit/>
          </a:bodyPr>
          <a:lstStyle/>
          <a:p>
            <a:pPr marL="0" indent="0" algn="ctr">
              <a:buNone/>
            </a:pPr>
            <a:r>
              <a:rPr sz="850">
                <a:solidFill>
                  <a:srgbClr val="A9A4B7"/>
                </a:solidFill>
                <a:latin typeface="Arial"/>
                <a:ea typeface="Arial"/>
                <a:cs typeface="Arial"/>
              </a:rPr>
              <a:t>metrics, logs, alarms</a:t>
            </a:r>
          </a:p>
        </p:txBody>
      </p:sp>
      <p:sp>
        <p:nvSpPr>
          <p:cNvPr id="13" name="Shape 10">
            <a:extLst>
              <a:ext uri="{FF2B5EF4-FFF2-40B4-BE49-F238E27FC236}">
                <a16:creationId xmlns:a16="http://schemas.microsoft.com/office/drawing/2014/main" id="{2D96A602-A353-49AB-87B5-6B9F160D331B}"/>
              </a:ext>
            </a:extLst>
          </p:cNvPr>
          <p:cNvSpPr>
            <a:spLocks noGrp="1"/>
          </p:cNvSpPr>
          <p:nvPr/>
        </p:nvSpPr>
        <p:spPr>
          <a:xfrm>
            <a:off x="5330952" y="2798064"/>
            <a:ext cx="502920" cy="0"/>
          </a:xfrm>
          <a:prstGeom prst="line">
            <a:avLst/>
          </a:prstGeom>
          <a:noFill/>
          <a:ln w="22860">
            <a:solidFill>
              <a:srgbClr val="A9A4B7"/>
            </a:solidFill>
            <a:prstDash val="solid"/>
            <a:headEnd type="none"/>
            <a:tailEnd type="triangle"/>
          </a:ln>
        </p:spPr>
      </p:sp>
      <p:sp>
        <p:nvSpPr>
          <p:cNvPr id="14" name="Shape 11">
            <a:extLst>
              <a:ext uri="{FF2B5EF4-FFF2-40B4-BE49-F238E27FC236}">
                <a16:creationId xmlns:a16="http://schemas.microsoft.com/office/drawing/2014/main" id="{D4352D1D-512E-4A4D-B298-D602BF648C11}"/>
              </a:ext>
            </a:extLst>
          </p:cNvPr>
          <p:cNvSpPr>
            <a:spLocks noGrp="1"/>
          </p:cNvSpPr>
          <p:nvPr/>
        </p:nvSpPr>
        <p:spPr>
          <a:xfrm>
            <a:off x="5998464" y="2304288"/>
            <a:ext cx="1965960" cy="987552"/>
          </a:xfrm>
          <a:prstGeom prst="roundRect">
            <a:avLst>
              <a:gd name="adj" fmla="val 9259"/>
            </a:avLst>
          </a:prstGeom>
          <a:solidFill>
            <a:srgbClr val="110B22">
              <a:alpha val="96000"/>
            </a:srgbClr>
          </a:solidFill>
          <a:ln w="12700">
            <a:solidFill>
              <a:srgbClr val="8D5CF6"/>
            </a:solidFill>
            <a:prstDash val="solid"/>
          </a:ln>
        </p:spPr>
      </p:sp>
      <p:sp>
        <p:nvSpPr>
          <p:cNvPr id="15" name="Text 12">
            <a:extLst>
              <a:ext uri="{FF2B5EF4-FFF2-40B4-BE49-F238E27FC236}">
                <a16:creationId xmlns:a16="http://schemas.microsoft.com/office/drawing/2014/main" id="{8AA31346-274D-4190-8178-C1D8DAC547E6}"/>
              </a:ext>
            </a:extLst>
          </p:cNvPr>
          <p:cNvSpPr>
            <a:spLocks noGrp="1"/>
          </p:cNvSpPr>
          <p:nvPr/>
        </p:nvSpPr>
        <p:spPr>
          <a:xfrm>
            <a:off x="6108192" y="2441448"/>
            <a:ext cx="174650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Respond</a:t>
            </a:r>
          </a:p>
        </p:txBody>
      </p:sp>
      <p:sp>
        <p:nvSpPr>
          <p:cNvPr id="16" name="Text 13">
            <a:extLst>
              <a:ext uri="{FF2B5EF4-FFF2-40B4-BE49-F238E27FC236}">
                <a16:creationId xmlns:a16="http://schemas.microsoft.com/office/drawing/2014/main" id="{AD297881-16C6-45C5-84CA-2FB60AC85F0C}"/>
              </a:ext>
            </a:extLst>
          </p:cNvPr>
          <p:cNvSpPr>
            <a:spLocks noGrp="1"/>
          </p:cNvSpPr>
          <p:nvPr/>
        </p:nvSpPr>
        <p:spPr>
          <a:xfrm>
            <a:off x="6108192" y="2761488"/>
            <a:ext cx="1746504" cy="182880"/>
          </a:xfrm>
          <a:prstGeom prst="rect">
            <a:avLst/>
          </a:prstGeom>
          <a:noFill/>
        </p:spPr>
        <p:txBody>
          <a:bodyPr wrap="square" lIns="0" tIns="0" rIns="0" bIns="0" anchor="ctr">
            <a:normAutofit/>
          </a:bodyPr>
          <a:lstStyle/>
          <a:p>
            <a:pPr marL="0" indent="0" algn="ctr">
              <a:buNone/>
            </a:pPr>
            <a:r>
              <a:rPr sz="850">
                <a:solidFill>
                  <a:srgbClr val="A9A4B7"/>
                </a:solidFill>
                <a:latin typeface="Arial"/>
                <a:ea typeface="Arial"/>
                <a:cs typeface="Arial"/>
              </a:rPr>
              <a:t>SNS, SOP, restore path</a:t>
            </a:r>
          </a:p>
        </p:txBody>
      </p:sp>
      <p:sp>
        <p:nvSpPr>
          <p:cNvPr id="17" name="Shape 14">
            <a:extLst>
              <a:ext uri="{FF2B5EF4-FFF2-40B4-BE49-F238E27FC236}">
                <a16:creationId xmlns:a16="http://schemas.microsoft.com/office/drawing/2014/main" id="{E6E8F46A-68EA-4A8B-893D-0540173356EC}"/>
              </a:ext>
            </a:extLst>
          </p:cNvPr>
          <p:cNvSpPr>
            <a:spLocks noGrp="1"/>
          </p:cNvSpPr>
          <p:nvPr/>
        </p:nvSpPr>
        <p:spPr>
          <a:xfrm>
            <a:off x="7991856" y="2798064"/>
            <a:ext cx="320040" cy="0"/>
          </a:xfrm>
          <a:prstGeom prst="line">
            <a:avLst/>
          </a:prstGeom>
          <a:noFill/>
          <a:ln w="22860">
            <a:solidFill>
              <a:srgbClr val="A9A4B7"/>
            </a:solidFill>
            <a:prstDash val="solid"/>
            <a:headEnd type="none"/>
            <a:tailEnd type="triangle"/>
          </a:ln>
        </p:spPr>
      </p:sp>
      <p:sp>
        <p:nvSpPr>
          <p:cNvPr id="18" name="Shape 15">
            <a:extLst>
              <a:ext uri="{FF2B5EF4-FFF2-40B4-BE49-F238E27FC236}">
                <a16:creationId xmlns:a16="http://schemas.microsoft.com/office/drawing/2014/main" id="{F7F06107-D49A-41DA-95AF-C0DF3E722303}"/>
              </a:ext>
            </a:extLst>
          </p:cNvPr>
          <p:cNvSpPr>
            <a:spLocks noGrp="1"/>
          </p:cNvSpPr>
          <p:nvPr/>
        </p:nvSpPr>
        <p:spPr>
          <a:xfrm>
            <a:off x="8476488" y="2304288"/>
            <a:ext cx="1965960" cy="987552"/>
          </a:xfrm>
          <a:prstGeom prst="roundRect">
            <a:avLst>
              <a:gd name="adj" fmla="val 9259"/>
            </a:avLst>
          </a:prstGeom>
          <a:solidFill>
            <a:srgbClr val="110B22">
              <a:alpha val="96000"/>
            </a:srgbClr>
          </a:solidFill>
          <a:ln w="12700">
            <a:solidFill>
              <a:srgbClr val="42D392"/>
            </a:solidFill>
            <a:prstDash val="solid"/>
          </a:ln>
        </p:spPr>
      </p:sp>
      <p:sp>
        <p:nvSpPr>
          <p:cNvPr id="19" name="Text 16">
            <a:extLst>
              <a:ext uri="{FF2B5EF4-FFF2-40B4-BE49-F238E27FC236}">
                <a16:creationId xmlns:a16="http://schemas.microsoft.com/office/drawing/2014/main" id="{0FF1C0E7-66F6-4F47-A4E6-52D9A3F417D1}"/>
              </a:ext>
            </a:extLst>
          </p:cNvPr>
          <p:cNvSpPr>
            <a:spLocks noGrp="1"/>
          </p:cNvSpPr>
          <p:nvPr/>
        </p:nvSpPr>
        <p:spPr>
          <a:xfrm>
            <a:off x="8586216" y="2441448"/>
            <a:ext cx="174650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Improve</a:t>
            </a:r>
          </a:p>
        </p:txBody>
      </p:sp>
      <p:sp>
        <p:nvSpPr>
          <p:cNvPr id="20" name="Text 17">
            <a:extLst>
              <a:ext uri="{FF2B5EF4-FFF2-40B4-BE49-F238E27FC236}">
                <a16:creationId xmlns:a16="http://schemas.microsoft.com/office/drawing/2014/main" id="{34D49D16-8ECE-4FB9-BC5B-0F5C6E11EB07}"/>
              </a:ext>
            </a:extLst>
          </p:cNvPr>
          <p:cNvSpPr>
            <a:spLocks noGrp="1"/>
          </p:cNvSpPr>
          <p:nvPr/>
        </p:nvSpPr>
        <p:spPr>
          <a:xfrm>
            <a:off x="8586216" y="2761488"/>
            <a:ext cx="1746504" cy="182880"/>
          </a:xfrm>
          <a:prstGeom prst="rect">
            <a:avLst/>
          </a:prstGeom>
          <a:noFill/>
        </p:spPr>
        <p:txBody>
          <a:bodyPr wrap="square" lIns="0" tIns="0" rIns="0" bIns="0" anchor="ctr">
            <a:normAutofit/>
          </a:bodyPr>
          <a:lstStyle/>
          <a:p>
            <a:pPr marL="0" indent="0" algn="ctr">
              <a:buNone/>
            </a:pPr>
            <a:r>
              <a:rPr sz="850">
                <a:solidFill>
                  <a:srgbClr val="A9A4B7"/>
                </a:solidFill>
                <a:latin typeface="Arial"/>
                <a:ea typeface="Arial"/>
                <a:cs typeface="Arial"/>
              </a:rPr>
              <a:t>review, tune, prevent</a:t>
            </a:r>
          </a:p>
        </p:txBody>
      </p:sp>
      <p:sp>
        <p:nvSpPr>
          <p:cNvPr id="23" name="Text 20">
            <a:extLst>
              <a:ext uri="{FF2B5EF4-FFF2-40B4-BE49-F238E27FC236}">
                <a16:creationId xmlns:a16="http://schemas.microsoft.com/office/drawing/2014/main" id="{A9072264-85D3-4A2D-AB3E-A4E9A558DC05}"/>
              </a:ext>
            </a:extLst>
          </p:cNvPr>
          <p:cNvSpPr>
            <a:spLocks noGrp="1"/>
          </p:cNvSpPr>
          <p:nvPr/>
        </p:nvSpPr>
        <p:spPr>
          <a:xfrm>
            <a:off x="8321040" y="6327648"/>
            <a:ext cx="3566160" cy="228600"/>
          </a:xfrm>
          <a:prstGeom prst="rect">
            <a:avLst/>
          </a:prstGeom>
          <a:noFill/>
        </p:spPr>
        <p:txBody>
          <a:bodyPr wrap="square" lIns="0" tIns="0" rIns="0" bIns="0" anchor="ctr"/>
          <a:lstStyle/>
          <a:p>
            <a:pPr marL="0" indent="0" algn="r">
              <a:buNone/>
            </a:pPr>
            <a:r>
              <a:rPr sz="550">
                <a:solidFill>
                  <a:srgbClr val="7B758C"/>
                </a:solidFill>
                <a:latin typeface="Arial"/>
                <a:ea typeface="Arial"/>
                <a:cs typeface="Arial"/>
              </a:rPr>
              <a:t>Risk loop: identify -&gt; monitor -&gt; respond -&gt; improve</a:t>
            </a:r>
          </a:p>
        </p:txBody>
      </p:sp>
    </p:spTree>
    <p:extLst>
      <p:ext uri="{BB962C8B-B14F-4D97-AF65-F5344CB8AC3E}">
        <p14:creationId xmlns:p14="http://schemas.microsoft.com/office/powerpoint/2010/main" val="1459889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 0"/>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D281AFD7-1A7D-439C-8A30-EB398BF585AD}"/>
              </a:ext>
            </a:extLst>
          </p:cNvPr>
          <p:cNvSpPr>
            <a:spLocks noGrp="1"/>
          </p:cNvSpPr>
          <p:nvPr/>
        </p:nvSpPr>
        <p:spPr>
          <a:xfrm>
            <a:off x="658367" y="310896"/>
            <a:ext cx="8720095" cy="557784"/>
          </a:xfrm>
          <a:prstGeom prst="rect">
            <a:avLst/>
          </a:prstGeom>
          <a:noFill/>
        </p:spPr>
        <p:txBody>
          <a:bodyPr wrap="square" lIns="0" tIns="0" rIns="0" bIns="0" anchor="ctr"/>
          <a:lstStyle/>
          <a:p>
            <a:pPr marL="0" indent="0">
              <a:buNone/>
            </a:pPr>
            <a:r>
              <a:rPr sz="2400" b="1">
                <a:solidFill>
                  <a:srgbClr val="FF9900"/>
                </a:solidFill>
                <a:latin typeface="Arial"/>
                <a:ea typeface="Arial"/>
                <a:cs typeface="Arial"/>
              </a:rPr>
              <a:t>The gap between “healthy infrastructrue” and “user happy”</a:t>
            </a:r>
          </a:p>
        </p:txBody>
      </p:sp>
      <p:sp>
        <p:nvSpPr>
          <p:cNvPr id="6" name="Shape 3">
            <a:extLst>
              <a:ext uri="{FF2B5EF4-FFF2-40B4-BE49-F238E27FC236}">
                <a16:creationId xmlns:a16="http://schemas.microsoft.com/office/drawing/2014/main" id="{FB3CCC42-BDD8-4F03-96D5-542658B427EE}"/>
              </a:ext>
            </a:extLst>
          </p:cNvPr>
          <p:cNvSpPr>
            <a:spLocks noGrp="1"/>
          </p:cNvSpPr>
          <p:nvPr/>
        </p:nvSpPr>
        <p:spPr>
          <a:xfrm>
            <a:off x="1188720" y="1417320"/>
            <a:ext cx="6035040" cy="475488"/>
          </a:xfrm>
          <a:prstGeom prst="roundRect">
            <a:avLst>
              <a:gd name="adj" fmla="val 19231"/>
            </a:avLst>
          </a:prstGeom>
          <a:solidFill>
            <a:srgbClr val="150719">
              <a:alpha val="96000"/>
            </a:srgbClr>
          </a:solidFill>
          <a:ln w="12700">
            <a:solidFill>
              <a:srgbClr val="FF5A6E"/>
            </a:solidFill>
            <a:prstDash val="solid"/>
          </a:ln>
        </p:spPr>
      </p:sp>
      <p:sp>
        <p:nvSpPr>
          <p:cNvPr id="7" name="Text 4">
            <a:extLst>
              <a:ext uri="{FF2B5EF4-FFF2-40B4-BE49-F238E27FC236}">
                <a16:creationId xmlns:a16="http://schemas.microsoft.com/office/drawing/2014/main" id="{7AE9DDD9-E88F-4BB2-AC5E-2A8B0CC8707C}"/>
              </a:ext>
            </a:extLst>
          </p:cNvPr>
          <p:cNvSpPr>
            <a:spLocks noGrp="1"/>
          </p:cNvSpPr>
          <p:nvPr/>
        </p:nvSpPr>
        <p:spPr>
          <a:xfrm>
            <a:off x="1389888" y="1536192"/>
            <a:ext cx="2560320" cy="164592"/>
          </a:xfrm>
          <a:prstGeom prst="rect">
            <a:avLst/>
          </a:prstGeom>
          <a:noFill/>
        </p:spPr>
        <p:txBody>
          <a:bodyPr wrap="square" lIns="0" tIns="0" rIns="0" bIns="0" anchor="ctr"/>
          <a:lstStyle/>
          <a:p>
            <a:pPr marL="0" indent="0">
              <a:buNone/>
            </a:pPr>
            <a:r>
              <a:rPr sz="1150" b="1">
                <a:solidFill>
                  <a:srgbClr val="FF5A6E"/>
                </a:solidFill>
                <a:latin typeface="Arial"/>
                <a:ea typeface="Arial"/>
                <a:cs typeface="Arial"/>
              </a:rPr>
              <a:t>Customer Journey</a:t>
            </a:r>
          </a:p>
        </p:txBody>
      </p:sp>
      <p:sp>
        <p:nvSpPr>
          <p:cNvPr id="8" name="Text 5">
            <a:extLst>
              <a:ext uri="{FF2B5EF4-FFF2-40B4-BE49-F238E27FC236}">
                <a16:creationId xmlns:a16="http://schemas.microsoft.com/office/drawing/2014/main" id="{7868ED91-D43D-4A8E-9096-6CD02CE91709}"/>
              </a:ext>
            </a:extLst>
          </p:cNvPr>
          <p:cNvSpPr>
            <a:spLocks noGrp="1"/>
          </p:cNvSpPr>
          <p:nvPr/>
        </p:nvSpPr>
        <p:spPr>
          <a:xfrm>
            <a:off x="3977640" y="1536192"/>
            <a:ext cx="2999232" cy="164592"/>
          </a:xfrm>
          <a:prstGeom prst="rect">
            <a:avLst/>
          </a:prstGeom>
          <a:noFill/>
        </p:spPr>
        <p:txBody>
          <a:bodyPr wrap="square" lIns="0" tIns="0" rIns="0" bIns="0" anchor="ctr">
            <a:normAutofit/>
          </a:bodyPr>
          <a:lstStyle/>
          <a:p>
            <a:pPr marL="0" indent="0">
              <a:buNone/>
            </a:pPr>
            <a:r>
              <a:rPr sz="930">
                <a:solidFill>
                  <a:srgbClr val="A9A4B7"/>
                </a:solidFill>
                <a:latin typeface="Arial"/>
                <a:ea typeface="Arial"/>
                <a:cs typeface="Arial"/>
              </a:rPr>
              <a:t>Can login? Can checkout?</a:t>
            </a:r>
          </a:p>
        </p:txBody>
      </p:sp>
      <p:sp>
        <p:nvSpPr>
          <p:cNvPr id="9" name="Shape 6">
            <a:extLst>
              <a:ext uri="{FF2B5EF4-FFF2-40B4-BE49-F238E27FC236}">
                <a16:creationId xmlns:a16="http://schemas.microsoft.com/office/drawing/2014/main" id="{C1287F74-3D86-41F2-83C0-677458DA71B5}"/>
              </a:ext>
            </a:extLst>
          </p:cNvPr>
          <p:cNvSpPr>
            <a:spLocks noGrp="1"/>
          </p:cNvSpPr>
          <p:nvPr/>
        </p:nvSpPr>
        <p:spPr>
          <a:xfrm>
            <a:off x="1335024" y="2130552"/>
            <a:ext cx="5742432" cy="475488"/>
          </a:xfrm>
          <a:prstGeom prst="roundRect">
            <a:avLst>
              <a:gd name="adj" fmla="val 19231"/>
            </a:avLst>
          </a:prstGeom>
          <a:solidFill>
            <a:srgbClr val="150719">
              <a:alpha val="96000"/>
            </a:srgbClr>
          </a:solidFill>
          <a:ln w="12700">
            <a:solidFill>
              <a:srgbClr val="FF9900"/>
            </a:solidFill>
            <a:prstDash val="solid"/>
          </a:ln>
        </p:spPr>
      </p:sp>
      <p:sp>
        <p:nvSpPr>
          <p:cNvPr id="10" name="Text 7">
            <a:extLst>
              <a:ext uri="{FF2B5EF4-FFF2-40B4-BE49-F238E27FC236}">
                <a16:creationId xmlns:a16="http://schemas.microsoft.com/office/drawing/2014/main" id="{F865DB3C-765B-4A0B-9990-CE6693EBE8A6}"/>
              </a:ext>
            </a:extLst>
          </p:cNvPr>
          <p:cNvSpPr>
            <a:spLocks noGrp="1"/>
          </p:cNvSpPr>
          <p:nvPr/>
        </p:nvSpPr>
        <p:spPr>
          <a:xfrm>
            <a:off x="1536192" y="2249424"/>
            <a:ext cx="2560320" cy="164592"/>
          </a:xfrm>
          <a:prstGeom prst="rect">
            <a:avLst/>
          </a:prstGeom>
          <a:noFill/>
        </p:spPr>
        <p:txBody>
          <a:bodyPr wrap="square" lIns="0" tIns="0" rIns="0" bIns="0" anchor="ctr"/>
          <a:lstStyle/>
          <a:p>
            <a:pPr marL="0" indent="0">
              <a:buNone/>
            </a:pPr>
            <a:r>
              <a:rPr sz="1150" b="1">
                <a:solidFill>
                  <a:srgbClr val="FF9900"/>
                </a:solidFill>
                <a:latin typeface="Arial"/>
                <a:ea typeface="Arial"/>
                <a:cs typeface="Arial"/>
              </a:rPr>
              <a:t>Business Metrics</a:t>
            </a:r>
          </a:p>
        </p:txBody>
      </p:sp>
      <p:sp>
        <p:nvSpPr>
          <p:cNvPr id="11" name="Text 8">
            <a:extLst>
              <a:ext uri="{FF2B5EF4-FFF2-40B4-BE49-F238E27FC236}">
                <a16:creationId xmlns:a16="http://schemas.microsoft.com/office/drawing/2014/main" id="{F00B5D5E-2963-476F-A136-11896DC424E7}"/>
              </a:ext>
            </a:extLst>
          </p:cNvPr>
          <p:cNvSpPr>
            <a:spLocks noGrp="1"/>
          </p:cNvSpPr>
          <p:nvPr/>
        </p:nvSpPr>
        <p:spPr>
          <a:xfrm>
            <a:off x="4123944" y="2249424"/>
            <a:ext cx="2706624" cy="164592"/>
          </a:xfrm>
          <a:prstGeom prst="rect">
            <a:avLst/>
          </a:prstGeom>
          <a:noFill/>
        </p:spPr>
        <p:txBody>
          <a:bodyPr wrap="square" lIns="0" tIns="0" rIns="0" bIns="0" anchor="ctr">
            <a:normAutofit/>
          </a:bodyPr>
          <a:lstStyle/>
          <a:p>
            <a:pPr marL="0" indent="0">
              <a:buNone/>
            </a:pPr>
            <a:r>
              <a:rPr sz="930">
                <a:solidFill>
                  <a:srgbClr val="A9A4B7"/>
                </a:solidFill>
                <a:latin typeface="Arial"/>
                <a:ea typeface="Arial"/>
                <a:cs typeface="Arial"/>
              </a:rPr>
              <a:t>Login success rate, order success</a:t>
            </a:r>
          </a:p>
        </p:txBody>
      </p:sp>
      <p:sp>
        <p:nvSpPr>
          <p:cNvPr id="12" name="Shape 9">
            <a:extLst>
              <a:ext uri="{FF2B5EF4-FFF2-40B4-BE49-F238E27FC236}">
                <a16:creationId xmlns:a16="http://schemas.microsoft.com/office/drawing/2014/main" id="{9C829DC3-A9A4-402E-B8D5-F4662EBD5D4E}"/>
              </a:ext>
            </a:extLst>
          </p:cNvPr>
          <p:cNvSpPr>
            <a:spLocks noGrp="1"/>
          </p:cNvSpPr>
          <p:nvPr/>
        </p:nvSpPr>
        <p:spPr>
          <a:xfrm>
            <a:off x="1481328" y="2843784"/>
            <a:ext cx="5449824" cy="475488"/>
          </a:xfrm>
          <a:prstGeom prst="roundRect">
            <a:avLst>
              <a:gd name="adj" fmla="val 19231"/>
            </a:avLst>
          </a:prstGeom>
          <a:solidFill>
            <a:srgbClr val="0E0820">
              <a:alpha val="96000"/>
            </a:srgbClr>
          </a:solidFill>
          <a:ln w="12700">
            <a:solidFill>
              <a:srgbClr val="8D5CF6"/>
            </a:solidFill>
            <a:prstDash val="solid"/>
          </a:ln>
        </p:spPr>
      </p:sp>
      <p:sp>
        <p:nvSpPr>
          <p:cNvPr id="13" name="Text 10">
            <a:extLst>
              <a:ext uri="{FF2B5EF4-FFF2-40B4-BE49-F238E27FC236}">
                <a16:creationId xmlns:a16="http://schemas.microsoft.com/office/drawing/2014/main" id="{5B170295-EF0D-45A0-B658-0C1ACA2AF540}"/>
              </a:ext>
            </a:extLst>
          </p:cNvPr>
          <p:cNvSpPr>
            <a:spLocks noGrp="1"/>
          </p:cNvSpPr>
          <p:nvPr/>
        </p:nvSpPr>
        <p:spPr>
          <a:xfrm>
            <a:off x="1682496" y="2962656"/>
            <a:ext cx="2560320" cy="164592"/>
          </a:xfrm>
          <a:prstGeom prst="rect">
            <a:avLst/>
          </a:prstGeom>
          <a:noFill/>
        </p:spPr>
        <p:txBody>
          <a:bodyPr wrap="square" lIns="0" tIns="0" rIns="0" bIns="0" anchor="ctr"/>
          <a:lstStyle/>
          <a:p>
            <a:pPr marL="0" indent="0">
              <a:buNone/>
            </a:pPr>
            <a:r>
              <a:rPr sz="1150" b="1">
                <a:solidFill>
                  <a:srgbClr val="8D5CF6"/>
                </a:solidFill>
                <a:latin typeface="Arial"/>
                <a:ea typeface="Arial"/>
                <a:cs typeface="Arial"/>
              </a:rPr>
              <a:t>Application</a:t>
            </a:r>
          </a:p>
        </p:txBody>
      </p:sp>
      <p:sp>
        <p:nvSpPr>
          <p:cNvPr id="14" name="Text 11">
            <a:extLst>
              <a:ext uri="{FF2B5EF4-FFF2-40B4-BE49-F238E27FC236}">
                <a16:creationId xmlns:a16="http://schemas.microsoft.com/office/drawing/2014/main" id="{3847F718-4743-45F7-9CE6-585B773E83C5}"/>
              </a:ext>
            </a:extLst>
          </p:cNvPr>
          <p:cNvSpPr>
            <a:spLocks noGrp="1"/>
          </p:cNvSpPr>
          <p:nvPr/>
        </p:nvSpPr>
        <p:spPr>
          <a:xfrm>
            <a:off x="4270248" y="2962656"/>
            <a:ext cx="2414016" cy="164592"/>
          </a:xfrm>
          <a:prstGeom prst="rect">
            <a:avLst/>
          </a:prstGeom>
          <a:noFill/>
        </p:spPr>
        <p:txBody>
          <a:bodyPr wrap="square" lIns="0" tIns="0" rIns="0" bIns="0" anchor="ctr">
            <a:normAutofit/>
          </a:bodyPr>
          <a:lstStyle/>
          <a:p>
            <a:pPr marL="0" indent="0">
              <a:buNone/>
            </a:pPr>
            <a:r>
              <a:rPr sz="930">
                <a:solidFill>
                  <a:srgbClr val="A9A4B7"/>
                </a:solidFill>
                <a:latin typeface="Arial"/>
                <a:ea typeface="Arial"/>
                <a:cs typeface="Arial"/>
              </a:rPr>
              <a:t>Errors, latency, dependencies</a:t>
            </a:r>
          </a:p>
        </p:txBody>
      </p:sp>
      <p:sp>
        <p:nvSpPr>
          <p:cNvPr id="15" name="Shape 12">
            <a:extLst>
              <a:ext uri="{FF2B5EF4-FFF2-40B4-BE49-F238E27FC236}">
                <a16:creationId xmlns:a16="http://schemas.microsoft.com/office/drawing/2014/main" id="{AACCE440-0ACA-47F9-AA87-4019E2CC951D}"/>
              </a:ext>
            </a:extLst>
          </p:cNvPr>
          <p:cNvSpPr>
            <a:spLocks noGrp="1"/>
          </p:cNvSpPr>
          <p:nvPr/>
        </p:nvSpPr>
        <p:spPr>
          <a:xfrm>
            <a:off x="1627632" y="3557016"/>
            <a:ext cx="5157216" cy="475488"/>
          </a:xfrm>
          <a:prstGeom prst="roundRect">
            <a:avLst>
              <a:gd name="adj" fmla="val 19231"/>
            </a:avLst>
          </a:prstGeom>
          <a:solidFill>
            <a:srgbClr val="0E0820">
              <a:alpha val="96000"/>
            </a:srgbClr>
          </a:solidFill>
          <a:ln w="12700">
            <a:solidFill>
              <a:srgbClr val="54D6FF"/>
            </a:solidFill>
            <a:prstDash val="solid"/>
          </a:ln>
        </p:spPr>
      </p:sp>
      <p:sp>
        <p:nvSpPr>
          <p:cNvPr id="16" name="Text 13">
            <a:extLst>
              <a:ext uri="{FF2B5EF4-FFF2-40B4-BE49-F238E27FC236}">
                <a16:creationId xmlns:a16="http://schemas.microsoft.com/office/drawing/2014/main" id="{E2884FEA-1E2A-4219-A1C1-5FEA28D2E86D}"/>
              </a:ext>
            </a:extLst>
          </p:cNvPr>
          <p:cNvSpPr>
            <a:spLocks noGrp="1"/>
          </p:cNvSpPr>
          <p:nvPr/>
        </p:nvSpPr>
        <p:spPr>
          <a:xfrm>
            <a:off x="1828800" y="3675888"/>
            <a:ext cx="2560320" cy="164592"/>
          </a:xfrm>
          <a:prstGeom prst="rect">
            <a:avLst/>
          </a:prstGeom>
          <a:noFill/>
        </p:spPr>
        <p:txBody>
          <a:bodyPr wrap="square" lIns="0" tIns="0" rIns="0" bIns="0" anchor="ctr"/>
          <a:lstStyle/>
          <a:p>
            <a:pPr marL="0" indent="0">
              <a:buNone/>
            </a:pPr>
            <a:r>
              <a:rPr sz="1150" b="1">
                <a:solidFill>
                  <a:srgbClr val="54D6FF"/>
                </a:solidFill>
                <a:latin typeface="Arial"/>
                <a:ea typeface="Arial"/>
                <a:cs typeface="Arial"/>
              </a:rPr>
              <a:t>Infrastructure</a:t>
            </a:r>
          </a:p>
        </p:txBody>
      </p:sp>
      <p:sp>
        <p:nvSpPr>
          <p:cNvPr id="17" name="Text 14">
            <a:extLst>
              <a:ext uri="{FF2B5EF4-FFF2-40B4-BE49-F238E27FC236}">
                <a16:creationId xmlns:a16="http://schemas.microsoft.com/office/drawing/2014/main" id="{7D1B759A-917C-4FE7-ADA2-F1902C845A16}"/>
              </a:ext>
            </a:extLst>
          </p:cNvPr>
          <p:cNvSpPr>
            <a:spLocks noGrp="1"/>
          </p:cNvSpPr>
          <p:nvPr/>
        </p:nvSpPr>
        <p:spPr>
          <a:xfrm>
            <a:off x="4416552" y="3675888"/>
            <a:ext cx="2121408" cy="164592"/>
          </a:xfrm>
          <a:prstGeom prst="rect">
            <a:avLst/>
          </a:prstGeom>
          <a:noFill/>
        </p:spPr>
        <p:txBody>
          <a:bodyPr wrap="square" lIns="0" tIns="0" rIns="0" bIns="0" anchor="ctr">
            <a:normAutofit/>
          </a:bodyPr>
          <a:lstStyle/>
          <a:p>
            <a:pPr marL="0" indent="0">
              <a:buNone/>
            </a:pPr>
            <a:r>
              <a:rPr sz="930">
                <a:solidFill>
                  <a:srgbClr val="A9A4B7"/>
                </a:solidFill>
                <a:latin typeface="Arial"/>
                <a:ea typeface="Arial"/>
                <a:cs typeface="Arial"/>
              </a:rPr>
              <a:t>CPU, memory, disk, network</a:t>
            </a:r>
          </a:p>
        </p:txBody>
      </p:sp>
      <p:sp>
        <p:nvSpPr>
          <p:cNvPr id="18" name="Shape 15">
            <a:extLst>
              <a:ext uri="{FF2B5EF4-FFF2-40B4-BE49-F238E27FC236}">
                <a16:creationId xmlns:a16="http://schemas.microsoft.com/office/drawing/2014/main" id="{9E6C687C-E492-47A2-818A-5C429F90ED9C}"/>
              </a:ext>
            </a:extLst>
          </p:cNvPr>
          <p:cNvSpPr>
            <a:spLocks noGrp="1"/>
          </p:cNvSpPr>
          <p:nvPr/>
        </p:nvSpPr>
        <p:spPr>
          <a:xfrm>
            <a:off x="1773936" y="4270248"/>
            <a:ext cx="4864608" cy="475488"/>
          </a:xfrm>
          <a:prstGeom prst="roundRect">
            <a:avLst>
              <a:gd name="adj" fmla="val 19231"/>
            </a:avLst>
          </a:prstGeom>
          <a:solidFill>
            <a:srgbClr val="0E0820">
              <a:alpha val="96000"/>
            </a:srgbClr>
          </a:solidFill>
          <a:ln w="12700">
            <a:solidFill>
              <a:srgbClr val="42D392"/>
            </a:solidFill>
            <a:prstDash val="solid"/>
          </a:ln>
        </p:spPr>
      </p:sp>
      <p:sp>
        <p:nvSpPr>
          <p:cNvPr id="19" name="Text 16">
            <a:extLst>
              <a:ext uri="{FF2B5EF4-FFF2-40B4-BE49-F238E27FC236}">
                <a16:creationId xmlns:a16="http://schemas.microsoft.com/office/drawing/2014/main" id="{5893F3E6-3432-47FE-A603-DD8D0C605733}"/>
              </a:ext>
            </a:extLst>
          </p:cNvPr>
          <p:cNvSpPr>
            <a:spLocks noGrp="1"/>
          </p:cNvSpPr>
          <p:nvPr/>
        </p:nvSpPr>
        <p:spPr>
          <a:xfrm>
            <a:off x="1975104" y="4389120"/>
            <a:ext cx="2560320" cy="164592"/>
          </a:xfrm>
          <a:prstGeom prst="rect">
            <a:avLst/>
          </a:prstGeom>
          <a:noFill/>
        </p:spPr>
        <p:txBody>
          <a:bodyPr wrap="square" lIns="0" tIns="0" rIns="0" bIns="0" anchor="ctr"/>
          <a:lstStyle/>
          <a:p>
            <a:pPr marL="0" indent="0">
              <a:buNone/>
            </a:pPr>
            <a:r>
              <a:rPr sz="1150" b="1">
                <a:solidFill>
                  <a:srgbClr val="42D392"/>
                </a:solidFill>
                <a:latin typeface="Arial"/>
                <a:ea typeface="Arial"/>
                <a:cs typeface="Arial"/>
              </a:rPr>
              <a:t>AWS Services</a:t>
            </a:r>
          </a:p>
        </p:txBody>
      </p:sp>
      <p:sp>
        <p:nvSpPr>
          <p:cNvPr id="20" name="Text 17">
            <a:extLst>
              <a:ext uri="{FF2B5EF4-FFF2-40B4-BE49-F238E27FC236}">
                <a16:creationId xmlns:a16="http://schemas.microsoft.com/office/drawing/2014/main" id="{857045ED-3767-4CDC-944A-24FCE81F344F}"/>
              </a:ext>
            </a:extLst>
          </p:cNvPr>
          <p:cNvSpPr>
            <a:spLocks noGrp="1"/>
          </p:cNvSpPr>
          <p:nvPr/>
        </p:nvSpPr>
        <p:spPr>
          <a:xfrm>
            <a:off x="4562856" y="4389120"/>
            <a:ext cx="1828800" cy="164592"/>
          </a:xfrm>
          <a:prstGeom prst="rect">
            <a:avLst/>
          </a:prstGeom>
          <a:noFill/>
        </p:spPr>
        <p:txBody>
          <a:bodyPr wrap="square" lIns="0" tIns="0" rIns="0" bIns="0" anchor="ctr">
            <a:normAutofit/>
          </a:bodyPr>
          <a:lstStyle/>
          <a:p>
            <a:pPr marL="0" indent="0">
              <a:buNone/>
            </a:pPr>
            <a:r>
              <a:rPr sz="930">
                <a:solidFill>
                  <a:srgbClr val="A9A4B7"/>
                </a:solidFill>
                <a:latin typeface="Arial"/>
                <a:ea typeface="Arial"/>
                <a:cs typeface="Arial"/>
              </a:rPr>
              <a:t>EC2, RDS, ALB, </a:t>
            </a:r>
          </a:p>
        </p:txBody>
      </p:sp>
      <p:sp>
        <p:nvSpPr>
          <p:cNvPr id="21" name="Shape 18">
            <a:extLst>
              <a:ext uri="{FF2B5EF4-FFF2-40B4-BE49-F238E27FC236}">
                <a16:creationId xmlns:a16="http://schemas.microsoft.com/office/drawing/2014/main" id="{1E10AC4B-E812-40E7-8263-FB6030D3C533}"/>
              </a:ext>
            </a:extLst>
          </p:cNvPr>
          <p:cNvSpPr>
            <a:spLocks noGrp="1"/>
          </p:cNvSpPr>
          <p:nvPr/>
        </p:nvSpPr>
        <p:spPr>
          <a:xfrm>
            <a:off x="8229600" y="4526280"/>
            <a:ext cx="0" cy="0"/>
          </a:xfrm>
          <a:prstGeom prst="line">
            <a:avLst/>
          </a:prstGeom>
          <a:noFill/>
          <a:ln w="27940">
            <a:solidFill>
              <a:srgbClr val="FF9900"/>
            </a:solidFill>
            <a:prstDash val="solid"/>
            <a:headEnd type="none"/>
            <a:tailEnd type="triangle"/>
          </a:ln>
        </p:spPr>
      </p:sp>
      <p:sp>
        <p:nvSpPr>
          <p:cNvPr id="22" name="Text 19">
            <a:extLst>
              <a:ext uri="{FF2B5EF4-FFF2-40B4-BE49-F238E27FC236}">
                <a16:creationId xmlns:a16="http://schemas.microsoft.com/office/drawing/2014/main" id="{FBF6E32F-A5E4-47D3-9C26-95D82E4C0A7E}"/>
              </a:ext>
            </a:extLst>
          </p:cNvPr>
          <p:cNvSpPr>
            <a:spLocks noGrp="1"/>
          </p:cNvSpPr>
          <p:nvPr/>
        </p:nvSpPr>
        <p:spPr>
          <a:xfrm>
            <a:off x="7519416" y="2587752"/>
            <a:ext cx="3337560" cy="914400"/>
          </a:xfrm>
          <a:prstGeom prst="rect">
            <a:avLst/>
          </a:prstGeom>
          <a:noFill/>
        </p:spPr>
        <p:txBody>
          <a:bodyPr wrap="square" lIns="0" tIns="0" rIns="0" bIns="0" anchor="ctr">
            <a:normAutofit fontScale="92500" lnSpcReduction="10000"/>
          </a:bodyPr>
          <a:lstStyle/>
          <a:p>
            <a:pPr marL="0" indent="0" algn="ctr">
              <a:buNone/>
            </a:pPr>
            <a:r>
              <a:rPr sz="2400" b="1">
                <a:solidFill>
                  <a:srgbClr val="FFFFFF"/>
                </a:solidFill>
                <a:latin typeface="Arial"/>
                <a:ea typeface="Arial"/>
                <a:cs typeface="Arial"/>
              </a:rPr>
              <a:t>Only monitoring from the bottom is not enough !</a:t>
            </a:r>
          </a:p>
        </p:txBody>
      </p:sp>
    </p:spTree>
    <p:extLst>
      <p:ext uri="{BB962C8B-B14F-4D97-AF65-F5344CB8AC3E}">
        <p14:creationId xmlns:p14="http://schemas.microsoft.com/office/powerpoint/2010/main" val="1405356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0"/>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E8EC2701-7669-460E-8700-FA6C74F7E357}"/>
              </a:ext>
            </a:extLst>
          </p:cNvPr>
          <p:cNvSpPr>
            <a:spLocks noGrp="1"/>
          </p:cNvSpPr>
          <p:nvPr/>
        </p:nvSpPr>
        <p:spPr>
          <a:xfrm>
            <a:off x="658368" y="411480"/>
            <a:ext cx="4114800" cy="201168"/>
          </a:xfrm>
          <a:prstGeom prst="rect">
            <a:avLst/>
          </a:prstGeom>
          <a:noFill/>
        </p:spPr>
        <p:txBody>
          <a:bodyPr wrap="square" lIns="0" tIns="0" rIns="0" bIns="0" anchor="ctr"/>
          <a:lstStyle/>
          <a:p>
            <a:pPr marL="0" indent="0">
              <a:buNone/>
            </a:pPr>
            <a:r>
              <a:rPr sz="2400" b="1">
                <a:solidFill>
                  <a:srgbClr val="FF9900"/>
                </a:solidFill>
                <a:latin typeface="Arial"/>
                <a:ea typeface="Arial"/>
                <a:cs typeface="Arial"/>
              </a:rPr>
              <a:t>MONITORING PYRAMID</a:t>
            </a:r>
          </a:p>
        </p:txBody>
      </p:sp>
      <p:sp>
        <p:nvSpPr>
          <p:cNvPr id="6" name="Shape 3">
            <a:extLst>
              <a:ext uri="{FF2B5EF4-FFF2-40B4-BE49-F238E27FC236}">
                <a16:creationId xmlns:a16="http://schemas.microsoft.com/office/drawing/2014/main" id="{1EA211B0-AB2C-4B25-A37A-8D2BBC5C8CB3}"/>
              </a:ext>
            </a:extLst>
          </p:cNvPr>
          <p:cNvSpPr>
            <a:spLocks noGrp="1"/>
          </p:cNvSpPr>
          <p:nvPr/>
        </p:nvSpPr>
        <p:spPr>
          <a:xfrm>
            <a:off x="3703320" y="1353312"/>
            <a:ext cx="4754880" cy="512064"/>
          </a:xfrm>
          <a:prstGeom prst="roundRect">
            <a:avLst>
              <a:gd name="adj" fmla="val 17857"/>
            </a:avLst>
          </a:prstGeom>
          <a:solidFill>
            <a:srgbClr val="140719">
              <a:alpha val="96000"/>
            </a:srgbClr>
          </a:solidFill>
          <a:ln w="12700">
            <a:solidFill>
              <a:srgbClr val="FF5A6E"/>
            </a:solidFill>
            <a:prstDash val="solid"/>
          </a:ln>
        </p:spPr>
      </p:sp>
      <p:sp>
        <p:nvSpPr>
          <p:cNvPr id="7" name="Text 4">
            <a:extLst>
              <a:ext uri="{FF2B5EF4-FFF2-40B4-BE49-F238E27FC236}">
                <a16:creationId xmlns:a16="http://schemas.microsoft.com/office/drawing/2014/main" id="{B70E6EDB-8F8B-43A8-9EB7-A352DC70239E}"/>
              </a:ext>
            </a:extLst>
          </p:cNvPr>
          <p:cNvSpPr>
            <a:spLocks noGrp="1"/>
          </p:cNvSpPr>
          <p:nvPr/>
        </p:nvSpPr>
        <p:spPr>
          <a:xfrm>
            <a:off x="3904488" y="1463040"/>
            <a:ext cx="2468880" cy="164592"/>
          </a:xfrm>
          <a:prstGeom prst="rect">
            <a:avLst/>
          </a:prstGeom>
          <a:noFill/>
        </p:spPr>
        <p:txBody>
          <a:bodyPr wrap="square" lIns="0" tIns="0" rIns="0" bIns="0" anchor="ctr">
            <a:normAutofit lnSpcReduction="10000"/>
          </a:bodyPr>
          <a:lstStyle/>
          <a:p>
            <a:pPr marL="0" indent="0">
              <a:buNone/>
            </a:pPr>
            <a:r>
              <a:rPr sz="1150" b="1">
                <a:solidFill>
                  <a:srgbClr val="FF5A6E"/>
                </a:solidFill>
                <a:latin typeface="Arial"/>
                <a:ea typeface="Arial"/>
                <a:cs typeface="Arial"/>
              </a:rPr>
              <a:t>Customer Experience</a:t>
            </a:r>
          </a:p>
        </p:txBody>
      </p:sp>
      <p:sp>
        <p:nvSpPr>
          <p:cNvPr id="8" name="Text 5">
            <a:extLst>
              <a:ext uri="{FF2B5EF4-FFF2-40B4-BE49-F238E27FC236}">
                <a16:creationId xmlns:a16="http://schemas.microsoft.com/office/drawing/2014/main" id="{B037BD12-87EC-4DCF-8031-2245EB6F0549}"/>
              </a:ext>
            </a:extLst>
          </p:cNvPr>
          <p:cNvSpPr>
            <a:spLocks noGrp="1"/>
          </p:cNvSpPr>
          <p:nvPr/>
        </p:nvSpPr>
        <p:spPr>
          <a:xfrm>
            <a:off x="6446520" y="1472184"/>
            <a:ext cx="1783080" cy="164592"/>
          </a:xfrm>
          <a:prstGeom prst="rect">
            <a:avLst/>
          </a:prstGeom>
          <a:noFill/>
        </p:spPr>
        <p:txBody>
          <a:bodyPr wrap="square" lIns="0" tIns="0" rIns="0" bIns="0" anchor="ctr">
            <a:normAutofit/>
          </a:bodyPr>
          <a:lstStyle/>
          <a:p>
            <a:pPr marL="0" indent="0" algn="r">
              <a:buNone/>
            </a:pPr>
            <a:r>
              <a:rPr sz="950">
                <a:solidFill>
                  <a:srgbClr val="A9A4B7"/>
                </a:solidFill>
                <a:latin typeface="Arial"/>
                <a:ea typeface="Arial"/>
                <a:cs typeface="Arial"/>
              </a:rPr>
              <a:t>Can login? Can buy?</a:t>
            </a:r>
          </a:p>
        </p:txBody>
      </p:sp>
      <p:sp>
        <p:nvSpPr>
          <p:cNvPr id="9" name="Shape 6">
            <a:extLst>
              <a:ext uri="{FF2B5EF4-FFF2-40B4-BE49-F238E27FC236}">
                <a16:creationId xmlns:a16="http://schemas.microsoft.com/office/drawing/2014/main" id="{E007220C-8162-4A57-8CC7-B34B04980B5E}"/>
              </a:ext>
            </a:extLst>
          </p:cNvPr>
          <p:cNvSpPr>
            <a:spLocks noGrp="1"/>
          </p:cNvSpPr>
          <p:nvPr/>
        </p:nvSpPr>
        <p:spPr>
          <a:xfrm>
            <a:off x="3200400" y="2084832"/>
            <a:ext cx="5760720" cy="512064"/>
          </a:xfrm>
          <a:prstGeom prst="roundRect">
            <a:avLst>
              <a:gd name="adj" fmla="val 17857"/>
            </a:avLst>
          </a:prstGeom>
          <a:solidFill>
            <a:srgbClr val="140719">
              <a:alpha val="96000"/>
            </a:srgbClr>
          </a:solidFill>
          <a:ln w="12700">
            <a:solidFill>
              <a:srgbClr val="FF9900"/>
            </a:solidFill>
            <a:prstDash val="solid"/>
          </a:ln>
        </p:spPr>
      </p:sp>
      <p:sp>
        <p:nvSpPr>
          <p:cNvPr id="10" name="Text 7">
            <a:extLst>
              <a:ext uri="{FF2B5EF4-FFF2-40B4-BE49-F238E27FC236}">
                <a16:creationId xmlns:a16="http://schemas.microsoft.com/office/drawing/2014/main" id="{CBEA5CD3-DDB1-4D6F-A5EA-E08474368D06}"/>
              </a:ext>
            </a:extLst>
          </p:cNvPr>
          <p:cNvSpPr>
            <a:spLocks noGrp="1"/>
          </p:cNvSpPr>
          <p:nvPr/>
        </p:nvSpPr>
        <p:spPr>
          <a:xfrm>
            <a:off x="3401568" y="2194560"/>
            <a:ext cx="2468880" cy="164592"/>
          </a:xfrm>
          <a:prstGeom prst="rect">
            <a:avLst/>
          </a:prstGeom>
          <a:noFill/>
        </p:spPr>
        <p:txBody>
          <a:bodyPr wrap="square" lIns="0" tIns="0" rIns="0" bIns="0" anchor="ctr">
            <a:normAutofit lnSpcReduction="10000"/>
          </a:bodyPr>
          <a:lstStyle/>
          <a:p>
            <a:pPr marL="0" indent="0">
              <a:buNone/>
            </a:pPr>
            <a:r>
              <a:rPr sz="1150" b="1">
                <a:solidFill>
                  <a:srgbClr val="FF9900"/>
                </a:solidFill>
                <a:latin typeface="Arial"/>
                <a:ea typeface="Arial"/>
                <a:cs typeface="Arial"/>
              </a:rPr>
              <a:t>Business</a:t>
            </a:r>
          </a:p>
        </p:txBody>
      </p:sp>
      <p:sp>
        <p:nvSpPr>
          <p:cNvPr id="11" name="Text 8">
            <a:extLst>
              <a:ext uri="{FF2B5EF4-FFF2-40B4-BE49-F238E27FC236}">
                <a16:creationId xmlns:a16="http://schemas.microsoft.com/office/drawing/2014/main" id="{71E0CD5B-E6C1-4367-97BE-592967788ED9}"/>
              </a:ext>
            </a:extLst>
          </p:cNvPr>
          <p:cNvSpPr>
            <a:spLocks noGrp="1"/>
          </p:cNvSpPr>
          <p:nvPr/>
        </p:nvSpPr>
        <p:spPr>
          <a:xfrm>
            <a:off x="5943600" y="2203704"/>
            <a:ext cx="2788920" cy="164592"/>
          </a:xfrm>
          <a:prstGeom prst="rect">
            <a:avLst/>
          </a:prstGeom>
          <a:noFill/>
        </p:spPr>
        <p:txBody>
          <a:bodyPr wrap="square" lIns="0" tIns="0" rIns="0" bIns="0" anchor="ctr">
            <a:normAutofit/>
          </a:bodyPr>
          <a:lstStyle/>
          <a:p>
            <a:pPr marL="0" indent="0" algn="r">
              <a:buNone/>
            </a:pPr>
            <a:r>
              <a:rPr sz="950">
                <a:solidFill>
                  <a:srgbClr val="A9A4B7"/>
                </a:solidFill>
                <a:latin typeface="Arial"/>
                <a:ea typeface="Arial"/>
                <a:cs typeface="Arial"/>
              </a:rPr>
              <a:t>Login success • Orders • Revenue</a:t>
            </a:r>
          </a:p>
        </p:txBody>
      </p:sp>
      <p:sp>
        <p:nvSpPr>
          <p:cNvPr id="12" name="Shape 9">
            <a:extLst>
              <a:ext uri="{FF2B5EF4-FFF2-40B4-BE49-F238E27FC236}">
                <a16:creationId xmlns:a16="http://schemas.microsoft.com/office/drawing/2014/main" id="{5889B3AA-FE5C-4173-A8BD-9E58D3BB5D5C}"/>
              </a:ext>
            </a:extLst>
          </p:cNvPr>
          <p:cNvSpPr>
            <a:spLocks noGrp="1"/>
          </p:cNvSpPr>
          <p:nvPr/>
        </p:nvSpPr>
        <p:spPr>
          <a:xfrm>
            <a:off x="2697480" y="2816352"/>
            <a:ext cx="6766560" cy="512064"/>
          </a:xfrm>
          <a:prstGeom prst="roundRect">
            <a:avLst>
              <a:gd name="adj" fmla="val 17857"/>
            </a:avLst>
          </a:prstGeom>
          <a:solidFill>
            <a:srgbClr val="110B22">
              <a:alpha val="96000"/>
            </a:srgbClr>
          </a:solidFill>
          <a:ln w="12700">
            <a:solidFill>
              <a:srgbClr val="8D5CF6"/>
            </a:solidFill>
            <a:prstDash val="solid"/>
          </a:ln>
        </p:spPr>
      </p:sp>
      <p:sp>
        <p:nvSpPr>
          <p:cNvPr id="13" name="Text 10">
            <a:extLst>
              <a:ext uri="{FF2B5EF4-FFF2-40B4-BE49-F238E27FC236}">
                <a16:creationId xmlns:a16="http://schemas.microsoft.com/office/drawing/2014/main" id="{81D26BDB-6587-439C-9E94-8F6EB6CA31B5}"/>
              </a:ext>
            </a:extLst>
          </p:cNvPr>
          <p:cNvSpPr>
            <a:spLocks noGrp="1"/>
          </p:cNvSpPr>
          <p:nvPr/>
        </p:nvSpPr>
        <p:spPr>
          <a:xfrm>
            <a:off x="2898648" y="2926080"/>
            <a:ext cx="2468880" cy="164592"/>
          </a:xfrm>
          <a:prstGeom prst="rect">
            <a:avLst/>
          </a:prstGeom>
          <a:noFill/>
        </p:spPr>
        <p:txBody>
          <a:bodyPr wrap="square" lIns="0" tIns="0" rIns="0" bIns="0" anchor="ctr">
            <a:normAutofit lnSpcReduction="10000"/>
          </a:bodyPr>
          <a:lstStyle/>
          <a:p>
            <a:pPr marL="0" indent="0">
              <a:buNone/>
            </a:pPr>
            <a:r>
              <a:rPr sz="1150" b="1">
                <a:solidFill>
                  <a:srgbClr val="8D5CF6"/>
                </a:solidFill>
                <a:latin typeface="Arial"/>
                <a:ea typeface="Arial"/>
                <a:cs typeface="Arial"/>
              </a:rPr>
              <a:t>Application</a:t>
            </a:r>
          </a:p>
        </p:txBody>
      </p:sp>
      <p:sp>
        <p:nvSpPr>
          <p:cNvPr id="14" name="Text 11">
            <a:extLst>
              <a:ext uri="{FF2B5EF4-FFF2-40B4-BE49-F238E27FC236}">
                <a16:creationId xmlns:a16="http://schemas.microsoft.com/office/drawing/2014/main" id="{D58BCA61-61CD-4CE5-A6AD-A24760D4E918}"/>
              </a:ext>
            </a:extLst>
          </p:cNvPr>
          <p:cNvSpPr>
            <a:spLocks noGrp="1"/>
          </p:cNvSpPr>
          <p:nvPr/>
        </p:nvSpPr>
        <p:spPr>
          <a:xfrm>
            <a:off x="5440680" y="2935224"/>
            <a:ext cx="3794760" cy="164592"/>
          </a:xfrm>
          <a:prstGeom prst="rect">
            <a:avLst/>
          </a:prstGeom>
          <a:noFill/>
        </p:spPr>
        <p:txBody>
          <a:bodyPr wrap="square" lIns="0" tIns="0" rIns="0" bIns="0" anchor="ctr">
            <a:normAutofit/>
          </a:bodyPr>
          <a:lstStyle/>
          <a:p>
            <a:pPr marL="0" indent="0" algn="r">
              <a:buNone/>
            </a:pPr>
            <a:r>
              <a:rPr sz="950">
                <a:solidFill>
                  <a:srgbClr val="A9A4B7"/>
                </a:solidFill>
                <a:latin typeface="Arial"/>
                <a:ea typeface="Arial"/>
                <a:cs typeface="Arial"/>
              </a:rPr>
              <a:t>Latency • Errors • Requests</a:t>
            </a:r>
          </a:p>
        </p:txBody>
      </p:sp>
      <p:sp>
        <p:nvSpPr>
          <p:cNvPr id="15" name="Shape 12">
            <a:extLst>
              <a:ext uri="{FF2B5EF4-FFF2-40B4-BE49-F238E27FC236}">
                <a16:creationId xmlns:a16="http://schemas.microsoft.com/office/drawing/2014/main" id="{C28371B9-7615-4380-B72C-70D3A6B5FB4F}"/>
              </a:ext>
            </a:extLst>
          </p:cNvPr>
          <p:cNvSpPr>
            <a:spLocks noGrp="1"/>
          </p:cNvSpPr>
          <p:nvPr/>
        </p:nvSpPr>
        <p:spPr>
          <a:xfrm>
            <a:off x="2194560" y="3547872"/>
            <a:ext cx="7772400" cy="512064"/>
          </a:xfrm>
          <a:prstGeom prst="roundRect">
            <a:avLst>
              <a:gd name="adj" fmla="val 17857"/>
            </a:avLst>
          </a:prstGeom>
          <a:solidFill>
            <a:srgbClr val="110B22">
              <a:alpha val="96000"/>
            </a:srgbClr>
          </a:solidFill>
          <a:ln w="12700">
            <a:solidFill>
              <a:srgbClr val="54D6FF"/>
            </a:solidFill>
            <a:prstDash val="solid"/>
          </a:ln>
        </p:spPr>
      </p:sp>
      <p:sp>
        <p:nvSpPr>
          <p:cNvPr id="16" name="Text 13">
            <a:extLst>
              <a:ext uri="{FF2B5EF4-FFF2-40B4-BE49-F238E27FC236}">
                <a16:creationId xmlns:a16="http://schemas.microsoft.com/office/drawing/2014/main" id="{F26677EF-28B9-4A17-A49C-3687065B0D9B}"/>
              </a:ext>
            </a:extLst>
          </p:cNvPr>
          <p:cNvSpPr>
            <a:spLocks noGrp="1"/>
          </p:cNvSpPr>
          <p:nvPr/>
        </p:nvSpPr>
        <p:spPr>
          <a:xfrm>
            <a:off x="2395728" y="3657600"/>
            <a:ext cx="2468880" cy="164592"/>
          </a:xfrm>
          <a:prstGeom prst="rect">
            <a:avLst/>
          </a:prstGeom>
          <a:noFill/>
        </p:spPr>
        <p:txBody>
          <a:bodyPr wrap="square" lIns="0" tIns="0" rIns="0" bIns="0" anchor="ctr">
            <a:normAutofit lnSpcReduction="10000"/>
          </a:bodyPr>
          <a:lstStyle/>
          <a:p>
            <a:pPr marL="0" indent="0">
              <a:buNone/>
            </a:pPr>
            <a:r>
              <a:rPr sz="1150" b="1">
                <a:solidFill>
                  <a:srgbClr val="54D6FF"/>
                </a:solidFill>
                <a:latin typeface="Arial"/>
                <a:ea typeface="Arial"/>
                <a:cs typeface="Arial"/>
              </a:rPr>
              <a:t>Infrastructure</a:t>
            </a:r>
          </a:p>
        </p:txBody>
      </p:sp>
      <p:sp>
        <p:nvSpPr>
          <p:cNvPr id="17" name="Text 14">
            <a:extLst>
              <a:ext uri="{FF2B5EF4-FFF2-40B4-BE49-F238E27FC236}">
                <a16:creationId xmlns:a16="http://schemas.microsoft.com/office/drawing/2014/main" id="{3AA32BC5-1F6C-42B3-AA48-3173EFBAC3FB}"/>
              </a:ext>
            </a:extLst>
          </p:cNvPr>
          <p:cNvSpPr>
            <a:spLocks noGrp="1"/>
          </p:cNvSpPr>
          <p:nvPr/>
        </p:nvSpPr>
        <p:spPr>
          <a:xfrm>
            <a:off x="4937760" y="3666744"/>
            <a:ext cx="4800600" cy="164592"/>
          </a:xfrm>
          <a:prstGeom prst="rect">
            <a:avLst/>
          </a:prstGeom>
          <a:noFill/>
        </p:spPr>
        <p:txBody>
          <a:bodyPr wrap="square" lIns="0" tIns="0" rIns="0" bIns="0" anchor="ctr">
            <a:normAutofit/>
          </a:bodyPr>
          <a:lstStyle/>
          <a:p>
            <a:pPr marL="0" indent="0" algn="r">
              <a:buNone/>
            </a:pPr>
            <a:r>
              <a:rPr sz="950">
                <a:solidFill>
                  <a:srgbClr val="A9A4B7"/>
                </a:solidFill>
                <a:latin typeface="Arial"/>
                <a:ea typeface="Arial"/>
                <a:cs typeface="Arial"/>
              </a:rPr>
              <a:t>CPU • Memory • Disk • Network</a:t>
            </a:r>
          </a:p>
        </p:txBody>
      </p:sp>
      <p:sp>
        <p:nvSpPr>
          <p:cNvPr id="18" name="Shape 15">
            <a:extLst>
              <a:ext uri="{FF2B5EF4-FFF2-40B4-BE49-F238E27FC236}">
                <a16:creationId xmlns:a16="http://schemas.microsoft.com/office/drawing/2014/main" id="{90457CC9-7EC1-47A0-91A8-3F22D3DD9245}"/>
              </a:ext>
            </a:extLst>
          </p:cNvPr>
          <p:cNvSpPr>
            <a:spLocks noGrp="1"/>
          </p:cNvSpPr>
          <p:nvPr/>
        </p:nvSpPr>
        <p:spPr>
          <a:xfrm>
            <a:off x="1691640" y="4279392"/>
            <a:ext cx="8778240" cy="512064"/>
          </a:xfrm>
          <a:prstGeom prst="roundRect">
            <a:avLst>
              <a:gd name="adj" fmla="val 17857"/>
            </a:avLst>
          </a:prstGeom>
          <a:solidFill>
            <a:srgbClr val="110B22">
              <a:alpha val="96000"/>
            </a:srgbClr>
          </a:solidFill>
          <a:ln w="12700">
            <a:solidFill>
              <a:srgbClr val="42D392"/>
            </a:solidFill>
            <a:prstDash val="solid"/>
          </a:ln>
        </p:spPr>
      </p:sp>
      <p:sp>
        <p:nvSpPr>
          <p:cNvPr id="19" name="Text 16">
            <a:extLst>
              <a:ext uri="{FF2B5EF4-FFF2-40B4-BE49-F238E27FC236}">
                <a16:creationId xmlns:a16="http://schemas.microsoft.com/office/drawing/2014/main" id="{40BF3F2F-C009-46A7-BAF9-9FA2D2357D41}"/>
              </a:ext>
            </a:extLst>
          </p:cNvPr>
          <p:cNvSpPr>
            <a:spLocks noGrp="1"/>
          </p:cNvSpPr>
          <p:nvPr/>
        </p:nvSpPr>
        <p:spPr>
          <a:xfrm>
            <a:off x="1892808" y="4389120"/>
            <a:ext cx="2468880" cy="164592"/>
          </a:xfrm>
          <a:prstGeom prst="rect">
            <a:avLst/>
          </a:prstGeom>
          <a:noFill/>
        </p:spPr>
        <p:txBody>
          <a:bodyPr wrap="square" lIns="0" tIns="0" rIns="0" bIns="0" anchor="ctr">
            <a:normAutofit lnSpcReduction="10000"/>
          </a:bodyPr>
          <a:lstStyle/>
          <a:p>
            <a:pPr marL="0" indent="0">
              <a:buNone/>
            </a:pPr>
            <a:r>
              <a:rPr sz="1150" b="1">
                <a:solidFill>
                  <a:srgbClr val="42D392"/>
                </a:solidFill>
                <a:latin typeface="Arial"/>
                <a:ea typeface="Arial"/>
                <a:cs typeface="Arial"/>
              </a:rPr>
              <a:t>Cloud Provider</a:t>
            </a:r>
          </a:p>
        </p:txBody>
      </p:sp>
      <p:sp>
        <p:nvSpPr>
          <p:cNvPr id="20" name="Text 17">
            <a:extLst>
              <a:ext uri="{FF2B5EF4-FFF2-40B4-BE49-F238E27FC236}">
                <a16:creationId xmlns:a16="http://schemas.microsoft.com/office/drawing/2014/main" id="{CA9F9B6B-F580-46EF-A2DB-FCC58BA9AA7A}"/>
              </a:ext>
            </a:extLst>
          </p:cNvPr>
          <p:cNvSpPr>
            <a:spLocks noGrp="1"/>
          </p:cNvSpPr>
          <p:nvPr/>
        </p:nvSpPr>
        <p:spPr>
          <a:xfrm>
            <a:off x="4434840" y="4398264"/>
            <a:ext cx="5806440" cy="164592"/>
          </a:xfrm>
          <a:prstGeom prst="rect">
            <a:avLst/>
          </a:prstGeom>
          <a:noFill/>
        </p:spPr>
        <p:txBody>
          <a:bodyPr wrap="square" lIns="0" tIns="0" rIns="0" bIns="0" anchor="ctr">
            <a:normAutofit/>
          </a:bodyPr>
          <a:lstStyle/>
          <a:p>
            <a:pPr marL="0" indent="0" algn="r">
              <a:buNone/>
            </a:pPr>
            <a:r>
              <a:rPr sz="950">
                <a:solidFill>
                  <a:srgbClr val="A9A4B7"/>
                </a:solidFill>
                <a:latin typeface="Arial"/>
                <a:ea typeface="Arial"/>
                <a:cs typeface="Arial"/>
              </a:rPr>
              <a:t>EC2 • RDS • ALB • S3</a:t>
            </a:r>
          </a:p>
        </p:txBody>
      </p:sp>
    </p:spTree>
    <p:extLst>
      <p:ext uri="{BB962C8B-B14F-4D97-AF65-F5344CB8AC3E}">
        <p14:creationId xmlns:p14="http://schemas.microsoft.com/office/powerpoint/2010/main" val="90774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0"/>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54CF2B25-D633-4849-BEAE-ED804C653CCC}"/>
              </a:ext>
            </a:extLst>
          </p:cNvPr>
          <p:cNvSpPr>
            <a:spLocks noGrp="1"/>
          </p:cNvSpPr>
          <p:nvPr/>
        </p:nvSpPr>
        <p:spPr>
          <a:xfrm>
            <a:off x="749808" y="1481328"/>
            <a:ext cx="10698480" cy="640080"/>
          </a:xfrm>
          <a:prstGeom prst="rect">
            <a:avLst/>
          </a:prstGeom>
          <a:noFill/>
        </p:spPr>
        <p:txBody>
          <a:bodyPr wrap="square" lIns="0" tIns="0" rIns="0" bIns="0" anchor="ctr">
            <a:normAutofit fontScale="92500" lnSpcReduction="10000"/>
          </a:bodyPr>
          <a:lstStyle/>
          <a:p>
            <a:pPr marL="0" indent="0" algn="ctr">
              <a:buNone/>
            </a:pPr>
            <a:r>
              <a:rPr sz="4800" b="1">
                <a:solidFill>
                  <a:srgbClr val="42D392"/>
                </a:solidFill>
                <a:latin typeface="Arial"/>
                <a:ea typeface="Arial"/>
                <a:cs typeface="Arial"/>
              </a:rPr>
              <a:t>Healthy Infrastructure</a:t>
            </a:r>
          </a:p>
        </p:txBody>
      </p:sp>
      <p:sp>
        <p:nvSpPr>
          <p:cNvPr id="4" name="Text 1">
            <a:extLst>
              <a:ext uri="{FF2B5EF4-FFF2-40B4-BE49-F238E27FC236}">
                <a16:creationId xmlns:a16="http://schemas.microsoft.com/office/drawing/2014/main" id="{DDC2CD78-EBE8-461C-A53F-67306E6FC56F}"/>
              </a:ext>
            </a:extLst>
          </p:cNvPr>
          <p:cNvSpPr>
            <a:spLocks noGrp="1"/>
          </p:cNvSpPr>
          <p:nvPr/>
        </p:nvSpPr>
        <p:spPr>
          <a:xfrm>
            <a:off x="749808" y="2468880"/>
            <a:ext cx="10698480" cy="594360"/>
          </a:xfrm>
          <a:prstGeom prst="rect">
            <a:avLst/>
          </a:prstGeom>
          <a:noFill/>
        </p:spPr>
        <p:txBody>
          <a:bodyPr wrap="square" lIns="0" tIns="0" rIns="0" bIns="0" anchor="ctr"/>
          <a:lstStyle/>
          <a:p>
            <a:pPr marL="0" indent="0" algn="ctr">
              <a:buNone/>
            </a:pPr>
            <a:r>
              <a:rPr sz="5200" b="1">
                <a:solidFill>
                  <a:srgbClr val="FF9900"/>
                </a:solidFill>
                <a:latin typeface="Arial"/>
                <a:ea typeface="Arial"/>
                <a:cs typeface="Arial"/>
              </a:rPr>
              <a:t>≠</a:t>
            </a:r>
          </a:p>
        </p:txBody>
      </p:sp>
      <p:sp>
        <p:nvSpPr>
          <p:cNvPr id="5" name="Text 2">
            <a:extLst>
              <a:ext uri="{FF2B5EF4-FFF2-40B4-BE49-F238E27FC236}">
                <a16:creationId xmlns:a16="http://schemas.microsoft.com/office/drawing/2014/main" id="{DA3F2F45-FB96-4838-B10C-34ABEB53C817}"/>
              </a:ext>
            </a:extLst>
          </p:cNvPr>
          <p:cNvSpPr>
            <a:spLocks noGrp="1"/>
          </p:cNvSpPr>
          <p:nvPr/>
        </p:nvSpPr>
        <p:spPr>
          <a:xfrm>
            <a:off x="749808" y="3438144"/>
            <a:ext cx="10698480" cy="640080"/>
          </a:xfrm>
          <a:prstGeom prst="rect">
            <a:avLst/>
          </a:prstGeom>
          <a:noFill/>
        </p:spPr>
        <p:txBody>
          <a:bodyPr wrap="square" lIns="0" tIns="0" rIns="0" bIns="0" anchor="ctr">
            <a:normAutofit fontScale="92500" lnSpcReduction="10000"/>
          </a:bodyPr>
          <a:lstStyle/>
          <a:p>
            <a:pPr marL="0" indent="0" algn="ctr">
              <a:buNone/>
            </a:pPr>
            <a:r>
              <a:rPr sz="4800" b="1">
                <a:solidFill>
                  <a:srgbClr val="FF5A6E"/>
                </a:solidFill>
                <a:latin typeface="Arial"/>
                <a:ea typeface="Arial"/>
                <a:cs typeface="Arial"/>
              </a:rPr>
              <a:t>Healthy User Experience</a:t>
            </a:r>
          </a:p>
        </p:txBody>
      </p:sp>
    </p:spTree>
    <p:extLst>
      <p:ext uri="{BB962C8B-B14F-4D97-AF65-F5344CB8AC3E}">
        <p14:creationId xmlns:p14="http://schemas.microsoft.com/office/powerpoint/2010/main" val="222340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F84933C5-F410-402B-8B03-E0D8A97C0196}"/>
              </a:ext>
            </a:extLst>
          </p:cNvPr>
          <p:cNvSpPr>
            <a:spLocks noGrp="1"/>
          </p:cNvSpPr>
          <p:nvPr/>
        </p:nvSpPr>
        <p:spPr>
          <a:xfrm>
            <a:off x="658368" y="310896"/>
            <a:ext cx="4114800" cy="201168"/>
          </a:xfrm>
          <a:prstGeom prst="rect">
            <a:avLst/>
          </a:prstGeom>
          <a:noFill/>
        </p:spPr>
        <p:txBody>
          <a:bodyPr wrap="square" lIns="0" tIns="0" rIns="0" bIns="0" anchor="ctr"/>
          <a:lstStyle/>
          <a:p>
            <a:r>
              <a:rPr sz="2400" b="1">
                <a:solidFill>
                  <a:srgbClr val="FF9900"/>
                </a:solidFill>
                <a:latin typeface="Arial"/>
                <a:ea typeface="Arial"/>
                <a:cs typeface="Arial"/>
              </a:rPr>
              <a:t>Overview</a:t>
            </a:r>
          </a:p>
        </p:txBody>
      </p:sp>
      <p:pic>
        <p:nvPicPr>
          <p:cNvPr id="8" name="Picture 32"/>
          <p:cNvPicPr>
            <a:picLocks noChangeAspect="1"/>
          </p:cNvPicPr>
          <p:nvPr/>
        </p:nvPicPr>
        <p:blipFill>
          <a:blip r:embed="rId4"/>
          <a:stretch>
            <a:fillRect/>
          </a:stretch>
        </p:blipFill>
        <p:spPr>
          <a:xfrm>
            <a:off x="1469293" y="733885"/>
            <a:ext cx="8596922" cy="5390229"/>
          </a:xfrm>
          <a:prstGeom prst="rect">
            <a:avLst/>
          </a:prstGeom>
        </p:spPr>
      </p:pic>
    </p:spTree>
    <p:extLst>
      <p:ext uri="{BB962C8B-B14F-4D97-AF65-F5344CB8AC3E}">
        <p14:creationId xmlns:p14="http://schemas.microsoft.com/office/powerpoint/2010/main" val="1926744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C9FDE729-5409-B9E1-2F08-08D3A428EC92}"/>
              </a:ext>
            </a:extLst>
          </p:cNvPr>
          <p:cNvSpPr>
            <a:spLocks noGrp="1"/>
          </p:cNvSpPr>
          <p:nvPr/>
        </p:nvSpPr>
        <p:spPr>
          <a:xfrm>
            <a:off x="658368" y="411480"/>
            <a:ext cx="4114800" cy="201168"/>
          </a:xfrm>
          <a:prstGeom prst="rect">
            <a:avLst/>
          </a:prstGeom>
          <a:noFill/>
        </p:spPr>
        <p:txBody>
          <a:bodyPr wrap="square" lIns="0" tIns="0" rIns="0" bIns="0" anchor="ctr"/>
          <a:lstStyle/>
          <a:p>
            <a:pPr marL="0" indent="0">
              <a:buNone/>
            </a:pPr>
            <a:r>
              <a:rPr sz="2400" b="1">
                <a:solidFill>
                  <a:srgbClr val="FF9900"/>
                </a:solidFill>
                <a:latin typeface="Arial"/>
                <a:ea typeface="Arial"/>
                <a:cs typeface="Arial"/>
              </a:rPr>
              <a:t>LIVE DEMO</a:t>
            </a:r>
          </a:p>
        </p:txBody>
      </p:sp>
      <p:pic>
        <p:nvPicPr>
          <p:cNvPr id="27" name="Picture 4"/>
          <p:cNvPicPr>
            <a:picLocks noChangeAspect="1"/>
          </p:cNvPicPr>
          <p:nvPr/>
        </p:nvPicPr>
        <p:blipFill>
          <a:blip r:embed="rId4"/>
          <a:stretch>
            <a:fillRect/>
          </a:stretch>
        </p:blipFill>
        <p:spPr>
          <a:xfrm>
            <a:off x="4483997" y="1813657"/>
            <a:ext cx="2346647" cy="2346647"/>
          </a:xfrm>
          <a:prstGeom prst="rect">
            <a:avLst/>
          </a:prstGeom>
        </p:spPr>
      </p:pic>
      <p:sp>
        <p:nvSpPr>
          <p:cNvPr id="22" name="Text 2">
            <a:extLst>
              <a:ext uri="{FF2B5EF4-FFF2-40B4-BE49-F238E27FC236}">
                <a16:creationId xmlns:a16="http://schemas.microsoft.com/office/drawing/2014/main" id="{492DF177-E4C9-6A7C-A998-1D6B411B088F}"/>
              </a:ext>
            </a:extLst>
          </p:cNvPr>
          <p:cNvSpPr>
            <a:spLocks noGrp="1"/>
          </p:cNvSpPr>
          <p:nvPr/>
        </p:nvSpPr>
        <p:spPr>
          <a:xfrm>
            <a:off x="2715768" y="4598416"/>
            <a:ext cx="10881360" cy="201168"/>
          </a:xfrm>
          <a:prstGeom prst="rect">
            <a:avLst/>
          </a:prstGeom>
          <a:noFill/>
        </p:spPr>
        <p:txBody>
          <a:bodyPr wrap="square" lIns="0" tIns="0" rIns="0" bIns="0" anchor="ctr"/>
          <a:lstStyle/>
          <a:p>
            <a:pPr marL="0" indent="0">
              <a:buNone/>
            </a:pPr>
            <a:r>
              <a:rPr sz="1400">
                <a:solidFill>
                  <a:srgbClr val="A9A4B7"/>
                </a:solidFill>
                <a:latin typeface="Arial"/>
                <a:ea typeface="Arial"/>
                <a:cs typeface="Arial"/>
              </a:rPr>
              <a:t>http://three-tier-prod-alb-1636585031.ap-southeast-1.elb.amazonaws.com/</a:t>
            </a:r>
          </a:p>
        </p:txBody>
      </p:sp>
    </p:spTree>
    <p:extLst>
      <p:ext uri="{BB962C8B-B14F-4D97-AF65-F5344CB8AC3E}">
        <p14:creationId xmlns:p14="http://schemas.microsoft.com/office/powerpoint/2010/main" val="2607137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 0"/>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73C08040-8D0C-4349-A5AB-9FCDBE201ACC}"/>
              </a:ext>
            </a:extLst>
          </p:cNvPr>
          <p:cNvSpPr>
            <a:spLocks noGrp="1"/>
          </p:cNvSpPr>
          <p:nvPr/>
        </p:nvSpPr>
        <p:spPr>
          <a:xfrm>
            <a:off x="658368" y="310896"/>
            <a:ext cx="4114800" cy="201168"/>
          </a:xfrm>
          <a:prstGeom prst="rect">
            <a:avLst/>
          </a:prstGeom>
          <a:noFill/>
        </p:spPr>
        <p:txBody>
          <a:bodyPr wrap="square" lIns="0" tIns="0" rIns="0" bIns="0" anchor="ctr"/>
          <a:lstStyle/>
          <a:p>
            <a:pPr marL="0" indent="0">
              <a:buNone/>
            </a:pPr>
            <a:r>
              <a:rPr sz="850"/>
              <a:t>Llive D</a:t>
            </a:r>
          </a:p>
        </p:txBody>
      </p:sp>
      <p:sp>
        <p:nvSpPr>
          <p:cNvPr id="4" name="Text 1">
            <a:extLst>
              <a:ext uri="{FF2B5EF4-FFF2-40B4-BE49-F238E27FC236}">
                <a16:creationId xmlns:a16="http://schemas.microsoft.com/office/drawing/2014/main" id="{591D7B57-9936-47F1-A2F0-1AFECB1670C2}"/>
              </a:ext>
            </a:extLst>
          </p:cNvPr>
          <p:cNvSpPr>
            <a:spLocks noGrp="1"/>
          </p:cNvSpPr>
          <p:nvPr/>
        </p:nvSpPr>
        <p:spPr>
          <a:xfrm>
            <a:off x="658368" y="530352"/>
            <a:ext cx="10881360" cy="457200"/>
          </a:xfrm>
          <a:prstGeom prst="rect">
            <a:avLst/>
          </a:prstGeom>
          <a:noFill/>
        </p:spPr>
        <p:txBody>
          <a:bodyPr wrap="square" lIns="0" tIns="0" rIns="0" bIns="0" anchor="ctr">
            <a:normAutofit lnSpcReduction="10000"/>
          </a:bodyPr>
          <a:lstStyle/>
          <a:p>
            <a:pPr marL="0" indent="0">
              <a:buNone/>
            </a:pPr>
            <a:r>
              <a:rPr sz="3100" b="1">
                <a:solidFill>
                  <a:srgbClr val="FFFFFF"/>
                </a:solidFill>
                <a:latin typeface="Arial"/>
                <a:ea typeface="Arial"/>
                <a:cs typeface="Arial"/>
              </a:rPr>
              <a:t>two endpoint, two different stories</a:t>
            </a:r>
          </a:p>
        </p:txBody>
      </p:sp>
      <p:sp>
        <p:nvSpPr>
          <p:cNvPr id="5" name="Text 2">
            <a:extLst>
              <a:ext uri="{FF2B5EF4-FFF2-40B4-BE49-F238E27FC236}">
                <a16:creationId xmlns:a16="http://schemas.microsoft.com/office/drawing/2014/main" id="{03BA628D-EA22-400B-9D54-CDCC4D9DC0BA}"/>
              </a:ext>
            </a:extLst>
          </p:cNvPr>
          <p:cNvSpPr>
            <a:spLocks noGrp="1"/>
          </p:cNvSpPr>
          <p:nvPr/>
        </p:nvSpPr>
        <p:spPr>
          <a:xfrm>
            <a:off x="658368" y="1042416"/>
            <a:ext cx="10881360" cy="201168"/>
          </a:xfrm>
          <a:prstGeom prst="rect">
            <a:avLst/>
          </a:prstGeom>
          <a:noFill/>
        </p:spPr>
        <p:txBody>
          <a:bodyPr wrap="square" lIns="0" tIns="0" rIns="0" bIns="0" anchor="ctr"/>
          <a:lstStyle/>
          <a:p>
            <a:pPr marL="0" indent="0">
              <a:buNone/>
            </a:pPr>
            <a:r>
              <a:rPr sz="1400">
                <a:solidFill>
                  <a:srgbClr val="A9A4B7"/>
                </a:solidFill>
                <a:latin typeface="Arial"/>
                <a:ea typeface="Arial"/>
                <a:cs typeface="Arial"/>
              </a:rPr>
              <a:t>Health check may be pass, but user journey still fail.</a:t>
            </a:r>
          </a:p>
        </p:txBody>
      </p:sp>
      <p:sp>
        <p:nvSpPr>
          <p:cNvPr id="6" name="Shape 3">
            <a:extLst>
              <a:ext uri="{FF2B5EF4-FFF2-40B4-BE49-F238E27FC236}">
                <a16:creationId xmlns:a16="http://schemas.microsoft.com/office/drawing/2014/main" id="{0C18AB94-7E90-4CB8-9F65-1737E3DFFC4C}"/>
              </a:ext>
            </a:extLst>
          </p:cNvPr>
          <p:cNvSpPr>
            <a:spLocks noGrp="1"/>
          </p:cNvSpPr>
          <p:nvPr/>
        </p:nvSpPr>
        <p:spPr>
          <a:xfrm>
            <a:off x="950976" y="1417320"/>
            <a:ext cx="4526280" cy="3291840"/>
          </a:xfrm>
          <a:prstGeom prst="roundRect">
            <a:avLst>
              <a:gd name="adj" fmla="val 2778"/>
            </a:avLst>
          </a:prstGeom>
          <a:solidFill>
            <a:srgbClr val="110B22">
              <a:alpha val="96000"/>
            </a:srgbClr>
          </a:solidFill>
          <a:ln w="12700">
            <a:solidFill>
              <a:srgbClr val="42D392"/>
            </a:solidFill>
            <a:prstDash val="solid"/>
          </a:ln>
        </p:spPr>
      </p:sp>
      <p:sp>
        <p:nvSpPr>
          <p:cNvPr id="7" name="Text 4">
            <a:extLst>
              <a:ext uri="{FF2B5EF4-FFF2-40B4-BE49-F238E27FC236}">
                <a16:creationId xmlns:a16="http://schemas.microsoft.com/office/drawing/2014/main" id="{8FAC6C41-3658-43E6-B10F-2242FD041AAE}"/>
              </a:ext>
            </a:extLst>
          </p:cNvPr>
          <p:cNvSpPr>
            <a:spLocks noGrp="1"/>
          </p:cNvSpPr>
          <p:nvPr/>
        </p:nvSpPr>
        <p:spPr>
          <a:xfrm>
            <a:off x="1060704" y="1554480"/>
            <a:ext cx="430682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/api</a:t>
            </a:r>
          </a:p>
        </p:txBody>
      </p:sp>
      <p:sp>
        <p:nvSpPr>
          <p:cNvPr id="9" name="Text 6">
            <a:extLst>
              <a:ext uri="{FF2B5EF4-FFF2-40B4-BE49-F238E27FC236}">
                <a16:creationId xmlns:a16="http://schemas.microsoft.com/office/drawing/2014/main" id="{7EE759FF-A698-43FC-B7BA-5A6694EF5966}"/>
              </a:ext>
            </a:extLst>
          </p:cNvPr>
          <p:cNvSpPr>
            <a:spLocks noGrp="1"/>
          </p:cNvSpPr>
          <p:nvPr/>
        </p:nvSpPr>
        <p:spPr>
          <a:xfrm>
            <a:off x="1261872" y="2267712"/>
            <a:ext cx="3886200" cy="274320"/>
          </a:xfrm>
          <a:prstGeom prst="rect">
            <a:avLst/>
          </a:prstGeom>
          <a:noFill/>
        </p:spPr>
        <p:txBody>
          <a:bodyPr wrap="square" lIns="0" tIns="0" rIns="0" bIns="0" anchor="ctr"/>
          <a:lstStyle/>
          <a:p>
            <a:pPr marL="0" indent="0" algn="ctr">
              <a:buNone/>
            </a:pPr>
            <a:endParaRPr/>
          </a:p>
        </p:txBody>
      </p:sp>
      <p:sp>
        <p:nvSpPr>
          <p:cNvPr id="10" name="Text 7">
            <a:extLst>
              <a:ext uri="{FF2B5EF4-FFF2-40B4-BE49-F238E27FC236}">
                <a16:creationId xmlns:a16="http://schemas.microsoft.com/office/drawing/2014/main" id="{CF03510C-D764-44F0-A2EE-9510F065F2EC}"/>
              </a:ext>
            </a:extLst>
          </p:cNvPr>
          <p:cNvSpPr>
            <a:spLocks noGrp="1"/>
          </p:cNvSpPr>
          <p:nvPr/>
        </p:nvSpPr>
        <p:spPr>
          <a:xfrm>
            <a:off x="1261872" y="2779776"/>
            <a:ext cx="3886200" cy="457200"/>
          </a:xfrm>
          <a:prstGeom prst="rect">
            <a:avLst/>
          </a:prstGeom>
          <a:noFill/>
        </p:spPr>
        <p:txBody>
          <a:bodyPr wrap="square" lIns="0" tIns="0" rIns="0" bIns="0" anchor="ctr"/>
          <a:lstStyle/>
          <a:p>
            <a:pPr marL="0" indent="0" algn="ctr">
              <a:buNone/>
            </a:pPr>
            <a:r>
              <a:rPr sz="3200" b="1">
                <a:solidFill>
                  <a:srgbClr val="42D392"/>
                </a:solidFill>
                <a:latin typeface="Arial"/>
                <a:ea typeface="Arial"/>
                <a:cs typeface="Arial"/>
              </a:rPr>
              <a:t>200 OK</a:t>
            </a:r>
          </a:p>
        </p:txBody>
      </p:sp>
      <p:sp>
        <p:nvSpPr>
          <p:cNvPr id="11" name="Text 8">
            <a:extLst>
              <a:ext uri="{FF2B5EF4-FFF2-40B4-BE49-F238E27FC236}">
                <a16:creationId xmlns:a16="http://schemas.microsoft.com/office/drawing/2014/main" id="{B29DC1BF-4F96-49E2-8F50-245908461CF2}"/>
              </a:ext>
            </a:extLst>
          </p:cNvPr>
          <p:cNvSpPr>
            <a:spLocks noGrp="1"/>
          </p:cNvSpPr>
          <p:nvPr/>
        </p:nvSpPr>
        <p:spPr>
          <a:xfrm>
            <a:off x="1261872" y="3675888"/>
            <a:ext cx="3886200" cy="274320"/>
          </a:xfrm>
          <a:prstGeom prst="rect">
            <a:avLst/>
          </a:prstGeom>
          <a:noFill/>
        </p:spPr>
        <p:txBody>
          <a:bodyPr wrap="square" lIns="0" tIns="0" rIns="0" bIns="0" anchor="ctr"/>
          <a:lstStyle/>
          <a:p>
            <a:pPr marL="0" indent="0" algn="ctr">
              <a:buNone/>
            </a:pPr>
            <a:r>
              <a:rPr sz="1250">
                <a:solidFill>
                  <a:srgbClr val="A9A4B7"/>
                </a:solidFill>
                <a:latin typeface="Arial"/>
                <a:ea typeface="Arial"/>
                <a:cs typeface="Arial"/>
              </a:rPr>
              <a:t>App process available ≠ Successful login</a:t>
            </a:r>
          </a:p>
        </p:txBody>
      </p:sp>
      <p:sp>
        <p:nvSpPr>
          <p:cNvPr id="12" name="Shape 9">
            <a:extLst>
              <a:ext uri="{FF2B5EF4-FFF2-40B4-BE49-F238E27FC236}">
                <a16:creationId xmlns:a16="http://schemas.microsoft.com/office/drawing/2014/main" id="{3739626C-4309-41E5-A2A6-45C187A1D12F}"/>
              </a:ext>
            </a:extLst>
          </p:cNvPr>
          <p:cNvSpPr>
            <a:spLocks noGrp="1"/>
          </p:cNvSpPr>
          <p:nvPr/>
        </p:nvSpPr>
        <p:spPr>
          <a:xfrm>
            <a:off x="6656832" y="1417320"/>
            <a:ext cx="4526280" cy="3291840"/>
          </a:xfrm>
          <a:prstGeom prst="roundRect">
            <a:avLst>
              <a:gd name="adj" fmla="val 2778"/>
            </a:avLst>
          </a:prstGeom>
          <a:solidFill>
            <a:srgbClr val="110B22">
              <a:alpha val="96000"/>
            </a:srgbClr>
          </a:solidFill>
          <a:ln w="12700">
            <a:solidFill>
              <a:srgbClr val="FF5A6E"/>
            </a:solidFill>
            <a:prstDash val="solid"/>
          </a:ln>
        </p:spPr>
      </p:sp>
      <p:sp>
        <p:nvSpPr>
          <p:cNvPr id="13" name="Text 10">
            <a:extLst>
              <a:ext uri="{FF2B5EF4-FFF2-40B4-BE49-F238E27FC236}">
                <a16:creationId xmlns:a16="http://schemas.microsoft.com/office/drawing/2014/main" id="{84865C93-A458-46CE-B3D6-D117AD156C83}"/>
              </a:ext>
            </a:extLst>
          </p:cNvPr>
          <p:cNvSpPr>
            <a:spLocks noGrp="1"/>
          </p:cNvSpPr>
          <p:nvPr/>
        </p:nvSpPr>
        <p:spPr>
          <a:xfrm>
            <a:off x="6766560" y="1554480"/>
            <a:ext cx="430682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/login</a:t>
            </a:r>
          </a:p>
        </p:txBody>
      </p:sp>
      <p:sp>
        <p:nvSpPr>
          <p:cNvPr id="16" name="Text 13">
            <a:extLst>
              <a:ext uri="{FF2B5EF4-FFF2-40B4-BE49-F238E27FC236}">
                <a16:creationId xmlns:a16="http://schemas.microsoft.com/office/drawing/2014/main" id="{057AAECC-BE5D-4E5D-A94A-B9280A2267B8}"/>
              </a:ext>
            </a:extLst>
          </p:cNvPr>
          <p:cNvSpPr>
            <a:spLocks noGrp="1"/>
          </p:cNvSpPr>
          <p:nvPr/>
        </p:nvSpPr>
        <p:spPr>
          <a:xfrm>
            <a:off x="6967728" y="2779776"/>
            <a:ext cx="3886200" cy="457200"/>
          </a:xfrm>
          <a:prstGeom prst="rect">
            <a:avLst/>
          </a:prstGeom>
          <a:noFill/>
        </p:spPr>
        <p:txBody>
          <a:bodyPr wrap="square" lIns="0" tIns="0" rIns="0" bIns="0" anchor="ctr"/>
          <a:lstStyle/>
          <a:p>
            <a:pPr marL="0" indent="0" algn="ctr">
              <a:buNone/>
            </a:pPr>
            <a:r>
              <a:rPr sz="3200" b="1">
                <a:solidFill>
                  <a:srgbClr val="FF9900"/>
                </a:solidFill>
                <a:latin typeface="Arial"/>
                <a:ea typeface="Arial"/>
                <a:cs typeface="Arial"/>
              </a:rPr>
              <a:t>RDS </a:t>
            </a:r>
          </a:p>
        </p:txBody>
      </p:sp>
      <p:sp>
        <p:nvSpPr>
          <p:cNvPr id="17" name="Text 14">
            <a:extLst>
              <a:ext uri="{FF2B5EF4-FFF2-40B4-BE49-F238E27FC236}">
                <a16:creationId xmlns:a16="http://schemas.microsoft.com/office/drawing/2014/main" id="{5EDF1206-E529-4D9B-AD8B-BBF018E7F57D}"/>
              </a:ext>
            </a:extLst>
          </p:cNvPr>
          <p:cNvSpPr>
            <a:spLocks noGrp="1"/>
          </p:cNvSpPr>
          <p:nvPr/>
        </p:nvSpPr>
        <p:spPr>
          <a:xfrm>
            <a:off x="6967728" y="3675888"/>
            <a:ext cx="3886200" cy="274320"/>
          </a:xfrm>
          <a:prstGeom prst="rect">
            <a:avLst/>
          </a:prstGeom>
          <a:noFill/>
        </p:spPr>
        <p:txBody>
          <a:bodyPr wrap="square" lIns="0" tIns="0" rIns="0" bIns="0" anchor="ctr"/>
          <a:lstStyle/>
          <a:p>
            <a:pPr marL="0" indent="0" algn="ctr">
              <a:buNone/>
            </a:pPr>
            <a:r>
              <a:rPr sz="1250">
                <a:solidFill>
                  <a:srgbClr val="A9A4B7"/>
                </a:solidFill>
                <a:latin typeface="Arial"/>
                <a:ea typeface="Arial"/>
                <a:cs typeface="Arial"/>
              </a:rPr>
              <a:t> DB connection fail → user can’t login</a:t>
            </a:r>
          </a:p>
        </p:txBody>
      </p:sp>
      <p:sp>
        <p:nvSpPr>
          <p:cNvPr id="18" name="Shape 15">
            <a:extLst>
              <a:ext uri="{FF2B5EF4-FFF2-40B4-BE49-F238E27FC236}">
                <a16:creationId xmlns:a16="http://schemas.microsoft.com/office/drawing/2014/main" id="{F7AF2114-6F1D-4100-9425-A43ED04CAB33}"/>
              </a:ext>
            </a:extLst>
          </p:cNvPr>
          <p:cNvSpPr>
            <a:spLocks noGrp="1"/>
          </p:cNvSpPr>
          <p:nvPr/>
        </p:nvSpPr>
        <p:spPr>
          <a:xfrm>
            <a:off x="5687568" y="3035808"/>
            <a:ext cx="731520" cy="0"/>
          </a:xfrm>
          <a:prstGeom prst="line">
            <a:avLst/>
          </a:prstGeom>
          <a:noFill/>
          <a:ln w="27940">
            <a:solidFill>
              <a:srgbClr val="FF9900"/>
            </a:solidFill>
            <a:prstDash val="solid"/>
            <a:headEnd type="none"/>
            <a:tailEnd type="triangle"/>
          </a:ln>
        </p:spPr>
      </p:sp>
    </p:spTree>
    <p:extLst>
      <p:ext uri="{BB962C8B-B14F-4D97-AF65-F5344CB8AC3E}">
        <p14:creationId xmlns:p14="http://schemas.microsoft.com/office/powerpoint/2010/main" val="1890100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Image 0"/>
          <p:cNvPicPr>
            <a:picLocks noChangeAspect="1"/>
          </p:cNvPicPr>
          <p:nvPr/>
        </p:nvPicPr>
        <p:blipFill>
          <a:blip r:embed="rId3"/>
          <a:stretch>
            <a:fillRect/>
          </a:stretch>
        </p:blipFill>
        <p:spPr>
          <a:xfrm>
            <a:off x="0" y="0"/>
            <a:ext cx="12191695" cy="6858000"/>
          </a:xfrm>
          <a:prstGeom prst="rect">
            <a:avLst/>
          </a:prstGeom>
        </p:spPr>
      </p:pic>
      <p:sp>
        <p:nvSpPr>
          <p:cNvPr id="4" name="Text 1">
            <a:extLst>
              <a:ext uri="{FF2B5EF4-FFF2-40B4-BE49-F238E27FC236}">
                <a16:creationId xmlns:a16="http://schemas.microsoft.com/office/drawing/2014/main" id="{9FDD8CA4-7023-411E-A847-C7F95C90B9B5}"/>
              </a:ext>
            </a:extLst>
          </p:cNvPr>
          <p:cNvSpPr>
            <a:spLocks noGrp="1"/>
          </p:cNvSpPr>
          <p:nvPr/>
        </p:nvSpPr>
        <p:spPr>
          <a:xfrm>
            <a:off x="658368" y="530352"/>
            <a:ext cx="10881360" cy="457200"/>
          </a:xfrm>
          <a:prstGeom prst="rect">
            <a:avLst/>
          </a:prstGeom>
          <a:noFill/>
        </p:spPr>
        <p:txBody>
          <a:bodyPr wrap="square" lIns="0" tIns="0" rIns="0" bIns="0" anchor="ctr">
            <a:normAutofit lnSpcReduction="10000"/>
          </a:bodyPr>
          <a:lstStyle/>
          <a:p>
            <a:pPr marL="0" indent="0">
              <a:buNone/>
            </a:pPr>
            <a:r>
              <a:rPr sz="3100" b="1">
                <a:solidFill>
                  <a:srgbClr val="FFFFFF"/>
                </a:solidFill>
                <a:latin typeface="Arial"/>
                <a:ea typeface="Arial"/>
                <a:cs typeface="Arial"/>
              </a:rPr>
              <a:t>Happy path: Every thing works fine </a:t>
            </a:r>
          </a:p>
        </p:txBody>
      </p:sp>
      <p:sp>
        <p:nvSpPr>
          <p:cNvPr id="6" name="Shape 3">
            <a:extLst>
              <a:ext uri="{FF2B5EF4-FFF2-40B4-BE49-F238E27FC236}">
                <a16:creationId xmlns:a16="http://schemas.microsoft.com/office/drawing/2014/main" id="{91D0D1F6-F3C0-4A3B-A620-21FDE71E4B61}"/>
              </a:ext>
            </a:extLst>
          </p:cNvPr>
          <p:cNvSpPr>
            <a:spLocks noGrp="1"/>
          </p:cNvSpPr>
          <p:nvPr/>
        </p:nvSpPr>
        <p:spPr>
          <a:xfrm>
            <a:off x="841248" y="1417320"/>
            <a:ext cx="3977640" cy="2057400"/>
          </a:xfrm>
          <a:prstGeom prst="roundRect">
            <a:avLst>
              <a:gd name="adj" fmla="val 4444"/>
            </a:avLst>
          </a:prstGeom>
          <a:solidFill>
            <a:srgbClr val="0E0820">
              <a:alpha val="96000"/>
            </a:srgbClr>
          </a:solidFill>
          <a:ln w="12700">
            <a:solidFill>
              <a:srgbClr val="342B4F"/>
            </a:solidFill>
            <a:prstDash val="solid"/>
          </a:ln>
        </p:spPr>
      </p:sp>
      <p:sp>
        <p:nvSpPr>
          <p:cNvPr id="7" name="Shape 4">
            <a:extLst>
              <a:ext uri="{FF2B5EF4-FFF2-40B4-BE49-F238E27FC236}">
                <a16:creationId xmlns:a16="http://schemas.microsoft.com/office/drawing/2014/main" id="{9FA9D2B3-8E60-4812-AF70-E58990CF0310}"/>
              </a:ext>
            </a:extLst>
          </p:cNvPr>
          <p:cNvSpPr>
            <a:spLocks noGrp="1"/>
          </p:cNvSpPr>
          <p:nvPr/>
        </p:nvSpPr>
        <p:spPr>
          <a:xfrm>
            <a:off x="841248" y="1417320"/>
            <a:ext cx="3977640" cy="347472"/>
          </a:xfrm>
          <a:prstGeom prst="rect">
            <a:avLst/>
          </a:prstGeom>
          <a:solidFill>
            <a:srgbClr val="17102C"/>
          </a:solidFill>
          <a:ln w="12700">
            <a:solidFill>
              <a:srgbClr val="17102C">
                <a:alpha val="0"/>
              </a:srgbClr>
            </a:solidFill>
            <a:prstDash val="solid"/>
          </a:ln>
        </p:spPr>
      </p:sp>
      <p:sp>
        <p:nvSpPr>
          <p:cNvPr id="8" name="Shape 5">
            <a:extLst>
              <a:ext uri="{FF2B5EF4-FFF2-40B4-BE49-F238E27FC236}">
                <a16:creationId xmlns:a16="http://schemas.microsoft.com/office/drawing/2014/main" id="{792C45B2-2056-4C67-89E1-514784FED711}"/>
              </a:ext>
            </a:extLst>
          </p:cNvPr>
          <p:cNvSpPr>
            <a:spLocks noGrp="1"/>
          </p:cNvSpPr>
          <p:nvPr/>
        </p:nvSpPr>
        <p:spPr>
          <a:xfrm>
            <a:off x="969264" y="1527048"/>
            <a:ext cx="82296" cy="82296"/>
          </a:xfrm>
          <a:prstGeom prst="ellipse">
            <a:avLst/>
          </a:prstGeom>
          <a:solidFill>
            <a:srgbClr val="FF5A6E"/>
          </a:solidFill>
          <a:ln w="12700">
            <a:solidFill>
              <a:srgbClr val="FF5A6E">
                <a:alpha val="0"/>
              </a:srgbClr>
            </a:solidFill>
            <a:prstDash val="solid"/>
          </a:ln>
        </p:spPr>
      </p:sp>
      <p:sp>
        <p:nvSpPr>
          <p:cNvPr id="9" name="Shape 6">
            <a:extLst>
              <a:ext uri="{FF2B5EF4-FFF2-40B4-BE49-F238E27FC236}">
                <a16:creationId xmlns:a16="http://schemas.microsoft.com/office/drawing/2014/main" id="{B6794CC0-8B8E-40F8-91F1-4F7E642BA511}"/>
              </a:ext>
            </a:extLst>
          </p:cNvPr>
          <p:cNvSpPr>
            <a:spLocks noGrp="1"/>
          </p:cNvSpPr>
          <p:nvPr/>
        </p:nvSpPr>
        <p:spPr>
          <a:xfrm>
            <a:off x="1115568" y="1527048"/>
            <a:ext cx="82296" cy="82296"/>
          </a:xfrm>
          <a:prstGeom prst="ellipse">
            <a:avLst/>
          </a:prstGeom>
          <a:solidFill>
            <a:srgbClr val="FF9900"/>
          </a:solidFill>
          <a:ln w="12700">
            <a:solidFill>
              <a:srgbClr val="FF9900">
                <a:alpha val="0"/>
              </a:srgbClr>
            </a:solidFill>
            <a:prstDash val="solid"/>
          </a:ln>
        </p:spPr>
      </p:sp>
      <p:sp>
        <p:nvSpPr>
          <p:cNvPr id="10" name="Shape 7">
            <a:extLst>
              <a:ext uri="{FF2B5EF4-FFF2-40B4-BE49-F238E27FC236}">
                <a16:creationId xmlns:a16="http://schemas.microsoft.com/office/drawing/2014/main" id="{C38321F0-2932-4C7C-ADD5-F388F8F1446C}"/>
              </a:ext>
            </a:extLst>
          </p:cNvPr>
          <p:cNvSpPr>
            <a:spLocks noGrp="1"/>
          </p:cNvSpPr>
          <p:nvPr/>
        </p:nvSpPr>
        <p:spPr>
          <a:xfrm>
            <a:off x="1261872" y="1527048"/>
            <a:ext cx="82296" cy="82296"/>
          </a:xfrm>
          <a:prstGeom prst="ellipse">
            <a:avLst/>
          </a:prstGeom>
          <a:solidFill>
            <a:srgbClr val="42D392"/>
          </a:solidFill>
          <a:ln w="12700">
            <a:solidFill>
              <a:srgbClr val="42D392">
                <a:alpha val="0"/>
              </a:srgbClr>
            </a:solidFill>
            <a:prstDash val="solid"/>
          </a:ln>
        </p:spPr>
      </p:sp>
      <p:sp>
        <p:nvSpPr>
          <p:cNvPr id="11" name="Shape 8">
            <a:extLst>
              <a:ext uri="{FF2B5EF4-FFF2-40B4-BE49-F238E27FC236}">
                <a16:creationId xmlns:a16="http://schemas.microsoft.com/office/drawing/2014/main" id="{15D989E1-4CE6-40E6-A666-AD3B1F7A96A9}"/>
              </a:ext>
            </a:extLst>
          </p:cNvPr>
          <p:cNvSpPr>
            <a:spLocks noGrp="1"/>
          </p:cNvSpPr>
          <p:nvPr/>
        </p:nvSpPr>
        <p:spPr>
          <a:xfrm>
            <a:off x="1572768" y="1499616"/>
            <a:ext cx="3017520" cy="155448"/>
          </a:xfrm>
          <a:prstGeom prst="roundRect">
            <a:avLst>
              <a:gd name="adj" fmla="val 23529"/>
            </a:avLst>
          </a:prstGeom>
          <a:solidFill>
            <a:srgbClr val="2A203E"/>
          </a:solidFill>
          <a:ln w="12700">
            <a:solidFill>
              <a:srgbClr val="2A203E">
                <a:alpha val="0"/>
              </a:srgbClr>
            </a:solidFill>
            <a:prstDash val="solid"/>
          </a:ln>
        </p:spPr>
      </p:sp>
      <p:sp>
        <p:nvSpPr>
          <p:cNvPr id="12" name="Text 9">
            <a:extLst>
              <a:ext uri="{FF2B5EF4-FFF2-40B4-BE49-F238E27FC236}">
                <a16:creationId xmlns:a16="http://schemas.microsoft.com/office/drawing/2014/main" id="{00FE6EA6-CFCA-40BC-81F9-C9AA1ACFBE76}"/>
              </a:ext>
            </a:extLst>
          </p:cNvPr>
          <p:cNvSpPr>
            <a:spLocks noGrp="1"/>
          </p:cNvSpPr>
          <p:nvPr/>
        </p:nvSpPr>
        <p:spPr>
          <a:xfrm>
            <a:off x="1664208" y="1513332"/>
            <a:ext cx="1188720" cy="91440"/>
          </a:xfrm>
          <a:prstGeom prst="rect">
            <a:avLst/>
          </a:prstGeom>
          <a:noFill/>
        </p:spPr>
        <p:txBody>
          <a:bodyPr wrap="square" lIns="0" tIns="0" rIns="0" bIns="0" anchor="ctr"/>
          <a:lstStyle/>
          <a:p>
            <a:pPr marL="0" indent="0">
              <a:buNone/>
            </a:pPr>
            <a:r>
              <a:rPr sz="550">
                <a:solidFill>
                  <a:srgbClr val="A9A4B7"/>
                </a:solidFill>
                <a:latin typeface="Arial"/>
                <a:ea typeface="Arial"/>
                <a:cs typeface="Arial"/>
              </a:rPr>
              <a:t>/login</a:t>
            </a:r>
          </a:p>
        </p:txBody>
      </p:sp>
      <p:sp>
        <p:nvSpPr>
          <p:cNvPr id="13" name="Text 10">
            <a:extLst>
              <a:ext uri="{FF2B5EF4-FFF2-40B4-BE49-F238E27FC236}">
                <a16:creationId xmlns:a16="http://schemas.microsoft.com/office/drawing/2014/main" id="{F3B811B7-DAD5-4E2D-A1F1-E0A4AAC0BCE1}"/>
              </a:ext>
            </a:extLst>
          </p:cNvPr>
          <p:cNvSpPr>
            <a:spLocks noGrp="1"/>
          </p:cNvSpPr>
          <p:nvPr/>
        </p:nvSpPr>
        <p:spPr>
          <a:xfrm>
            <a:off x="1069848" y="2203704"/>
            <a:ext cx="3520440" cy="502920"/>
          </a:xfrm>
          <a:prstGeom prst="rect">
            <a:avLst/>
          </a:prstGeom>
          <a:noFill/>
        </p:spPr>
        <p:txBody>
          <a:bodyPr wrap="square" lIns="0" tIns="0" rIns="0" bIns="0" anchor="ctr">
            <a:normAutofit/>
          </a:bodyPr>
          <a:lstStyle/>
          <a:p>
            <a:pPr marL="0" indent="0" algn="ctr">
              <a:buNone/>
            </a:pPr>
            <a:r>
              <a:rPr sz="2200" b="1">
                <a:solidFill>
                  <a:srgbClr val="42D392"/>
                </a:solidFill>
                <a:latin typeface="Arial"/>
                <a:ea typeface="Arial"/>
                <a:cs typeface="Arial"/>
              </a:rPr>
              <a:t>Login success</a:t>
            </a:r>
          </a:p>
        </p:txBody>
      </p:sp>
      <p:sp>
        <p:nvSpPr>
          <p:cNvPr id="14" name="Shape 11">
            <a:extLst>
              <a:ext uri="{FF2B5EF4-FFF2-40B4-BE49-F238E27FC236}">
                <a16:creationId xmlns:a16="http://schemas.microsoft.com/office/drawing/2014/main" id="{CEE1666D-BF50-4021-9CE3-62ECE4827E83}"/>
              </a:ext>
            </a:extLst>
          </p:cNvPr>
          <p:cNvSpPr>
            <a:spLocks noGrp="1"/>
          </p:cNvSpPr>
          <p:nvPr/>
        </p:nvSpPr>
        <p:spPr>
          <a:xfrm>
            <a:off x="5047488" y="2423160"/>
            <a:ext cx="850392" cy="0"/>
          </a:xfrm>
          <a:prstGeom prst="line">
            <a:avLst/>
          </a:prstGeom>
          <a:noFill/>
          <a:ln w="25400">
            <a:solidFill>
              <a:srgbClr val="42D392"/>
            </a:solidFill>
            <a:prstDash val="solid"/>
            <a:headEnd type="none"/>
            <a:tailEnd type="triangle"/>
          </a:ln>
        </p:spPr>
      </p:sp>
      <p:sp>
        <p:nvSpPr>
          <p:cNvPr id="15" name="Shape 12">
            <a:extLst>
              <a:ext uri="{FF2B5EF4-FFF2-40B4-BE49-F238E27FC236}">
                <a16:creationId xmlns:a16="http://schemas.microsoft.com/office/drawing/2014/main" id="{2B7DDF11-7800-426B-BDEB-8D9079CF95F0}"/>
              </a:ext>
            </a:extLst>
          </p:cNvPr>
          <p:cNvSpPr>
            <a:spLocks noGrp="1"/>
          </p:cNvSpPr>
          <p:nvPr/>
        </p:nvSpPr>
        <p:spPr>
          <a:xfrm>
            <a:off x="6172200" y="1298448"/>
            <a:ext cx="2057400" cy="1005840"/>
          </a:xfrm>
          <a:prstGeom prst="roundRect">
            <a:avLst>
              <a:gd name="adj" fmla="val 9091"/>
            </a:avLst>
          </a:prstGeom>
          <a:solidFill>
            <a:srgbClr val="110B22">
              <a:alpha val="96000"/>
            </a:srgbClr>
          </a:solidFill>
          <a:ln w="12700">
            <a:solidFill>
              <a:srgbClr val="42D392">
                <a:alpha val="70000"/>
              </a:srgbClr>
            </a:solidFill>
            <a:prstDash val="solid"/>
          </a:ln>
        </p:spPr>
      </p:sp>
      <p:sp>
        <p:nvSpPr>
          <p:cNvPr id="16" name="Shape 13">
            <a:extLst>
              <a:ext uri="{FF2B5EF4-FFF2-40B4-BE49-F238E27FC236}">
                <a16:creationId xmlns:a16="http://schemas.microsoft.com/office/drawing/2014/main" id="{C5EFDB15-FEE4-4844-9F6E-BC6A23F34D80}"/>
              </a:ext>
            </a:extLst>
          </p:cNvPr>
          <p:cNvSpPr>
            <a:spLocks noGrp="1"/>
          </p:cNvSpPr>
          <p:nvPr/>
        </p:nvSpPr>
        <p:spPr>
          <a:xfrm>
            <a:off x="6336792" y="1463040"/>
            <a:ext cx="201168" cy="201168"/>
          </a:xfrm>
          <a:prstGeom prst="ellipse">
            <a:avLst/>
          </a:prstGeom>
          <a:solidFill>
            <a:srgbClr val="42D392"/>
          </a:solidFill>
          <a:ln w="12700">
            <a:solidFill>
              <a:srgbClr val="42D392">
                <a:alpha val="0"/>
              </a:srgbClr>
            </a:solidFill>
            <a:prstDash val="solid"/>
          </a:ln>
        </p:spPr>
      </p:sp>
      <p:sp>
        <p:nvSpPr>
          <p:cNvPr id="17" name="Text 14">
            <a:extLst>
              <a:ext uri="{FF2B5EF4-FFF2-40B4-BE49-F238E27FC236}">
                <a16:creationId xmlns:a16="http://schemas.microsoft.com/office/drawing/2014/main" id="{A7B121DA-1C8F-4F8E-A27D-0E358844C0C7}"/>
              </a:ext>
            </a:extLst>
          </p:cNvPr>
          <p:cNvSpPr>
            <a:spLocks noGrp="1"/>
          </p:cNvSpPr>
          <p:nvPr/>
        </p:nvSpPr>
        <p:spPr>
          <a:xfrm>
            <a:off x="6611112" y="1444752"/>
            <a:ext cx="1490472" cy="237744"/>
          </a:xfrm>
          <a:prstGeom prst="rect">
            <a:avLst/>
          </a:prstGeom>
          <a:noFill/>
        </p:spPr>
        <p:txBody>
          <a:bodyPr wrap="square" lIns="0" tIns="0" rIns="0" bIns="0" anchor="ctr"/>
          <a:lstStyle/>
          <a:p>
            <a:pPr marL="0" indent="0">
              <a:buNone/>
            </a:pPr>
            <a:r>
              <a:rPr sz="1050">
                <a:solidFill>
                  <a:srgbClr val="A9A4B7"/>
                </a:solidFill>
                <a:latin typeface="Arial"/>
                <a:ea typeface="Arial"/>
                <a:cs typeface="Arial"/>
              </a:rPr>
              <a:t>CPU</a:t>
            </a:r>
          </a:p>
        </p:txBody>
      </p:sp>
      <p:sp>
        <p:nvSpPr>
          <p:cNvPr id="18" name="Text 15">
            <a:extLst>
              <a:ext uri="{FF2B5EF4-FFF2-40B4-BE49-F238E27FC236}">
                <a16:creationId xmlns:a16="http://schemas.microsoft.com/office/drawing/2014/main" id="{B7F3CA72-3B69-44F9-961F-200AA717518F}"/>
              </a:ext>
            </a:extLst>
          </p:cNvPr>
          <p:cNvSpPr>
            <a:spLocks noGrp="1"/>
          </p:cNvSpPr>
          <p:nvPr/>
        </p:nvSpPr>
        <p:spPr>
          <a:xfrm>
            <a:off x="6336792" y="1801368"/>
            <a:ext cx="1728216" cy="411480"/>
          </a:xfrm>
          <a:prstGeom prst="rect">
            <a:avLst/>
          </a:prstGeom>
          <a:noFill/>
        </p:spPr>
        <p:txBody>
          <a:bodyPr wrap="square" lIns="0" tIns="0" rIns="0" bIns="0" anchor="ctr">
            <a:normAutofit/>
          </a:bodyPr>
          <a:lstStyle/>
          <a:p>
            <a:pPr marL="0" indent="0">
              <a:buNone/>
            </a:pPr>
            <a:r>
              <a:rPr sz="2500" b="1">
                <a:solidFill>
                  <a:srgbClr val="42D392"/>
                </a:solidFill>
                <a:latin typeface="Arial"/>
                <a:ea typeface="Arial"/>
                <a:cs typeface="Arial"/>
              </a:rPr>
              <a:t>18%</a:t>
            </a:r>
          </a:p>
        </p:txBody>
      </p:sp>
      <p:sp>
        <p:nvSpPr>
          <p:cNvPr id="19" name="Shape 16">
            <a:extLst>
              <a:ext uri="{FF2B5EF4-FFF2-40B4-BE49-F238E27FC236}">
                <a16:creationId xmlns:a16="http://schemas.microsoft.com/office/drawing/2014/main" id="{7D192814-6746-42D5-81C4-746ABCC7C4AB}"/>
              </a:ext>
            </a:extLst>
          </p:cNvPr>
          <p:cNvSpPr>
            <a:spLocks noGrp="1"/>
          </p:cNvSpPr>
          <p:nvPr/>
        </p:nvSpPr>
        <p:spPr>
          <a:xfrm>
            <a:off x="8577072" y="1298448"/>
            <a:ext cx="2057400" cy="1005840"/>
          </a:xfrm>
          <a:prstGeom prst="roundRect">
            <a:avLst>
              <a:gd name="adj" fmla="val 9091"/>
            </a:avLst>
          </a:prstGeom>
          <a:solidFill>
            <a:srgbClr val="110B22">
              <a:alpha val="96000"/>
            </a:srgbClr>
          </a:solidFill>
          <a:ln w="12700">
            <a:solidFill>
              <a:srgbClr val="42D392">
                <a:alpha val="70000"/>
              </a:srgbClr>
            </a:solidFill>
            <a:prstDash val="solid"/>
          </a:ln>
        </p:spPr>
      </p:sp>
      <p:sp>
        <p:nvSpPr>
          <p:cNvPr id="20" name="Shape 17">
            <a:extLst>
              <a:ext uri="{FF2B5EF4-FFF2-40B4-BE49-F238E27FC236}">
                <a16:creationId xmlns:a16="http://schemas.microsoft.com/office/drawing/2014/main" id="{48BBFB22-27B1-498D-923A-485B7D284185}"/>
              </a:ext>
            </a:extLst>
          </p:cNvPr>
          <p:cNvSpPr>
            <a:spLocks noGrp="1"/>
          </p:cNvSpPr>
          <p:nvPr/>
        </p:nvSpPr>
        <p:spPr>
          <a:xfrm>
            <a:off x="8741664" y="1463040"/>
            <a:ext cx="201168" cy="201168"/>
          </a:xfrm>
          <a:prstGeom prst="ellipse">
            <a:avLst/>
          </a:prstGeom>
          <a:solidFill>
            <a:srgbClr val="42D392"/>
          </a:solidFill>
          <a:ln w="12700">
            <a:solidFill>
              <a:srgbClr val="42D392">
                <a:alpha val="0"/>
              </a:srgbClr>
            </a:solidFill>
            <a:prstDash val="solid"/>
          </a:ln>
        </p:spPr>
      </p:sp>
      <p:sp>
        <p:nvSpPr>
          <p:cNvPr id="21" name="Text 18">
            <a:extLst>
              <a:ext uri="{FF2B5EF4-FFF2-40B4-BE49-F238E27FC236}">
                <a16:creationId xmlns:a16="http://schemas.microsoft.com/office/drawing/2014/main" id="{4A29333C-B70E-4037-849B-FE4B19BD7675}"/>
              </a:ext>
            </a:extLst>
          </p:cNvPr>
          <p:cNvSpPr>
            <a:spLocks noGrp="1"/>
          </p:cNvSpPr>
          <p:nvPr/>
        </p:nvSpPr>
        <p:spPr>
          <a:xfrm>
            <a:off x="9015984" y="1444752"/>
            <a:ext cx="1490472" cy="237744"/>
          </a:xfrm>
          <a:prstGeom prst="rect">
            <a:avLst/>
          </a:prstGeom>
          <a:noFill/>
        </p:spPr>
        <p:txBody>
          <a:bodyPr wrap="square" lIns="0" tIns="0" rIns="0" bIns="0" anchor="ctr"/>
          <a:lstStyle/>
          <a:p>
            <a:pPr marL="0" indent="0">
              <a:buNone/>
            </a:pPr>
            <a:r>
              <a:rPr sz="1050">
                <a:solidFill>
                  <a:srgbClr val="A9A4B7"/>
                </a:solidFill>
                <a:latin typeface="Arial"/>
                <a:ea typeface="Arial"/>
                <a:cs typeface="Arial"/>
              </a:rPr>
              <a:t>ALB Target</a:t>
            </a:r>
          </a:p>
        </p:txBody>
      </p:sp>
      <p:sp>
        <p:nvSpPr>
          <p:cNvPr id="22" name="Text 19">
            <a:extLst>
              <a:ext uri="{FF2B5EF4-FFF2-40B4-BE49-F238E27FC236}">
                <a16:creationId xmlns:a16="http://schemas.microsoft.com/office/drawing/2014/main" id="{285DB1D3-D617-48F7-A314-192F21BF7E6B}"/>
              </a:ext>
            </a:extLst>
          </p:cNvPr>
          <p:cNvSpPr>
            <a:spLocks noGrp="1"/>
          </p:cNvSpPr>
          <p:nvPr/>
        </p:nvSpPr>
        <p:spPr>
          <a:xfrm>
            <a:off x="8741664" y="1801368"/>
            <a:ext cx="1728216" cy="411480"/>
          </a:xfrm>
          <a:prstGeom prst="rect">
            <a:avLst/>
          </a:prstGeom>
          <a:noFill/>
        </p:spPr>
        <p:txBody>
          <a:bodyPr wrap="square" lIns="0" tIns="0" rIns="0" bIns="0" anchor="ctr">
            <a:normAutofit/>
          </a:bodyPr>
          <a:lstStyle/>
          <a:p>
            <a:pPr marL="0" indent="0">
              <a:buNone/>
            </a:pPr>
            <a:r>
              <a:rPr sz="2500" b="1">
                <a:solidFill>
                  <a:srgbClr val="42D392"/>
                </a:solidFill>
                <a:latin typeface="Arial"/>
                <a:ea typeface="Arial"/>
                <a:cs typeface="Arial"/>
              </a:rPr>
              <a:t>2/2</a:t>
            </a:r>
          </a:p>
        </p:txBody>
      </p:sp>
      <p:sp>
        <p:nvSpPr>
          <p:cNvPr id="23" name="Shape 20">
            <a:extLst>
              <a:ext uri="{FF2B5EF4-FFF2-40B4-BE49-F238E27FC236}">
                <a16:creationId xmlns:a16="http://schemas.microsoft.com/office/drawing/2014/main" id="{9BD55B1E-BC24-4132-B379-7F8692F8D2B2}"/>
              </a:ext>
            </a:extLst>
          </p:cNvPr>
          <p:cNvSpPr>
            <a:spLocks noGrp="1"/>
          </p:cNvSpPr>
          <p:nvPr/>
        </p:nvSpPr>
        <p:spPr>
          <a:xfrm>
            <a:off x="6172200" y="2761488"/>
            <a:ext cx="2057400" cy="1005840"/>
          </a:xfrm>
          <a:prstGeom prst="roundRect">
            <a:avLst>
              <a:gd name="adj" fmla="val 9091"/>
            </a:avLst>
          </a:prstGeom>
          <a:solidFill>
            <a:srgbClr val="110B22">
              <a:alpha val="96000"/>
            </a:srgbClr>
          </a:solidFill>
          <a:ln w="12700">
            <a:solidFill>
              <a:srgbClr val="42D392">
                <a:alpha val="70000"/>
              </a:srgbClr>
            </a:solidFill>
            <a:prstDash val="solid"/>
          </a:ln>
        </p:spPr>
      </p:sp>
      <p:sp>
        <p:nvSpPr>
          <p:cNvPr id="24" name="Shape 21">
            <a:extLst>
              <a:ext uri="{FF2B5EF4-FFF2-40B4-BE49-F238E27FC236}">
                <a16:creationId xmlns:a16="http://schemas.microsoft.com/office/drawing/2014/main" id="{2897BDE2-CF50-4662-9569-B5254656ED23}"/>
              </a:ext>
            </a:extLst>
          </p:cNvPr>
          <p:cNvSpPr>
            <a:spLocks noGrp="1"/>
          </p:cNvSpPr>
          <p:nvPr/>
        </p:nvSpPr>
        <p:spPr>
          <a:xfrm>
            <a:off x="6336792" y="2926080"/>
            <a:ext cx="201168" cy="201168"/>
          </a:xfrm>
          <a:prstGeom prst="ellipse">
            <a:avLst/>
          </a:prstGeom>
          <a:solidFill>
            <a:srgbClr val="42D392"/>
          </a:solidFill>
          <a:ln w="12700">
            <a:solidFill>
              <a:srgbClr val="42D392">
                <a:alpha val="0"/>
              </a:srgbClr>
            </a:solidFill>
            <a:prstDash val="solid"/>
          </a:ln>
        </p:spPr>
      </p:sp>
      <p:sp>
        <p:nvSpPr>
          <p:cNvPr id="25" name="Text 22">
            <a:extLst>
              <a:ext uri="{FF2B5EF4-FFF2-40B4-BE49-F238E27FC236}">
                <a16:creationId xmlns:a16="http://schemas.microsoft.com/office/drawing/2014/main" id="{2CD1B428-5DB2-4288-849D-42820B3BC1B1}"/>
              </a:ext>
            </a:extLst>
          </p:cNvPr>
          <p:cNvSpPr>
            <a:spLocks noGrp="1"/>
          </p:cNvSpPr>
          <p:nvPr/>
        </p:nvSpPr>
        <p:spPr>
          <a:xfrm>
            <a:off x="6611112" y="2907792"/>
            <a:ext cx="1490472" cy="237744"/>
          </a:xfrm>
          <a:prstGeom prst="rect">
            <a:avLst/>
          </a:prstGeom>
          <a:noFill/>
        </p:spPr>
        <p:txBody>
          <a:bodyPr wrap="square" lIns="0" tIns="0" rIns="0" bIns="0" anchor="ctr"/>
          <a:lstStyle/>
          <a:p>
            <a:pPr marL="0" indent="0">
              <a:buNone/>
            </a:pPr>
            <a:r>
              <a:rPr sz="1050">
                <a:solidFill>
                  <a:srgbClr val="A9A4B7"/>
                </a:solidFill>
                <a:latin typeface="Arial"/>
                <a:ea typeface="Arial"/>
                <a:cs typeface="Arial"/>
              </a:rPr>
              <a:t>Login Success</a:t>
            </a:r>
          </a:p>
        </p:txBody>
      </p:sp>
      <p:sp>
        <p:nvSpPr>
          <p:cNvPr id="26" name="Text 23">
            <a:extLst>
              <a:ext uri="{FF2B5EF4-FFF2-40B4-BE49-F238E27FC236}">
                <a16:creationId xmlns:a16="http://schemas.microsoft.com/office/drawing/2014/main" id="{F7D956E3-0612-4F69-937D-C1893B3B7492}"/>
              </a:ext>
            </a:extLst>
          </p:cNvPr>
          <p:cNvSpPr>
            <a:spLocks noGrp="1"/>
          </p:cNvSpPr>
          <p:nvPr/>
        </p:nvSpPr>
        <p:spPr>
          <a:xfrm>
            <a:off x="6336792" y="3264408"/>
            <a:ext cx="1728216" cy="411480"/>
          </a:xfrm>
          <a:prstGeom prst="rect">
            <a:avLst/>
          </a:prstGeom>
          <a:noFill/>
        </p:spPr>
        <p:txBody>
          <a:bodyPr wrap="square" lIns="0" tIns="0" rIns="0" bIns="0" anchor="ctr">
            <a:normAutofit/>
          </a:bodyPr>
          <a:lstStyle/>
          <a:p>
            <a:pPr marL="0" indent="0">
              <a:buNone/>
            </a:pPr>
            <a:r>
              <a:rPr sz="2500" b="1">
                <a:solidFill>
                  <a:srgbClr val="42D392"/>
                </a:solidFill>
                <a:latin typeface="Arial"/>
                <a:ea typeface="Arial"/>
                <a:cs typeface="Arial"/>
              </a:rPr>
              <a:t>100%</a:t>
            </a:r>
          </a:p>
        </p:txBody>
      </p:sp>
      <p:sp>
        <p:nvSpPr>
          <p:cNvPr id="27" name="Shape 24">
            <a:extLst>
              <a:ext uri="{FF2B5EF4-FFF2-40B4-BE49-F238E27FC236}">
                <a16:creationId xmlns:a16="http://schemas.microsoft.com/office/drawing/2014/main" id="{66B6EDD2-8221-4299-893F-FC0B177012B9}"/>
              </a:ext>
            </a:extLst>
          </p:cNvPr>
          <p:cNvSpPr>
            <a:spLocks noGrp="1"/>
          </p:cNvSpPr>
          <p:nvPr/>
        </p:nvSpPr>
        <p:spPr>
          <a:xfrm>
            <a:off x="8577072" y="2761488"/>
            <a:ext cx="2057400" cy="1005840"/>
          </a:xfrm>
          <a:prstGeom prst="roundRect">
            <a:avLst>
              <a:gd name="adj" fmla="val 9091"/>
            </a:avLst>
          </a:prstGeom>
          <a:solidFill>
            <a:srgbClr val="110B22">
              <a:alpha val="96000"/>
            </a:srgbClr>
          </a:solidFill>
          <a:ln w="12700">
            <a:solidFill>
              <a:srgbClr val="42D392">
                <a:alpha val="70000"/>
              </a:srgbClr>
            </a:solidFill>
            <a:prstDash val="solid"/>
          </a:ln>
        </p:spPr>
      </p:sp>
      <p:sp>
        <p:nvSpPr>
          <p:cNvPr id="28" name="Shape 25">
            <a:extLst>
              <a:ext uri="{FF2B5EF4-FFF2-40B4-BE49-F238E27FC236}">
                <a16:creationId xmlns:a16="http://schemas.microsoft.com/office/drawing/2014/main" id="{D4C0A054-FBD8-4415-996C-25362A569560}"/>
              </a:ext>
            </a:extLst>
          </p:cNvPr>
          <p:cNvSpPr>
            <a:spLocks noGrp="1"/>
          </p:cNvSpPr>
          <p:nvPr/>
        </p:nvSpPr>
        <p:spPr>
          <a:xfrm>
            <a:off x="8741664" y="2926080"/>
            <a:ext cx="201168" cy="201168"/>
          </a:xfrm>
          <a:prstGeom prst="ellipse">
            <a:avLst/>
          </a:prstGeom>
          <a:solidFill>
            <a:srgbClr val="42D392"/>
          </a:solidFill>
          <a:ln w="12700">
            <a:solidFill>
              <a:srgbClr val="42D392">
                <a:alpha val="0"/>
              </a:srgbClr>
            </a:solidFill>
            <a:prstDash val="solid"/>
          </a:ln>
        </p:spPr>
      </p:sp>
      <p:sp>
        <p:nvSpPr>
          <p:cNvPr id="29" name="Text 26">
            <a:extLst>
              <a:ext uri="{FF2B5EF4-FFF2-40B4-BE49-F238E27FC236}">
                <a16:creationId xmlns:a16="http://schemas.microsoft.com/office/drawing/2014/main" id="{1F96F61D-248F-4A9F-B97A-B7CBE7ADC2E3}"/>
              </a:ext>
            </a:extLst>
          </p:cNvPr>
          <p:cNvSpPr>
            <a:spLocks noGrp="1"/>
          </p:cNvSpPr>
          <p:nvPr/>
        </p:nvSpPr>
        <p:spPr>
          <a:xfrm>
            <a:off x="9015984" y="2907792"/>
            <a:ext cx="1490472" cy="237744"/>
          </a:xfrm>
          <a:prstGeom prst="rect">
            <a:avLst/>
          </a:prstGeom>
          <a:noFill/>
        </p:spPr>
        <p:txBody>
          <a:bodyPr wrap="square" lIns="0" tIns="0" rIns="0" bIns="0" anchor="ctr"/>
          <a:lstStyle/>
          <a:p>
            <a:pPr marL="0" indent="0">
              <a:buNone/>
            </a:pPr>
            <a:r>
              <a:rPr sz="1050">
                <a:solidFill>
                  <a:srgbClr val="A9A4B7"/>
                </a:solidFill>
                <a:latin typeface="Arial"/>
                <a:ea typeface="Arial"/>
                <a:cs typeface="Arial"/>
              </a:rPr>
              <a:t>Login Failure</a:t>
            </a:r>
          </a:p>
        </p:txBody>
      </p:sp>
      <p:sp>
        <p:nvSpPr>
          <p:cNvPr id="30" name="Text 27">
            <a:extLst>
              <a:ext uri="{FF2B5EF4-FFF2-40B4-BE49-F238E27FC236}">
                <a16:creationId xmlns:a16="http://schemas.microsoft.com/office/drawing/2014/main" id="{32AA604F-4639-48A3-83F8-D0FCEAD90204}"/>
              </a:ext>
            </a:extLst>
          </p:cNvPr>
          <p:cNvSpPr>
            <a:spLocks noGrp="1"/>
          </p:cNvSpPr>
          <p:nvPr/>
        </p:nvSpPr>
        <p:spPr>
          <a:xfrm>
            <a:off x="8741664" y="3264408"/>
            <a:ext cx="1728216" cy="411480"/>
          </a:xfrm>
          <a:prstGeom prst="rect">
            <a:avLst/>
          </a:prstGeom>
          <a:noFill/>
        </p:spPr>
        <p:txBody>
          <a:bodyPr wrap="square" lIns="0" tIns="0" rIns="0" bIns="0" anchor="ctr">
            <a:normAutofit/>
          </a:bodyPr>
          <a:lstStyle/>
          <a:p>
            <a:pPr marL="0" indent="0">
              <a:buNone/>
            </a:pPr>
            <a:r>
              <a:rPr sz="2500" b="1">
                <a:solidFill>
                  <a:srgbClr val="42D392"/>
                </a:solidFill>
                <a:latin typeface="Arial"/>
                <a:ea typeface="Arial"/>
                <a:cs typeface="Arial"/>
              </a:rPr>
              <a:t>0</a:t>
            </a:r>
          </a:p>
        </p:txBody>
      </p:sp>
    </p:spTree>
    <p:extLst>
      <p:ext uri="{BB962C8B-B14F-4D97-AF65-F5344CB8AC3E}">
        <p14:creationId xmlns:p14="http://schemas.microsoft.com/office/powerpoint/2010/main" val="18088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Image 0"/>
          <p:cNvPicPr>
            <a:picLocks noChangeAspect="1"/>
          </p:cNvPicPr>
          <p:nvPr/>
        </p:nvPicPr>
        <p:blipFill>
          <a:blip r:embed="rId3"/>
          <a:stretch>
            <a:fillRect/>
          </a:stretch>
        </p:blipFill>
        <p:spPr>
          <a:xfrm>
            <a:off x="0" y="0"/>
            <a:ext cx="12192000" cy="6858000"/>
          </a:xfrm>
          <a:prstGeom prst="rect">
            <a:avLst/>
          </a:prstGeom>
        </p:spPr>
      </p:pic>
      <p:sp>
        <p:nvSpPr>
          <p:cNvPr id="3" name="Text 0">
            <a:extLst>
              <a:ext uri="{FF2B5EF4-FFF2-40B4-BE49-F238E27FC236}">
                <a16:creationId xmlns:a16="http://schemas.microsoft.com/office/drawing/2014/main" id="{E5232F7A-D133-43EF-A0C0-365366E28234}"/>
              </a:ext>
            </a:extLst>
          </p:cNvPr>
          <p:cNvSpPr>
            <a:spLocks noGrp="1"/>
          </p:cNvSpPr>
          <p:nvPr/>
        </p:nvSpPr>
        <p:spPr>
          <a:xfrm>
            <a:off x="658368" y="310896"/>
            <a:ext cx="4114800" cy="201168"/>
          </a:xfrm>
          <a:prstGeom prst="rect">
            <a:avLst/>
          </a:prstGeom>
          <a:noFill/>
        </p:spPr>
        <p:txBody>
          <a:bodyPr wrap="square" lIns="0" tIns="0" rIns="0" bIns="0" anchor="ctr"/>
          <a:lstStyle/>
          <a:p>
            <a:pPr marL="0" indent="0">
              <a:buNone/>
            </a:pPr>
            <a:r>
              <a:rPr sz="1400" b="1">
                <a:solidFill>
                  <a:srgbClr val="FF9900"/>
                </a:solidFill>
                <a:latin typeface="Arial"/>
                <a:ea typeface="Arial"/>
                <a:cs typeface="Arial"/>
              </a:rPr>
              <a:t>WHAT USERS SEE</a:t>
            </a:r>
          </a:p>
        </p:txBody>
      </p:sp>
      <p:sp>
        <p:nvSpPr>
          <p:cNvPr id="6" name="Shape 3">
            <a:extLst>
              <a:ext uri="{FF2B5EF4-FFF2-40B4-BE49-F238E27FC236}">
                <a16:creationId xmlns:a16="http://schemas.microsoft.com/office/drawing/2014/main" id="{28E9046C-4454-454F-8141-09397E4BCEFD}"/>
              </a:ext>
            </a:extLst>
          </p:cNvPr>
          <p:cNvSpPr>
            <a:spLocks noGrp="1"/>
          </p:cNvSpPr>
          <p:nvPr/>
        </p:nvSpPr>
        <p:spPr>
          <a:xfrm>
            <a:off x="841248" y="1389888"/>
            <a:ext cx="3977640" cy="2148840"/>
          </a:xfrm>
          <a:prstGeom prst="roundRect">
            <a:avLst>
              <a:gd name="adj" fmla="val 4255"/>
            </a:avLst>
          </a:prstGeom>
          <a:solidFill>
            <a:srgbClr val="0E0820">
              <a:alpha val="96000"/>
            </a:srgbClr>
          </a:solidFill>
          <a:ln w="12700">
            <a:solidFill>
              <a:srgbClr val="342B4F"/>
            </a:solidFill>
            <a:prstDash val="solid"/>
          </a:ln>
        </p:spPr>
      </p:sp>
      <p:sp>
        <p:nvSpPr>
          <p:cNvPr id="7" name="Shape 4">
            <a:extLst>
              <a:ext uri="{FF2B5EF4-FFF2-40B4-BE49-F238E27FC236}">
                <a16:creationId xmlns:a16="http://schemas.microsoft.com/office/drawing/2014/main" id="{222D9395-6F80-4310-92E3-26328A415D00}"/>
              </a:ext>
            </a:extLst>
          </p:cNvPr>
          <p:cNvSpPr>
            <a:spLocks noGrp="1"/>
          </p:cNvSpPr>
          <p:nvPr/>
        </p:nvSpPr>
        <p:spPr>
          <a:xfrm>
            <a:off x="841248" y="1389888"/>
            <a:ext cx="3977640" cy="347472"/>
          </a:xfrm>
          <a:prstGeom prst="rect">
            <a:avLst/>
          </a:prstGeom>
          <a:solidFill>
            <a:srgbClr val="17102C"/>
          </a:solidFill>
          <a:ln w="12700">
            <a:solidFill>
              <a:srgbClr val="17102C">
                <a:alpha val="0"/>
              </a:srgbClr>
            </a:solidFill>
            <a:prstDash val="solid"/>
          </a:ln>
        </p:spPr>
      </p:sp>
      <p:sp>
        <p:nvSpPr>
          <p:cNvPr id="8" name="Shape 5">
            <a:extLst>
              <a:ext uri="{FF2B5EF4-FFF2-40B4-BE49-F238E27FC236}">
                <a16:creationId xmlns:a16="http://schemas.microsoft.com/office/drawing/2014/main" id="{E7530CE3-0AFF-42AC-93D4-D4774D33A550}"/>
              </a:ext>
            </a:extLst>
          </p:cNvPr>
          <p:cNvSpPr>
            <a:spLocks noGrp="1"/>
          </p:cNvSpPr>
          <p:nvPr/>
        </p:nvSpPr>
        <p:spPr>
          <a:xfrm>
            <a:off x="969264" y="1499616"/>
            <a:ext cx="82296" cy="82296"/>
          </a:xfrm>
          <a:prstGeom prst="ellipse">
            <a:avLst/>
          </a:prstGeom>
          <a:solidFill>
            <a:srgbClr val="FF5A6E"/>
          </a:solidFill>
          <a:ln w="12700">
            <a:solidFill>
              <a:srgbClr val="FF5A6E">
                <a:alpha val="0"/>
              </a:srgbClr>
            </a:solidFill>
            <a:prstDash val="solid"/>
          </a:ln>
        </p:spPr>
      </p:sp>
      <p:sp>
        <p:nvSpPr>
          <p:cNvPr id="9" name="Shape 6">
            <a:extLst>
              <a:ext uri="{FF2B5EF4-FFF2-40B4-BE49-F238E27FC236}">
                <a16:creationId xmlns:a16="http://schemas.microsoft.com/office/drawing/2014/main" id="{39B832D3-3DE2-43EE-81A9-7BB1EECF7411}"/>
              </a:ext>
            </a:extLst>
          </p:cNvPr>
          <p:cNvSpPr>
            <a:spLocks noGrp="1"/>
          </p:cNvSpPr>
          <p:nvPr/>
        </p:nvSpPr>
        <p:spPr>
          <a:xfrm>
            <a:off x="1115568" y="1499616"/>
            <a:ext cx="82296" cy="82296"/>
          </a:xfrm>
          <a:prstGeom prst="ellipse">
            <a:avLst/>
          </a:prstGeom>
          <a:solidFill>
            <a:srgbClr val="FF9900"/>
          </a:solidFill>
          <a:ln w="12700">
            <a:solidFill>
              <a:srgbClr val="FF9900">
                <a:alpha val="0"/>
              </a:srgbClr>
            </a:solidFill>
            <a:prstDash val="solid"/>
          </a:ln>
        </p:spPr>
      </p:sp>
      <p:sp>
        <p:nvSpPr>
          <p:cNvPr id="10" name="Shape 7">
            <a:extLst>
              <a:ext uri="{FF2B5EF4-FFF2-40B4-BE49-F238E27FC236}">
                <a16:creationId xmlns:a16="http://schemas.microsoft.com/office/drawing/2014/main" id="{6BD57BCE-F355-4167-BBAF-75DAA6C87C17}"/>
              </a:ext>
            </a:extLst>
          </p:cNvPr>
          <p:cNvSpPr>
            <a:spLocks noGrp="1"/>
          </p:cNvSpPr>
          <p:nvPr/>
        </p:nvSpPr>
        <p:spPr>
          <a:xfrm>
            <a:off x="1261872" y="1499616"/>
            <a:ext cx="82296" cy="82296"/>
          </a:xfrm>
          <a:prstGeom prst="ellipse">
            <a:avLst/>
          </a:prstGeom>
          <a:solidFill>
            <a:srgbClr val="42D392"/>
          </a:solidFill>
          <a:ln w="12700">
            <a:solidFill>
              <a:srgbClr val="42D392">
                <a:alpha val="0"/>
              </a:srgbClr>
            </a:solidFill>
            <a:prstDash val="solid"/>
          </a:ln>
        </p:spPr>
      </p:sp>
      <p:sp>
        <p:nvSpPr>
          <p:cNvPr id="11" name="Shape 8">
            <a:extLst>
              <a:ext uri="{FF2B5EF4-FFF2-40B4-BE49-F238E27FC236}">
                <a16:creationId xmlns:a16="http://schemas.microsoft.com/office/drawing/2014/main" id="{D0F97545-7CFB-4E94-8C14-1608596B685A}"/>
              </a:ext>
            </a:extLst>
          </p:cNvPr>
          <p:cNvSpPr>
            <a:spLocks noGrp="1"/>
          </p:cNvSpPr>
          <p:nvPr/>
        </p:nvSpPr>
        <p:spPr>
          <a:xfrm>
            <a:off x="1572768" y="1472184"/>
            <a:ext cx="3017520" cy="155448"/>
          </a:xfrm>
          <a:prstGeom prst="roundRect">
            <a:avLst>
              <a:gd name="adj" fmla="val 23529"/>
            </a:avLst>
          </a:prstGeom>
          <a:solidFill>
            <a:srgbClr val="2A203E"/>
          </a:solidFill>
          <a:ln w="12700">
            <a:solidFill>
              <a:srgbClr val="2A203E">
                <a:alpha val="0"/>
              </a:srgbClr>
            </a:solidFill>
            <a:prstDash val="solid"/>
          </a:ln>
        </p:spPr>
      </p:sp>
      <p:sp>
        <p:nvSpPr>
          <p:cNvPr id="12" name="Text 9">
            <a:extLst>
              <a:ext uri="{FF2B5EF4-FFF2-40B4-BE49-F238E27FC236}">
                <a16:creationId xmlns:a16="http://schemas.microsoft.com/office/drawing/2014/main" id="{0CCB02A2-5694-49FF-B04F-374D9AB48764}"/>
              </a:ext>
            </a:extLst>
          </p:cNvPr>
          <p:cNvSpPr>
            <a:spLocks noGrp="1"/>
          </p:cNvSpPr>
          <p:nvPr/>
        </p:nvSpPr>
        <p:spPr>
          <a:xfrm>
            <a:off x="1664208" y="1485900"/>
            <a:ext cx="1188720" cy="91440"/>
          </a:xfrm>
          <a:prstGeom prst="rect">
            <a:avLst/>
          </a:prstGeom>
          <a:noFill/>
        </p:spPr>
        <p:txBody>
          <a:bodyPr wrap="square" lIns="0" tIns="0" rIns="0" bIns="0" anchor="ctr"/>
          <a:lstStyle/>
          <a:p>
            <a:pPr marL="0" indent="0">
              <a:buNone/>
            </a:pPr>
            <a:r>
              <a:rPr sz="550">
                <a:solidFill>
                  <a:srgbClr val="A9A4B7"/>
                </a:solidFill>
                <a:latin typeface="Arial"/>
                <a:ea typeface="Arial"/>
                <a:cs typeface="Arial"/>
              </a:rPr>
              <a:t>/login</a:t>
            </a:r>
          </a:p>
        </p:txBody>
      </p:sp>
      <p:sp>
        <p:nvSpPr>
          <p:cNvPr id="13" name="Text 10">
            <a:extLst>
              <a:ext uri="{FF2B5EF4-FFF2-40B4-BE49-F238E27FC236}">
                <a16:creationId xmlns:a16="http://schemas.microsoft.com/office/drawing/2014/main" id="{C0C5976E-E261-42E1-8B69-B02BD243D3FB}"/>
              </a:ext>
            </a:extLst>
          </p:cNvPr>
          <p:cNvSpPr>
            <a:spLocks noGrp="1"/>
          </p:cNvSpPr>
          <p:nvPr/>
        </p:nvSpPr>
        <p:spPr>
          <a:xfrm>
            <a:off x="1069848" y="2176272"/>
            <a:ext cx="3520440" cy="502920"/>
          </a:xfrm>
          <a:prstGeom prst="rect">
            <a:avLst/>
          </a:prstGeom>
          <a:noFill/>
        </p:spPr>
        <p:txBody>
          <a:bodyPr wrap="square" lIns="0" tIns="0" rIns="0" bIns="0" anchor="ctr">
            <a:normAutofit/>
          </a:bodyPr>
          <a:lstStyle/>
          <a:p>
            <a:pPr marL="0" indent="0" algn="ctr">
              <a:buNone/>
            </a:pPr>
            <a:r>
              <a:rPr sz="2200" b="1">
                <a:solidFill>
                  <a:srgbClr val="FF5A6E"/>
                </a:solidFill>
                <a:latin typeface="Arial"/>
                <a:ea typeface="Arial"/>
                <a:cs typeface="Arial"/>
              </a:rPr>
              <a:t>Login failed</a:t>
            </a:r>
          </a:p>
        </p:txBody>
      </p:sp>
      <p:sp>
        <p:nvSpPr>
          <p:cNvPr id="14" name="Shape 11">
            <a:extLst>
              <a:ext uri="{FF2B5EF4-FFF2-40B4-BE49-F238E27FC236}">
                <a16:creationId xmlns:a16="http://schemas.microsoft.com/office/drawing/2014/main" id="{78819406-8F20-45A5-88BA-6343C5384C80}"/>
              </a:ext>
            </a:extLst>
          </p:cNvPr>
          <p:cNvSpPr>
            <a:spLocks noGrp="1"/>
          </p:cNvSpPr>
          <p:nvPr/>
        </p:nvSpPr>
        <p:spPr>
          <a:xfrm>
            <a:off x="5623560" y="1389888"/>
            <a:ext cx="5166360" cy="2148840"/>
          </a:xfrm>
          <a:prstGeom prst="roundRect">
            <a:avLst>
              <a:gd name="adj" fmla="val 4255"/>
            </a:avLst>
          </a:prstGeom>
          <a:solidFill>
            <a:srgbClr val="0B0618">
              <a:alpha val="96000"/>
            </a:srgbClr>
          </a:solidFill>
          <a:ln w="12700">
            <a:solidFill>
              <a:srgbClr val="342B4F"/>
            </a:solidFill>
            <a:prstDash val="solid"/>
          </a:ln>
        </p:spPr>
      </p:sp>
      <p:sp>
        <p:nvSpPr>
          <p:cNvPr id="15" name="Shape 12">
            <a:extLst>
              <a:ext uri="{FF2B5EF4-FFF2-40B4-BE49-F238E27FC236}">
                <a16:creationId xmlns:a16="http://schemas.microsoft.com/office/drawing/2014/main" id="{12FDA63D-BA02-43D0-9F7D-C945BA455713}"/>
              </a:ext>
            </a:extLst>
          </p:cNvPr>
          <p:cNvSpPr>
            <a:spLocks noGrp="1"/>
          </p:cNvSpPr>
          <p:nvPr/>
        </p:nvSpPr>
        <p:spPr>
          <a:xfrm>
            <a:off x="5788152" y="1572768"/>
            <a:ext cx="4837176" cy="0"/>
          </a:xfrm>
          <a:prstGeom prst="line">
            <a:avLst/>
          </a:prstGeom>
          <a:noFill/>
          <a:ln w="6985">
            <a:solidFill>
              <a:srgbClr val="251C3A"/>
            </a:solidFill>
            <a:prstDash val="solid"/>
          </a:ln>
        </p:spPr>
      </p:sp>
      <p:sp>
        <p:nvSpPr>
          <p:cNvPr id="16" name="Shape 13">
            <a:extLst>
              <a:ext uri="{FF2B5EF4-FFF2-40B4-BE49-F238E27FC236}">
                <a16:creationId xmlns:a16="http://schemas.microsoft.com/office/drawing/2014/main" id="{83D0E723-FAE2-4DFE-8DDD-D0CF370292D2}"/>
              </a:ext>
            </a:extLst>
          </p:cNvPr>
          <p:cNvSpPr>
            <a:spLocks noGrp="1"/>
          </p:cNvSpPr>
          <p:nvPr/>
        </p:nvSpPr>
        <p:spPr>
          <a:xfrm>
            <a:off x="5788152" y="2161032"/>
            <a:ext cx="4837176" cy="0"/>
          </a:xfrm>
          <a:prstGeom prst="line">
            <a:avLst/>
          </a:prstGeom>
          <a:noFill/>
          <a:ln w="6985">
            <a:solidFill>
              <a:srgbClr val="251C3A"/>
            </a:solidFill>
            <a:prstDash val="solid"/>
          </a:ln>
        </p:spPr>
      </p:sp>
      <p:sp>
        <p:nvSpPr>
          <p:cNvPr id="17" name="Shape 14">
            <a:extLst>
              <a:ext uri="{FF2B5EF4-FFF2-40B4-BE49-F238E27FC236}">
                <a16:creationId xmlns:a16="http://schemas.microsoft.com/office/drawing/2014/main" id="{EFACB105-A68D-4053-90B9-CA7058E4AF9C}"/>
              </a:ext>
            </a:extLst>
          </p:cNvPr>
          <p:cNvSpPr>
            <a:spLocks noGrp="1"/>
          </p:cNvSpPr>
          <p:nvPr/>
        </p:nvSpPr>
        <p:spPr>
          <a:xfrm>
            <a:off x="5788152" y="2749296"/>
            <a:ext cx="4837176" cy="0"/>
          </a:xfrm>
          <a:prstGeom prst="line">
            <a:avLst/>
          </a:prstGeom>
          <a:noFill/>
          <a:ln w="6985">
            <a:solidFill>
              <a:srgbClr val="251C3A"/>
            </a:solidFill>
            <a:prstDash val="solid"/>
          </a:ln>
        </p:spPr>
      </p:sp>
      <p:sp>
        <p:nvSpPr>
          <p:cNvPr id="18" name="Shape 15">
            <a:extLst>
              <a:ext uri="{FF2B5EF4-FFF2-40B4-BE49-F238E27FC236}">
                <a16:creationId xmlns:a16="http://schemas.microsoft.com/office/drawing/2014/main" id="{CAF6E2FF-3D91-49E1-8AE1-2255807099BC}"/>
              </a:ext>
            </a:extLst>
          </p:cNvPr>
          <p:cNvSpPr>
            <a:spLocks noGrp="1"/>
          </p:cNvSpPr>
          <p:nvPr/>
        </p:nvSpPr>
        <p:spPr>
          <a:xfrm>
            <a:off x="5788152" y="3337560"/>
            <a:ext cx="4837176" cy="0"/>
          </a:xfrm>
          <a:prstGeom prst="line">
            <a:avLst/>
          </a:prstGeom>
          <a:noFill/>
          <a:ln w="6985">
            <a:solidFill>
              <a:srgbClr val="251C3A"/>
            </a:solidFill>
            <a:prstDash val="solid"/>
          </a:ln>
        </p:spPr>
      </p:sp>
      <p:sp>
        <p:nvSpPr>
          <p:cNvPr id="19" name="Shape 16">
            <a:extLst>
              <a:ext uri="{FF2B5EF4-FFF2-40B4-BE49-F238E27FC236}">
                <a16:creationId xmlns:a16="http://schemas.microsoft.com/office/drawing/2014/main" id="{240AA2F5-1DEB-4026-865A-9220078CD4CE}"/>
              </a:ext>
            </a:extLst>
          </p:cNvPr>
          <p:cNvSpPr>
            <a:spLocks noGrp="1"/>
          </p:cNvSpPr>
          <p:nvPr/>
        </p:nvSpPr>
        <p:spPr>
          <a:xfrm>
            <a:off x="6450178" y="1927098"/>
            <a:ext cx="826618" cy="64465"/>
          </a:xfrm>
          <a:prstGeom prst="line">
            <a:avLst/>
          </a:prstGeom>
          <a:noFill/>
          <a:ln w="30480">
            <a:solidFill>
              <a:srgbClr val="FF5A6E"/>
            </a:solidFill>
            <a:prstDash val="solid"/>
          </a:ln>
        </p:spPr>
      </p:sp>
      <p:sp>
        <p:nvSpPr>
          <p:cNvPr id="20" name="Shape 17">
            <a:extLst>
              <a:ext uri="{FF2B5EF4-FFF2-40B4-BE49-F238E27FC236}">
                <a16:creationId xmlns:a16="http://schemas.microsoft.com/office/drawing/2014/main" id="{7AFC771D-B371-4075-BF82-94C17EE3A377}"/>
              </a:ext>
            </a:extLst>
          </p:cNvPr>
          <p:cNvSpPr>
            <a:spLocks noGrp="1"/>
          </p:cNvSpPr>
          <p:nvPr/>
        </p:nvSpPr>
        <p:spPr>
          <a:xfrm>
            <a:off x="7276795" y="1991563"/>
            <a:ext cx="826618" cy="128930"/>
          </a:xfrm>
          <a:prstGeom prst="line">
            <a:avLst/>
          </a:prstGeom>
          <a:noFill/>
          <a:ln w="30480">
            <a:solidFill>
              <a:srgbClr val="FF5A6E"/>
            </a:solidFill>
            <a:prstDash val="solid"/>
          </a:ln>
        </p:spPr>
      </p:sp>
      <p:sp>
        <p:nvSpPr>
          <p:cNvPr id="21" name="Shape 18">
            <a:extLst>
              <a:ext uri="{FF2B5EF4-FFF2-40B4-BE49-F238E27FC236}">
                <a16:creationId xmlns:a16="http://schemas.microsoft.com/office/drawing/2014/main" id="{8CEE925C-A58D-4037-B3D0-471073212C45}"/>
              </a:ext>
            </a:extLst>
          </p:cNvPr>
          <p:cNvSpPr>
            <a:spLocks noGrp="1"/>
          </p:cNvSpPr>
          <p:nvPr/>
        </p:nvSpPr>
        <p:spPr>
          <a:xfrm>
            <a:off x="8103413" y="2120494"/>
            <a:ext cx="826618" cy="451256"/>
          </a:xfrm>
          <a:prstGeom prst="line">
            <a:avLst/>
          </a:prstGeom>
          <a:noFill/>
          <a:ln w="30480">
            <a:solidFill>
              <a:srgbClr val="FF5A6E"/>
            </a:solidFill>
            <a:prstDash val="solid"/>
          </a:ln>
        </p:spPr>
      </p:sp>
      <p:sp>
        <p:nvSpPr>
          <p:cNvPr id="22" name="Shape 19">
            <a:extLst>
              <a:ext uri="{FF2B5EF4-FFF2-40B4-BE49-F238E27FC236}">
                <a16:creationId xmlns:a16="http://schemas.microsoft.com/office/drawing/2014/main" id="{52AB4FA8-9C51-4F0E-B18B-396AC3C06C75}"/>
              </a:ext>
            </a:extLst>
          </p:cNvPr>
          <p:cNvSpPr>
            <a:spLocks noGrp="1"/>
          </p:cNvSpPr>
          <p:nvPr/>
        </p:nvSpPr>
        <p:spPr>
          <a:xfrm>
            <a:off x="8930030" y="2571750"/>
            <a:ext cx="826618" cy="580187"/>
          </a:xfrm>
          <a:prstGeom prst="line">
            <a:avLst/>
          </a:prstGeom>
          <a:noFill/>
          <a:ln w="30480">
            <a:solidFill>
              <a:srgbClr val="FF5A6E"/>
            </a:solidFill>
            <a:prstDash val="solid"/>
          </a:ln>
        </p:spPr>
      </p:sp>
      <p:sp>
        <p:nvSpPr>
          <p:cNvPr id="23" name="Shape 20">
            <a:extLst>
              <a:ext uri="{FF2B5EF4-FFF2-40B4-BE49-F238E27FC236}">
                <a16:creationId xmlns:a16="http://schemas.microsoft.com/office/drawing/2014/main" id="{81FED444-C439-42D4-9CEA-AF5A798E78E1}"/>
              </a:ext>
            </a:extLst>
          </p:cNvPr>
          <p:cNvSpPr>
            <a:spLocks noGrp="1"/>
          </p:cNvSpPr>
          <p:nvPr/>
        </p:nvSpPr>
        <p:spPr>
          <a:xfrm>
            <a:off x="9756648" y="3151937"/>
            <a:ext cx="723290" cy="128930"/>
          </a:xfrm>
          <a:prstGeom prst="line">
            <a:avLst/>
          </a:prstGeom>
          <a:noFill/>
          <a:ln w="30480">
            <a:solidFill>
              <a:srgbClr val="FF5A6E"/>
            </a:solidFill>
            <a:prstDash val="solid"/>
          </a:ln>
        </p:spPr>
      </p:sp>
      <p:sp>
        <p:nvSpPr>
          <p:cNvPr id="24" name="Text 21">
            <a:extLst>
              <a:ext uri="{FF2B5EF4-FFF2-40B4-BE49-F238E27FC236}">
                <a16:creationId xmlns:a16="http://schemas.microsoft.com/office/drawing/2014/main" id="{7F7FD1A9-20DC-4BDB-9845-59E7FA9F9983}"/>
              </a:ext>
            </a:extLst>
          </p:cNvPr>
          <p:cNvSpPr>
            <a:spLocks noGrp="1"/>
          </p:cNvSpPr>
          <p:nvPr/>
        </p:nvSpPr>
        <p:spPr>
          <a:xfrm>
            <a:off x="5897880" y="1682496"/>
            <a:ext cx="2103120" cy="201168"/>
          </a:xfrm>
          <a:prstGeom prst="rect">
            <a:avLst/>
          </a:prstGeom>
          <a:noFill/>
        </p:spPr>
        <p:txBody>
          <a:bodyPr wrap="square" lIns="0" tIns="0" rIns="0" bIns="0" anchor="ctr"/>
          <a:lstStyle/>
          <a:p>
            <a:pPr marL="0" indent="0">
              <a:buNone/>
            </a:pPr>
            <a:r>
              <a:rPr sz="1200" b="1">
                <a:solidFill>
                  <a:srgbClr val="A9A4B7"/>
                </a:solidFill>
                <a:latin typeface="Arial"/>
                <a:ea typeface="Arial"/>
                <a:cs typeface="Arial"/>
              </a:rPr>
              <a:t>Login Success Rate</a:t>
            </a:r>
          </a:p>
        </p:txBody>
      </p:sp>
      <p:sp>
        <p:nvSpPr>
          <p:cNvPr id="25" name="Text 22">
            <a:extLst>
              <a:ext uri="{FF2B5EF4-FFF2-40B4-BE49-F238E27FC236}">
                <a16:creationId xmlns:a16="http://schemas.microsoft.com/office/drawing/2014/main" id="{3A10D437-7394-41BD-9E0E-51E6F9512A0C}"/>
              </a:ext>
            </a:extLst>
          </p:cNvPr>
          <p:cNvSpPr>
            <a:spLocks noGrp="1"/>
          </p:cNvSpPr>
          <p:nvPr/>
        </p:nvSpPr>
        <p:spPr>
          <a:xfrm>
            <a:off x="6446520" y="3685032"/>
            <a:ext cx="3520440" cy="329184"/>
          </a:xfrm>
          <a:prstGeom prst="rect">
            <a:avLst/>
          </a:prstGeom>
          <a:noFill/>
        </p:spPr>
        <p:txBody>
          <a:bodyPr wrap="square" lIns="0" tIns="0" rIns="0" bIns="0" anchor="ctr"/>
          <a:lstStyle/>
          <a:p>
            <a:pPr marL="0" indent="0" algn="ctr">
              <a:buNone/>
            </a:pPr>
            <a:r>
              <a:rPr sz="2500" b="1">
                <a:solidFill>
                  <a:srgbClr val="FF5A6E"/>
                </a:solidFill>
                <a:latin typeface="Arial"/>
                <a:ea typeface="Arial"/>
                <a:cs typeface="Arial"/>
              </a:rPr>
              <a:t>100% → 0%</a:t>
            </a:r>
          </a:p>
        </p:txBody>
      </p:sp>
      <p:sp>
        <p:nvSpPr>
          <p:cNvPr id="29" name="Text 0">
            <a:extLst>
              <a:ext uri="{FF2B5EF4-FFF2-40B4-BE49-F238E27FC236}">
                <a16:creationId xmlns:a16="http://schemas.microsoft.com/office/drawing/2014/main" id="{DBA864FA-69E5-80BE-9F56-6CF41A3640A3}"/>
              </a:ext>
            </a:extLst>
          </p:cNvPr>
          <p:cNvSpPr>
            <a:spLocks noGrp="1"/>
          </p:cNvSpPr>
          <p:nvPr/>
        </p:nvSpPr>
        <p:spPr>
          <a:xfrm>
            <a:off x="658368" y="5120641"/>
            <a:ext cx="1850370" cy="201168"/>
          </a:xfrm>
          <a:prstGeom prst="rect">
            <a:avLst/>
          </a:prstGeom>
          <a:noFill/>
        </p:spPr>
        <p:txBody>
          <a:bodyPr wrap="square" lIns="0" tIns="0" rIns="0" bIns="0" anchor="ctr"/>
          <a:lstStyle/>
          <a:p>
            <a:pPr marL="0" indent="0">
              <a:buNone/>
            </a:pPr>
            <a:r>
              <a:rPr sz="1400" b="1">
                <a:solidFill>
                  <a:srgbClr val="FF9900"/>
                </a:solidFill>
                <a:latin typeface="Arial"/>
                <a:ea typeface="Arial"/>
                <a:cs typeface="Arial"/>
              </a:rPr>
              <a:t>WHAT USERS FEEL</a:t>
            </a:r>
          </a:p>
        </p:txBody>
      </p:sp>
      <p:pic>
        <p:nvPicPr>
          <p:cNvPr id="55" name="Picture 53"/>
          <p:cNvPicPr>
            <a:picLocks noChangeAspect="1"/>
          </p:cNvPicPr>
          <p:nvPr/>
        </p:nvPicPr>
        <p:blipFill>
          <a:blip r:embed="rId4"/>
          <a:stretch>
            <a:fillRect/>
          </a:stretch>
        </p:blipFill>
        <p:spPr>
          <a:xfrm>
            <a:off x="2715768" y="3710042"/>
            <a:ext cx="1766529" cy="2494752"/>
          </a:xfrm>
          <a:prstGeom prst="rect">
            <a:avLst/>
          </a:prstGeom>
        </p:spPr>
      </p:pic>
    </p:spTree>
    <p:extLst>
      <p:ext uri="{BB962C8B-B14F-4D97-AF65-F5344CB8AC3E}">
        <p14:creationId xmlns:p14="http://schemas.microsoft.com/office/powerpoint/2010/main" val="5074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0"/>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A45B2645-1E02-4193-8FE9-8830F81AFCF2}"/>
              </a:ext>
            </a:extLst>
          </p:cNvPr>
          <p:cNvSpPr>
            <a:spLocks noGrp="1"/>
          </p:cNvSpPr>
          <p:nvPr/>
        </p:nvSpPr>
        <p:spPr>
          <a:xfrm>
            <a:off x="658368" y="310896"/>
            <a:ext cx="4114800" cy="201168"/>
          </a:xfrm>
          <a:prstGeom prst="rect">
            <a:avLst/>
          </a:prstGeom>
          <a:noFill/>
        </p:spPr>
        <p:txBody>
          <a:bodyPr wrap="square" lIns="0" tIns="0" rIns="0" bIns="0" anchor="ctr"/>
          <a:lstStyle/>
          <a:p>
            <a:pPr marL="0" indent="0">
              <a:buNone/>
            </a:pPr>
            <a:r>
              <a:rPr sz="1400" b="1">
                <a:solidFill>
                  <a:srgbClr val="FF9900"/>
                </a:solidFill>
                <a:latin typeface="Arial"/>
                <a:ea typeface="Arial"/>
                <a:cs typeface="Arial"/>
              </a:rPr>
              <a:t>WHAT YOUR DASHBOARD MAY STILL SHOW</a:t>
            </a:r>
          </a:p>
        </p:txBody>
      </p:sp>
      <p:sp>
        <p:nvSpPr>
          <p:cNvPr id="4" name="Text 1">
            <a:extLst>
              <a:ext uri="{FF2B5EF4-FFF2-40B4-BE49-F238E27FC236}">
                <a16:creationId xmlns:a16="http://schemas.microsoft.com/office/drawing/2014/main" id="{A9CEEB89-52A1-46B3-BEEC-F9B56C4BA346}"/>
              </a:ext>
            </a:extLst>
          </p:cNvPr>
          <p:cNvSpPr>
            <a:spLocks noGrp="1"/>
          </p:cNvSpPr>
          <p:nvPr/>
        </p:nvSpPr>
        <p:spPr>
          <a:xfrm>
            <a:off x="658368" y="530352"/>
            <a:ext cx="10881360" cy="457200"/>
          </a:xfrm>
          <a:prstGeom prst="rect">
            <a:avLst/>
          </a:prstGeom>
          <a:noFill/>
        </p:spPr>
        <p:txBody>
          <a:bodyPr wrap="square" lIns="0" tIns="0" rIns="0" bIns="0" anchor="ctr">
            <a:normAutofit/>
          </a:bodyPr>
          <a:lstStyle/>
          <a:p>
            <a:pPr marL="0" indent="0">
              <a:buNone/>
            </a:pPr>
            <a:r>
              <a:rPr sz="3000">
                <a:solidFill>
                  <a:schemeClr val="bg2"/>
                </a:solidFill>
              </a:rPr>
              <a:t>An everything is “green” dashboard</a:t>
            </a:r>
          </a:p>
        </p:txBody>
      </p:sp>
      <p:sp>
        <p:nvSpPr>
          <p:cNvPr id="6" name="Shape 3">
            <a:extLst>
              <a:ext uri="{FF2B5EF4-FFF2-40B4-BE49-F238E27FC236}">
                <a16:creationId xmlns:a16="http://schemas.microsoft.com/office/drawing/2014/main" id="{102D354C-3690-4262-82A7-7BF585F7702B}"/>
              </a:ext>
            </a:extLst>
          </p:cNvPr>
          <p:cNvSpPr>
            <a:spLocks noGrp="1"/>
          </p:cNvSpPr>
          <p:nvPr/>
        </p:nvSpPr>
        <p:spPr>
          <a:xfrm>
            <a:off x="841248" y="1353312"/>
            <a:ext cx="2423160" cy="1078992"/>
          </a:xfrm>
          <a:prstGeom prst="roundRect">
            <a:avLst>
              <a:gd name="adj" fmla="val 8475"/>
            </a:avLst>
          </a:prstGeom>
          <a:solidFill>
            <a:srgbClr val="110B22">
              <a:alpha val="96000"/>
            </a:srgbClr>
          </a:solidFill>
          <a:ln w="12700">
            <a:solidFill>
              <a:srgbClr val="42D392">
                <a:alpha val="70000"/>
              </a:srgbClr>
            </a:solidFill>
            <a:prstDash val="solid"/>
          </a:ln>
        </p:spPr>
      </p:sp>
      <p:sp>
        <p:nvSpPr>
          <p:cNvPr id="7" name="Shape 4">
            <a:extLst>
              <a:ext uri="{FF2B5EF4-FFF2-40B4-BE49-F238E27FC236}">
                <a16:creationId xmlns:a16="http://schemas.microsoft.com/office/drawing/2014/main" id="{F83D7409-74CC-4529-9D35-DA7EFFEF7103}"/>
              </a:ext>
            </a:extLst>
          </p:cNvPr>
          <p:cNvSpPr>
            <a:spLocks noGrp="1"/>
          </p:cNvSpPr>
          <p:nvPr/>
        </p:nvSpPr>
        <p:spPr>
          <a:xfrm>
            <a:off x="1005840" y="1517904"/>
            <a:ext cx="201168" cy="201168"/>
          </a:xfrm>
          <a:prstGeom prst="ellipse">
            <a:avLst/>
          </a:prstGeom>
          <a:solidFill>
            <a:srgbClr val="42D392"/>
          </a:solidFill>
          <a:ln w="12700">
            <a:solidFill>
              <a:srgbClr val="42D392">
                <a:alpha val="0"/>
              </a:srgbClr>
            </a:solidFill>
            <a:prstDash val="solid"/>
          </a:ln>
        </p:spPr>
      </p:sp>
      <p:sp>
        <p:nvSpPr>
          <p:cNvPr id="8" name="Text 5">
            <a:extLst>
              <a:ext uri="{FF2B5EF4-FFF2-40B4-BE49-F238E27FC236}">
                <a16:creationId xmlns:a16="http://schemas.microsoft.com/office/drawing/2014/main" id="{13447A65-6CAB-41CF-9C76-F06D3F296A8F}"/>
              </a:ext>
            </a:extLst>
          </p:cNvPr>
          <p:cNvSpPr>
            <a:spLocks noGrp="1"/>
          </p:cNvSpPr>
          <p:nvPr/>
        </p:nvSpPr>
        <p:spPr>
          <a:xfrm>
            <a:off x="1280160" y="1499616"/>
            <a:ext cx="1856232" cy="237744"/>
          </a:xfrm>
          <a:prstGeom prst="rect">
            <a:avLst/>
          </a:prstGeom>
          <a:noFill/>
        </p:spPr>
        <p:txBody>
          <a:bodyPr wrap="square" lIns="0" tIns="0" rIns="0" bIns="0" anchor="ctr"/>
          <a:lstStyle/>
          <a:p>
            <a:pPr marL="0" indent="0">
              <a:buNone/>
            </a:pPr>
            <a:r>
              <a:rPr sz="1050">
                <a:solidFill>
                  <a:srgbClr val="A9A4B7"/>
                </a:solidFill>
                <a:latin typeface="Arial"/>
                <a:ea typeface="Arial"/>
                <a:cs typeface="Arial"/>
              </a:rPr>
              <a:t>EC2 CPU</a:t>
            </a:r>
          </a:p>
        </p:txBody>
      </p:sp>
      <p:sp>
        <p:nvSpPr>
          <p:cNvPr id="9" name="Text 6">
            <a:extLst>
              <a:ext uri="{FF2B5EF4-FFF2-40B4-BE49-F238E27FC236}">
                <a16:creationId xmlns:a16="http://schemas.microsoft.com/office/drawing/2014/main" id="{11B2FDC2-393E-42FC-B8D8-26C278F0E073}"/>
              </a:ext>
            </a:extLst>
          </p:cNvPr>
          <p:cNvSpPr>
            <a:spLocks noGrp="1"/>
          </p:cNvSpPr>
          <p:nvPr/>
        </p:nvSpPr>
        <p:spPr>
          <a:xfrm>
            <a:off x="1005840" y="1856232"/>
            <a:ext cx="2093976" cy="484632"/>
          </a:xfrm>
          <a:prstGeom prst="rect">
            <a:avLst/>
          </a:prstGeom>
          <a:noFill/>
        </p:spPr>
        <p:txBody>
          <a:bodyPr wrap="square" lIns="0" tIns="0" rIns="0" bIns="0" anchor="ctr">
            <a:normAutofit/>
          </a:bodyPr>
          <a:lstStyle/>
          <a:p>
            <a:pPr marL="0" indent="0">
              <a:buNone/>
            </a:pPr>
            <a:r>
              <a:rPr sz="2700" b="1">
                <a:solidFill>
                  <a:srgbClr val="42D392"/>
                </a:solidFill>
                <a:latin typeface="Arial"/>
                <a:ea typeface="Arial"/>
                <a:cs typeface="Arial"/>
              </a:rPr>
              <a:t>18%</a:t>
            </a:r>
          </a:p>
        </p:txBody>
      </p:sp>
      <p:sp>
        <p:nvSpPr>
          <p:cNvPr id="10" name="Shape 7">
            <a:extLst>
              <a:ext uri="{FF2B5EF4-FFF2-40B4-BE49-F238E27FC236}">
                <a16:creationId xmlns:a16="http://schemas.microsoft.com/office/drawing/2014/main" id="{5BF17F5F-0DD5-4862-8F51-55BA2DAA5769}"/>
              </a:ext>
            </a:extLst>
          </p:cNvPr>
          <p:cNvSpPr>
            <a:spLocks noGrp="1"/>
          </p:cNvSpPr>
          <p:nvPr/>
        </p:nvSpPr>
        <p:spPr>
          <a:xfrm>
            <a:off x="3547872" y="1353312"/>
            <a:ext cx="2423160" cy="1078992"/>
          </a:xfrm>
          <a:prstGeom prst="roundRect">
            <a:avLst>
              <a:gd name="adj" fmla="val 8475"/>
            </a:avLst>
          </a:prstGeom>
          <a:solidFill>
            <a:srgbClr val="110B22">
              <a:alpha val="96000"/>
            </a:srgbClr>
          </a:solidFill>
          <a:ln w="12700">
            <a:solidFill>
              <a:srgbClr val="42D392">
                <a:alpha val="70000"/>
              </a:srgbClr>
            </a:solidFill>
            <a:prstDash val="solid"/>
          </a:ln>
        </p:spPr>
      </p:sp>
      <p:sp>
        <p:nvSpPr>
          <p:cNvPr id="11" name="Shape 8">
            <a:extLst>
              <a:ext uri="{FF2B5EF4-FFF2-40B4-BE49-F238E27FC236}">
                <a16:creationId xmlns:a16="http://schemas.microsoft.com/office/drawing/2014/main" id="{82CACCB1-F668-411B-9CE8-3A0B8637D356}"/>
              </a:ext>
            </a:extLst>
          </p:cNvPr>
          <p:cNvSpPr>
            <a:spLocks noGrp="1"/>
          </p:cNvSpPr>
          <p:nvPr/>
        </p:nvSpPr>
        <p:spPr>
          <a:xfrm>
            <a:off x="3712464" y="1517904"/>
            <a:ext cx="201168" cy="201168"/>
          </a:xfrm>
          <a:prstGeom prst="ellipse">
            <a:avLst/>
          </a:prstGeom>
          <a:solidFill>
            <a:srgbClr val="42D392"/>
          </a:solidFill>
          <a:ln w="12700">
            <a:solidFill>
              <a:srgbClr val="42D392">
                <a:alpha val="0"/>
              </a:srgbClr>
            </a:solidFill>
            <a:prstDash val="solid"/>
          </a:ln>
        </p:spPr>
      </p:sp>
      <p:sp>
        <p:nvSpPr>
          <p:cNvPr id="12" name="Text 9">
            <a:extLst>
              <a:ext uri="{FF2B5EF4-FFF2-40B4-BE49-F238E27FC236}">
                <a16:creationId xmlns:a16="http://schemas.microsoft.com/office/drawing/2014/main" id="{EEDC1E46-3B70-47F1-A1FD-242D650FDDB5}"/>
              </a:ext>
            </a:extLst>
          </p:cNvPr>
          <p:cNvSpPr>
            <a:spLocks noGrp="1"/>
          </p:cNvSpPr>
          <p:nvPr/>
        </p:nvSpPr>
        <p:spPr>
          <a:xfrm>
            <a:off x="3986784" y="1499616"/>
            <a:ext cx="1856232" cy="237744"/>
          </a:xfrm>
          <a:prstGeom prst="rect">
            <a:avLst/>
          </a:prstGeom>
          <a:noFill/>
        </p:spPr>
        <p:txBody>
          <a:bodyPr wrap="square" lIns="0" tIns="0" rIns="0" bIns="0" anchor="ctr"/>
          <a:lstStyle/>
          <a:p>
            <a:pPr marL="0" indent="0">
              <a:buNone/>
            </a:pPr>
            <a:r>
              <a:rPr sz="1050">
                <a:solidFill>
                  <a:srgbClr val="A9A4B7"/>
                </a:solidFill>
                <a:latin typeface="Arial"/>
                <a:ea typeface="Arial"/>
                <a:cs typeface="Arial"/>
              </a:rPr>
              <a:t>Memory</a:t>
            </a:r>
          </a:p>
        </p:txBody>
      </p:sp>
      <p:sp>
        <p:nvSpPr>
          <p:cNvPr id="13" name="Text 10">
            <a:extLst>
              <a:ext uri="{FF2B5EF4-FFF2-40B4-BE49-F238E27FC236}">
                <a16:creationId xmlns:a16="http://schemas.microsoft.com/office/drawing/2014/main" id="{A90C1596-8E13-4C50-A547-D38B90EC3DD9}"/>
              </a:ext>
            </a:extLst>
          </p:cNvPr>
          <p:cNvSpPr>
            <a:spLocks noGrp="1"/>
          </p:cNvSpPr>
          <p:nvPr/>
        </p:nvSpPr>
        <p:spPr>
          <a:xfrm>
            <a:off x="3712464" y="1856232"/>
            <a:ext cx="2093976" cy="484632"/>
          </a:xfrm>
          <a:prstGeom prst="rect">
            <a:avLst/>
          </a:prstGeom>
          <a:noFill/>
        </p:spPr>
        <p:txBody>
          <a:bodyPr wrap="square" lIns="0" tIns="0" rIns="0" bIns="0" anchor="ctr">
            <a:normAutofit/>
          </a:bodyPr>
          <a:lstStyle/>
          <a:p>
            <a:pPr marL="0" indent="0">
              <a:buNone/>
            </a:pPr>
            <a:r>
              <a:rPr sz="2700" b="1">
                <a:solidFill>
                  <a:srgbClr val="42D392"/>
                </a:solidFill>
                <a:latin typeface="Arial"/>
                <a:ea typeface="Arial"/>
                <a:cs typeface="Arial"/>
              </a:rPr>
              <a:t>42%</a:t>
            </a:r>
          </a:p>
        </p:txBody>
      </p:sp>
      <p:sp>
        <p:nvSpPr>
          <p:cNvPr id="14" name="Shape 11">
            <a:extLst>
              <a:ext uri="{FF2B5EF4-FFF2-40B4-BE49-F238E27FC236}">
                <a16:creationId xmlns:a16="http://schemas.microsoft.com/office/drawing/2014/main" id="{3C7FF6E7-66AE-476D-A434-A077278C87D3}"/>
              </a:ext>
            </a:extLst>
          </p:cNvPr>
          <p:cNvSpPr>
            <a:spLocks noGrp="1"/>
          </p:cNvSpPr>
          <p:nvPr/>
        </p:nvSpPr>
        <p:spPr>
          <a:xfrm>
            <a:off x="6254496" y="1353312"/>
            <a:ext cx="2423160" cy="1078992"/>
          </a:xfrm>
          <a:prstGeom prst="roundRect">
            <a:avLst>
              <a:gd name="adj" fmla="val 8475"/>
            </a:avLst>
          </a:prstGeom>
          <a:solidFill>
            <a:srgbClr val="110B22">
              <a:alpha val="96000"/>
            </a:srgbClr>
          </a:solidFill>
          <a:ln w="12700">
            <a:solidFill>
              <a:srgbClr val="42D392">
                <a:alpha val="70000"/>
              </a:srgbClr>
            </a:solidFill>
            <a:prstDash val="solid"/>
          </a:ln>
        </p:spPr>
      </p:sp>
      <p:sp>
        <p:nvSpPr>
          <p:cNvPr id="15" name="Shape 12">
            <a:extLst>
              <a:ext uri="{FF2B5EF4-FFF2-40B4-BE49-F238E27FC236}">
                <a16:creationId xmlns:a16="http://schemas.microsoft.com/office/drawing/2014/main" id="{61AB3C9B-30B2-4648-A0D2-9B792B1B0934}"/>
              </a:ext>
            </a:extLst>
          </p:cNvPr>
          <p:cNvSpPr>
            <a:spLocks noGrp="1"/>
          </p:cNvSpPr>
          <p:nvPr/>
        </p:nvSpPr>
        <p:spPr>
          <a:xfrm>
            <a:off x="6419088" y="1517904"/>
            <a:ext cx="201168" cy="201168"/>
          </a:xfrm>
          <a:prstGeom prst="ellipse">
            <a:avLst/>
          </a:prstGeom>
          <a:solidFill>
            <a:srgbClr val="42D392"/>
          </a:solidFill>
          <a:ln w="12700">
            <a:solidFill>
              <a:srgbClr val="42D392">
                <a:alpha val="0"/>
              </a:srgbClr>
            </a:solidFill>
            <a:prstDash val="solid"/>
          </a:ln>
        </p:spPr>
      </p:sp>
      <p:sp>
        <p:nvSpPr>
          <p:cNvPr id="16" name="Text 13">
            <a:extLst>
              <a:ext uri="{FF2B5EF4-FFF2-40B4-BE49-F238E27FC236}">
                <a16:creationId xmlns:a16="http://schemas.microsoft.com/office/drawing/2014/main" id="{6A4A08F6-83B4-494C-B7FD-15CAFA8C988B}"/>
              </a:ext>
            </a:extLst>
          </p:cNvPr>
          <p:cNvSpPr>
            <a:spLocks noGrp="1"/>
          </p:cNvSpPr>
          <p:nvPr/>
        </p:nvSpPr>
        <p:spPr>
          <a:xfrm>
            <a:off x="6693408" y="1499616"/>
            <a:ext cx="1856232" cy="237744"/>
          </a:xfrm>
          <a:prstGeom prst="rect">
            <a:avLst/>
          </a:prstGeom>
          <a:noFill/>
        </p:spPr>
        <p:txBody>
          <a:bodyPr wrap="square" lIns="0" tIns="0" rIns="0" bIns="0" anchor="ctr"/>
          <a:lstStyle/>
          <a:p>
            <a:pPr marL="0" indent="0">
              <a:buNone/>
            </a:pPr>
            <a:r>
              <a:rPr sz="1050">
                <a:solidFill>
                  <a:srgbClr val="A9A4B7"/>
                </a:solidFill>
                <a:latin typeface="Arial"/>
                <a:ea typeface="Arial"/>
                <a:cs typeface="Arial"/>
              </a:rPr>
              <a:t>ALB Healthy Host</a:t>
            </a:r>
          </a:p>
        </p:txBody>
      </p:sp>
      <p:sp>
        <p:nvSpPr>
          <p:cNvPr id="17" name="Text 14">
            <a:extLst>
              <a:ext uri="{FF2B5EF4-FFF2-40B4-BE49-F238E27FC236}">
                <a16:creationId xmlns:a16="http://schemas.microsoft.com/office/drawing/2014/main" id="{319B8825-D2CB-4662-A7E3-330833FE34CB}"/>
              </a:ext>
            </a:extLst>
          </p:cNvPr>
          <p:cNvSpPr>
            <a:spLocks noGrp="1"/>
          </p:cNvSpPr>
          <p:nvPr/>
        </p:nvSpPr>
        <p:spPr>
          <a:xfrm>
            <a:off x="6419088" y="1856232"/>
            <a:ext cx="2093976" cy="484632"/>
          </a:xfrm>
          <a:prstGeom prst="rect">
            <a:avLst/>
          </a:prstGeom>
          <a:noFill/>
        </p:spPr>
        <p:txBody>
          <a:bodyPr wrap="square" lIns="0" tIns="0" rIns="0" bIns="0" anchor="ctr">
            <a:normAutofit/>
          </a:bodyPr>
          <a:lstStyle/>
          <a:p>
            <a:pPr marL="0" indent="0">
              <a:buNone/>
            </a:pPr>
            <a:r>
              <a:rPr sz="2700" b="1">
                <a:solidFill>
                  <a:srgbClr val="42D392"/>
                </a:solidFill>
                <a:latin typeface="Arial"/>
                <a:ea typeface="Arial"/>
                <a:cs typeface="Arial"/>
              </a:rPr>
              <a:t>2/2</a:t>
            </a:r>
          </a:p>
        </p:txBody>
      </p:sp>
      <p:sp>
        <p:nvSpPr>
          <p:cNvPr id="18" name="Shape 15">
            <a:extLst>
              <a:ext uri="{FF2B5EF4-FFF2-40B4-BE49-F238E27FC236}">
                <a16:creationId xmlns:a16="http://schemas.microsoft.com/office/drawing/2014/main" id="{613E5A96-F49D-4DD5-8FDC-FBE53D808513}"/>
              </a:ext>
            </a:extLst>
          </p:cNvPr>
          <p:cNvSpPr>
            <a:spLocks noGrp="1"/>
          </p:cNvSpPr>
          <p:nvPr/>
        </p:nvSpPr>
        <p:spPr>
          <a:xfrm>
            <a:off x="8961120" y="1353312"/>
            <a:ext cx="2423160" cy="1078992"/>
          </a:xfrm>
          <a:prstGeom prst="roundRect">
            <a:avLst>
              <a:gd name="adj" fmla="val 8475"/>
            </a:avLst>
          </a:prstGeom>
          <a:solidFill>
            <a:srgbClr val="110B22">
              <a:alpha val="96000"/>
            </a:srgbClr>
          </a:solidFill>
          <a:ln w="12700">
            <a:solidFill>
              <a:srgbClr val="42D392">
                <a:alpha val="70000"/>
              </a:srgbClr>
            </a:solidFill>
            <a:prstDash val="solid"/>
          </a:ln>
        </p:spPr>
      </p:sp>
      <p:sp>
        <p:nvSpPr>
          <p:cNvPr id="19" name="Shape 16">
            <a:extLst>
              <a:ext uri="{FF2B5EF4-FFF2-40B4-BE49-F238E27FC236}">
                <a16:creationId xmlns:a16="http://schemas.microsoft.com/office/drawing/2014/main" id="{86F5CD5B-1ECE-483D-A345-F767A4CAC9DF}"/>
              </a:ext>
            </a:extLst>
          </p:cNvPr>
          <p:cNvSpPr>
            <a:spLocks noGrp="1"/>
          </p:cNvSpPr>
          <p:nvPr/>
        </p:nvSpPr>
        <p:spPr>
          <a:xfrm>
            <a:off x="9125712" y="1517904"/>
            <a:ext cx="201168" cy="201168"/>
          </a:xfrm>
          <a:prstGeom prst="ellipse">
            <a:avLst/>
          </a:prstGeom>
          <a:solidFill>
            <a:srgbClr val="42D392"/>
          </a:solidFill>
          <a:ln w="12700">
            <a:solidFill>
              <a:srgbClr val="42D392">
                <a:alpha val="0"/>
              </a:srgbClr>
            </a:solidFill>
            <a:prstDash val="solid"/>
          </a:ln>
        </p:spPr>
      </p:sp>
      <p:sp>
        <p:nvSpPr>
          <p:cNvPr id="20" name="Text 17">
            <a:extLst>
              <a:ext uri="{FF2B5EF4-FFF2-40B4-BE49-F238E27FC236}">
                <a16:creationId xmlns:a16="http://schemas.microsoft.com/office/drawing/2014/main" id="{F0A08A64-6F84-4616-9D45-A6E310A90688}"/>
              </a:ext>
            </a:extLst>
          </p:cNvPr>
          <p:cNvSpPr>
            <a:spLocks noGrp="1"/>
          </p:cNvSpPr>
          <p:nvPr/>
        </p:nvSpPr>
        <p:spPr>
          <a:xfrm>
            <a:off x="9400032" y="1499616"/>
            <a:ext cx="1856232" cy="237744"/>
          </a:xfrm>
          <a:prstGeom prst="rect">
            <a:avLst/>
          </a:prstGeom>
          <a:noFill/>
        </p:spPr>
        <p:txBody>
          <a:bodyPr wrap="square" lIns="0" tIns="0" rIns="0" bIns="0" anchor="ctr"/>
          <a:lstStyle/>
          <a:p>
            <a:pPr marL="0" indent="0">
              <a:buNone/>
            </a:pPr>
            <a:r>
              <a:rPr sz="1050">
                <a:solidFill>
                  <a:srgbClr val="A9A4B7"/>
                </a:solidFill>
                <a:latin typeface="Arial"/>
                <a:ea typeface="Arial"/>
                <a:cs typeface="Arial"/>
              </a:rPr>
              <a:t>/health</a:t>
            </a:r>
          </a:p>
        </p:txBody>
      </p:sp>
      <p:sp>
        <p:nvSpPr>
          <p:cNvPr id="21" name="Text 18">
            <a:extLst>
              <a:ext uri="{FF2B5EF4-FFF2-40B4-BE49-F238E27FC236}">
                <a16:creationId xmlns:a16="http://schemas.microsoft.com/office/drawing/2014/main" id="{0D3E71FC-B07F-41E5-BDBD-35BB3BA77D68}"/>
              </a:ext>
            </a:extLst>
          </p:cNvPr>
          <p:cNvSpPr>
            <a:spLocks noGrp="1"/>
          </p:cNvSpPr>
          <p:nvPr/>
        </p:nvSpPr>
        <p:spPr>
          <a:xfrm>
            <a:off x="9125712" y="1856232"/>
            <a:ext cx="2093976" cy="484632"/>
          </a:xfrm>
          <a:prstGeom prst="rect">
            <a:avLst/>
          </a:prstGeom>
          <a:noFill/>
        </p:spPr>
        <p:txBody>
          <a:bodyPr wrap="square" lIns="0" tIns="0" rIns="0" bIns="0" anchor="ctr">
            <a:normAutofit/>
          </a:bodyPr>
          <a:lstStyle/>
          <a:p>
            <a:pPr marL="0" indent="0">
              <a:buNone/>
            </a:pPr>
            <a:r>
              <a:rPr sz="2400" b="1">
                <a:solidFill>
                  <a:srgbClr val="42D392"/>
                </a:solidFill>
                <a:latin typeface="Arial"/>
                <a:ea typeface="Arial"/>
                <a:cs typeface="Arial"/>
              </a:rPr>
              <a:t>200 OK</a:t>
            </a:r>
          </a:p>
        </p:txBody>
      </p:sp>
      <p:sp>
        <p:nvSpPr>
          <p:cNvPr id="22" name="Shape 19">
            <a:extLst>
              <a:ext uri="{FF2B5EF4-FFF2-40B4-BE49-F238E27FC236}">
                <a16:creationId xmlns:a16="http://schemas.microsoft.com/office/drawing/2014/main" id="{DAD71C27-2D3E-438A-B8B3-1368C9B80274}"/>
              </a:ext>
            </a:extLst>
          </p:cNvPr>
          <p:cNvSpPr>
            <a:spLocks noGrp="1"/>
          </p:cNvSpPr>
          <p:nvPr/>
        </p:nvSpPr>
        <p:spPr>
          <a:xfrm>
            <a:off x="960120" y="3063240"/>
            <a:ext cx="4526280" cy="1389888"/>
          </a:xfrm>
          <a:prstGeom prst="roundRect">
            <a:avLst>
              <a:gd name="adj" fmla="val 6579"/>
            </a:avLst>
          </a:prstGeom>
          <a:solidFill>
            <a:srgbClr val="0B0618">
              <a:alpha val="96000"/>
            </a:srgbClr>
          </a:solidFill>
          <a:ln w="12700">
            <a:solidFill>
              <a:srgbClr val="342B4F"/>
            </a:solidFill>
            <a:prstDash val="solid"/>
          </a:ln>
        </p:spPr>
      </p:sp>
      <p:sp>
        <p:nvSpPr>
          <p:cNvPr id="23" name="Shape 20">
            <a:extLst>
              <a:ext uri="{FF2B5EF4-FFF2-40B4-BE49-F238E27FC236}">
                <a16:creationId xmlns:a16="http://schemas.microsoft.com/office/drawing/2014/main" id="{E57B711C-BEDF-4D91-8AE7-E975F3A4508F}"/>
              </a:ext>
            </a:extLst>
          </p:cNvPr>
          <p:cNvSpPr>
            <a:spLocks noGrp="1"/>
          </p:cNvSpPr>
          <p:nvPr/>
        </p:nvSpPr>
        <p:spPr>
          <a:xfrm>
            <a:off x="1124712" y="3246120"/>
            <a:ext cx="4197096" cy="0"/>
          </a:xfrm>
          <a:prstGeom prst="line">
            <a:avLst/>
          </a:prstGeom>
          <a:noFill/>
          <a:ln w="6985">
            <a:solidFill>
              <a:srgbClr val="251C3A"/>
            </a:solidFill>
            <a:prstDash val="solid"/>
          </a:ln>
        </p:spPr>
      </p:sp>
      <p:sp>
        <p:nvSpPr>
          <p:cNvPr id="24" name="Shape 21">
            <a:extLst>
              <a:ext uri="{FF2B5EF4-FFF2-40B4-BE49-F238E27FC236}">
                <a16:creationId xmlns:a16="http://schemas.microsoft.com/office/drawing/2014/main" id="{16841821-050E-450F-8354-6510E6ED5AB2}"/>
              </a:ext>
            </a:extLst>
          </p:cNvPr>
          <p:cNvSpPr>
            <a:spLocks noGrp="1"/>
          </p:cNvSpPr>
          <p:nvPr/>
        </p:nvSpPr>
        <p:spPr>
          <a:xfrm>
            <a:off x="1124712" y="3581400"/>
            <a:ext cx="4197096" cy="0"/>
          </a:xfrm>
          <a:prstGeom prst="line">
            <a:avLst/>
          </a:prstGeom>
          <a:noFill/>
          <a:ln w="6985">
            <a:solidFill>
              <a:srgbClr val="251C3A"/>
            </a:solidFill>
            <a:prstDash val="solid"/>
          </a:ln>
        </p:spPr>
      </p:sp>
      <p:sp>
        <p:nvSpPr>
          <p:cNvPr id="25" name="Shape 22">
            <a:extLst>
              <a:ext uri="{FF2B5EF4-FFF2-40B4-BE49-F238E27FC236}">
                <a16:creationId xmlns:a16="http://schemas.microsoft.com/office/drawing/2014/main" id="{0798F954-7D6C-41CD-8B0D-DE372F8F1418}"/>
              </a:ext>
            </a:extLst>
          </p:cNvPr>
          <p:cNvSpPr>
            <a:spLocks noGrp="1"/>
          </p:cNvSpPr>
          <p:nvPr/>
        </p:nvSpPr>
        <p:spPr>
          <a:xfrm>
            <a:off x="1124712" y="3916680"/>
            <a:ext cx="4197096" cy="0"/>
          </a:xfrm>
          <a:prstGeom prst="line">
            <a:avLst/>
          </a:prstGeom>
          <a:noFill/>
          <a:ln w="6985">
            <a:solidFill>
              <a:srgbClr val="251C3A"/>
            </a:solidFill>
            <a:prstDash val="solid"/>
          </a:ln>
        </p:spPr>
      </p:sp>
      <p:sp>
        <p:nvSpPr>
          <p:cNvPr id="26" name="Shape 23">
            <a:extLst>
              <a:ext uri="{FF2B5EF4-FFF2-40B4-BE49-F238E27FC236}">
                <a16:creationId xmlns:a16="http://schemas.microsoft.com/office/drawing/2014/main" id="{C1054894-BA64-451A-BDC3-F5B1CA3F044B}"/>
              </a:ext>
            </a:extLst>
          </p:cNvPr>
          <p:cNvSpPr>
            <a:spLocks noGrp="1"/>
          </p:cNvSpPr>
          <p:nvPr/>
        </p:nvSpPr>
        <p:spPr>
          <a:xfrm>
            <a:off x="1124712" y="4251960"/>
            <a:ext cx="4197096" cy="0"/>
          </a:xfrm>
          <a:prstGeom prst="line">
            <a:avLst/>
          </a:prstGeom>
          <a:noFill/>
          <a:ln w="6985">
            <a:solidFill>
              <a:srgbClr val="251C3A"/>
            </a:solidFill>
            <a:prstDash val="solid"/>
          </a:ln>
        </p:spPr>
      </p:sp>
      <p:sp>
        <p:nvSpPr>
          <p:cNvPr id="27" name="Shape 24">
            <a:extLst>
              <a:ext uri="{FF2B5EF4-FFF2-40B4-BE49-F238E27FC236}">
                <a16:creationId xmlns:a16="http://schemas.microsoft.com/office/drawing/2014/main" id="{06FC81CB-7C6F-450F-A160-E7177C8DDE93}"/>
              </a:ext>
            </a:extLst>
          </p:cNvPr>
          <p:cNvSpPr>
            <a:spLocks noGrp="1"/>
          </p:cNvSpPr>
          <p:nvPr/>
        </p:nvSpPr>
        <p:spPr>
          <a:xfrm flipV="1">
            <a:off x="1684325" y="3924971"/>
            <a:ext cx="724205" cy="222382"/>
          </a:xfrm>
          <a:prstGeom prst="line">
            <a:avLst/>
          </a:prstGeom>
          <a:noFill/>
          <a:ln w="30480">
            <a:solidFill>
              <a:srgbClr val="42D392"/>
            </a:solidFill>
            <a:prstDash val="solid"/>
          </a:ln>
        </p:spPr>
      </p:sp>
      <p:sp>
        <p:nvSpPr>
          <p:cNvPr id="28" name="Shape 25">
            <a:extLst>
              <a:ext uri="{FF2B5EF4-FFF2-40B4-BE49-F238E27FC236}">
                <a16:creationId xmlns:a16="http://schemas.microsoft.com/office/drawing/2014/main" id="{38E63E5A-DFDC-4CC2-B6A7-8F2DD4449FBB}"/>
              </a:ext>
            </a:extLst>
          </p:cNvPr>
          <p:cNvSpPr>
            <a:spLocks noGrp="1"/>
          </p:cNvSpPr>
          <p:nvPr/>
        </p:nvSpPr>
        <p:spPr>
          <a:xfrm>
            <a:off x="2408530" y="3924971"/>
            <a:ext cx="724205" cy="55596"/>
          </a:xfrm>
          <a:prstGeom prst="line">
            <a:avLst/>
          </a:prstGeom>
          <a:noFill/>
          <a:ln w="30480">
            <a:solidFill>
              <a:srgbClr val="42D392"/>
            </a:solidFill>
            <a:prstDash val="solid"/>
          </a:ln>
        </p:spPr>
      </p:sp>
      <p:sp>
        <p:nvSpPr>
          <p:cNvPr id="29" name="Shape 26">
            <a:extLst>
              <a:ext uri="{FF2B5EF4-FFF2-40B4-BE49-F238E27FC236}">
                <a16:creationId xmlns:a16="http://schemas.microsoft.com/office/drawing/2014/main" id="{508DE799-BD1E-43FD-B11F-326D432A94A8}"/>
              </a:ext>
            </a:extLst>
          </p:cNvPr>
          <p:cNvSpPr>
            <a:spLocks noGrp="1"/>
          </p:cNvSpPr>
          <p:nvPr/>
        </p:nvSpPr>
        <p:spPr>
          <a:xfrm flipV="1">
            <a:off x="3132734" y="3646993"/>
            <a:ext cx="724205" cy="333573"/>
          </a:xfrm>
          <a:prstGeom prst="line">
            <a:avLst/>
          </a:prstGeom>
          <a:noFill/>
          <a:ln w="30480">
            <a:solidFill>
              <a:srgbClr val="42D392"/>
            </a:solidFill>
            <a:prstDash val="solid"/>
          </a:ln>
        </p:spPr>
      </p:sp>
      <p:sp>
        <p:nvSpPr>
          <p:cNvPr id="30" name="Shape 27">
            <a:extLst>
              <a:ext uri="{FF2B5EF4-FFF2-40B4-BE49-F238E27FC236}">
                <a16:creationId xmlns:a16="http://schemas.microsoft.com/office/drawing/2014/main" id="{AF88874B-345F-407D-AB50-D0A942C006B6}"/>
              </a:ext>
            </a:extLst>
          </p:cNvPr>
          <p:cNvSpPr>
            <a:spLocks noGrp="1"/>
          </p:cNvSpPr>
          <p:nvPr/>
        </p:nvSpPr>
        <p:spPr>
          <a:xfrm>
            <a:off x="3856939" y="3646993"/>
            <a:ext cx="724205" cy="0"/>
          </a:xfrm>
          <a:prstGeom prst="line">
            <a:avLst/>
          </a:prstGeom>
          <a:noFill/>
          <a:ln w="30480">
            <a:solidFill>
              <a:srgbClr val="42D392"/>
            </a:solidFill>
            <a:prstDash val="solid"/>
          </a:ln>
        </p:spPr>
      </p:sp>
      <p:sp>
        <p:nvSpPr>
          <p:cNvPr id="31" name="Shape 28">
            <a:extLst>
              <a:ext uri="{FF2B5EF4-FFF2-40B4-BE49-F238E27FC236}">
                <a16:creationId xmlns:a16="http://schemas.microsoft.com/office/drawing/2014/main" id="{1B71FC88-1381-4FB5-8FE2-4DA999B10AB3}"/>
              </a:ext>
            </a:extLst>
          </p:cNvPr>
          <p:cNvSpPr>
            <a:spLocks noGrp="1"/>
          </p:cNvSpPr>
          <p:nvPr/>
        </p:nvSpPr>
        <p:spPr>
          <a:xfrm>
            <a:off x="4581144" y="3646993"/>
            <a:ext cx="633679" cy="0"/>
          </a:xfrm>
          <a:prstGeom prst="line">
            <a:avLst/>
          </a:prstGeom>
          <a:noFill/>
          <a:ln w="30480">
            <a:solidFill>
              <a:srgbClr val="42D392"/>
            </a:solidFill>
            <a:prstDash val="solid"/>
          </a:ln>
        </p:spPr>
      </p:sp>
      <p:sp>
        <p:nvSpPr>
          <p:cNvPr id="32" name="Text 29">
            <a:extLst>
              <a:ext uri="{FF2B5EF4-FFF2-40B4-BE49-F238E27FC236}">
                <a16:creationId xmlns:a16="http://schemas.microsoft.com/office/drawing/2014/main" id="{8268C42C-44DE-49FB-94C3-E37A56E09022}"/>
              </a:ext>
            </a:extLst>
          </p:cNvPr>
          <p:cNvSpPr>
            <a:spLocks noGrp="1"/>
          </p:cNvSpPr>
          <p:nvPr/>
        </p:nvSpPr>
        <p:spPr>
          <a:xfrm>
            <a:off x="1097280" y="3264408"/>
            <a:ext cx="1828800" cy="164592"/>
          </a:xfrm>
          <a:prstGeom prst="rect">
            <a:avLst/>
          </a:prstGeom>
          <a:noFill/>
        </p:spPr>
        <p:txBody>
          <a:bodyPr wrap="square" lIns="0" tIns="0" rIns="0" bIns="0" anchor="ctr"/>
          <a:lstStyle/>
          <a:p>
            <a:pPr marL="0" indent="0">
              <a:buNone/>
            </a:pPr>
            <a:r>
              <a:rPr sz="1000" b="1">
                <a:solidFill>
                  <a:srgbClr val="A9A4B7"/>
                </a:solidFill>
                <a:latin typeface="Arial"/>
                <a:ea typeface="Arial"/>
                <a:cs typeface="Arial"/>
              </a:rPr>
              <a:t>Infrastructure view</a:t>
            </a:r>
          </a:p>
        </p:txBody>
      </p:sp>
      <p:pic>
        <p:nvPicPr>
          <p:cNvPr id="65" name="Picture 35"/>
          <p:cNvPicPr>
            <a:picLocks noChangeAspect="1"/>
          </p:cNvPicPr>
          <p:nvPr/>
        </p:nvPicPr>
        <p:blipFill>
          <a:blip r:embed="rId4"/>
          <a:stretch>
            <a:fillRect/>
          </a:stretch>
        </p:blipFill>
        <p:spPr>
          <a:xfrm>
            <a:off x="7066494" y="2791360"/>
            <a:ext cx="2633450" cy="3212809"/>
          </a:xfrm>
          <a:prstGeom prst="rect">
            <a:avLst/>
          </a:prstGeom>
        </p:spPr>
      </p:pic>
    </p:spTree>
    <p:extLst>
      <p:ext uri="{BB962C8B-B14F-4D97-AF65-F5344CB8AC3E}">
        <p14:creationId xmlns:p14="http://schemas.microsoft.com/office/powerpoint/2010/main" val="2100179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00C2DF37-6EAE-497C-947A-35E9D223BCDC}"/>
              </a:ext>
            </a:extLst>
          </p:cNvPr>
          <p:cNvSpPr>
            <a:spLocks noGrp="1"/>
          </p:cNvSpPr>
          <p:nvPr/>
        </p:nvSpPr>
        <p:spPr>
          <a:xfrm>
            <a:off x="658368" y="310896"/>
            <a:ext cx="4114800" cy="201168"/>
          </a:xfrm>
          <a:prstGeom prst="rect">
            <a:avLst/>
          </a:prstGeom>
          <a:noFill/>
        </p:spPr>
        <p:txBody>
          <a:bodyPr wrap="square" lIns="0" tIns="0" rIns="0" bIns="0" anchor="ctr"/>
          <a:lstStyle/>
          <a:p>
            <a:pPr marL="0" indent="0">
              <a:buNone/>
            </a:pPr>
            <a:r>
              <a:rPr sz="850" b="1">
                <a:solidFill>
                  <a:srgbClr val="FF9900"/>
                </a:solidFill>
                <a:latin typeface="Arial"/>
                <a:ea typeface="Arial"/>
                <a:cs typeface="Arial"/>
              </a:rPr>
              <a:t>ALERTING FLOW</a:t>
            </a:r>
          </a:p>
        </p:txBody>
      </p:sp>
      <p:sp>
        <p:nvSpPr>
          <p:cNvPr id="4" name="Text 1">
            <a:extLst>
              <a:ext uri="{FF2B5EF4-FFF2-40B4-BE49-F238E27FC236}">
                <a16:creationId xmlns:a16="http://schemas.microsoft.com/office/drawing/2014/main" id="{0E212BB3-ADBD-4C7E-9658-462645511757}"/>
              </a:ext>
            </a:extLst>
          </p:cNvPr>
          <p:cNvSpPr>
            <a:spLocks noGrp="1"/>
          </p:cNvSpPr>
          <p:nvPr/>
        </p:nvSpPr>
        <p:spPr>
          <a:xfrm>
            <a:off x="658368" y="530352"/>
            <a:ext cx="10881360" cy="457200"/>
          </a:xfrm>
          <a:prstGeom prst="rect">
            <a:avLst/>
          </a:prstGeom>
          <a:noFill/>
        </p:spPr>
        <p:txBody>
          <a:bodyPr wrap="square" lIns="0" tIns="0" rIns="0" bIns="0" anchor="ctr">
            <a:normAutofit/>
          </a:bodyPr>
          <a:lstStyle/>
          <a:p>
            <a:pPr marL="0" indent="0">
              <a:buNone/>
            </a:pPr>
            <a:r>
              <a:rPr sz="3000" b="1">
                <a:solidFill>
                  <a:srgbClr val="FFFFFF"/>
                </a:solidFill>
                <a:latin typeface="Arial"/>
                <a:ea typeface="Arial"/>
                <a:cs typeface="Arial"/>
              </a:rPr>
              <a:t>From metric to alert</a:t>
            </a:r>
          </a:p>
        </p:txBody>
      </p:sp>
      <p:sp>
        <p:nvSpPr>
          <p:cNvPr id="5" name="Text 2">
            <a:extLst>
              <a:ext uri="{FF2B5EF4-FFF2-40B4-BE49-F238E27FC236}">
                <a16:creationId xmlns:a16="http://schemas.microsoft.com/office/drawing/2014/main" id="{47DEBDEC-E305-4CF7-9BF0-6A6892206146}"/>
              </a:ext>
            </a:extLst>
          </p:cNvPr>
          <p:cNvSpPr>
            <a:spLocks noGrp="1"/>
          </p:cNvSpPr>
          <p:nvPr/>
        </p:nvSpPr>
        <p:spPr>
          <a:xfrm>
            <a:off x="658368" y="1042416"/>
            <a:ext cx="10881360" cy="201168"/>
          </a:xfrm>
          <a:prstGeom prst="rect">
            <a:avLst/>
          </a:prstGeom>
          <a:noFill/>
        </p:spPr>
        <p:txBody>
          <a:bodyPr wrap="square" lIns="0" tIns="0" rIns="0" bIns="0" anchor="ctr"/>
          <a:lstStyle/>
          <a:p>
            <a:pPr marL="0" indent="0">
              <a:buNone/>
            </a:pPr>
            <a:r>
              <a:rPr sz="1400">
                <a:solidFill>
                  <a:srgbClr val="A9A4B7"/>
                </a:solidFill>
                <a:latin typeface="Arial"/>
                <a:ea typeface="Arial"/>
                <a:cs typeface="Arial"/>
              </a:rPr>
              <a:t>Monitoring is valuable when it give you information before customer complaint</a:t>
            </a:r>
          </a:p>
        </p:txBody>
      </p:sp>
      <p:sp>
        <p:nvSpPr>
          <p:cNvPr id="6" name="Shape 3">
            <a:extLst>
              <a:ext uri="{FF2B5EF4-FFF2-40B4-BE49-F238E27FC236}">
                <a16:creationId xmlns:a16="http://schemas.microsoft.com/office/drawing/2014/main" id="{BB58709D-B44A-4B63-A8A0-1809E65D156B}"/>
              </a:ext>
            </a:extLst>
          </p:cNvPr>
          <p:cNvSpPr>
            <a:spLocks noGrp="1"/>
          </p:cNvSpPr>
          <p:nvPr/>
        </p:nvSpPr>
        <p:spPr>
          <a:xfrm>
            <a:off x="841248" y="2304288"/>
            <a:ext cx="1965960" cy="987552"/>
          </a:xfrm>
          <a:prstGeom prst="roundRect">
            <a:avLst>
              <a:gd name="adj" fmla="val 9259"/>
            </a:avLst>
          </a:prstGeom>
          <a:solidFill>
            <a:srgbClr val="110B22">
              <a:alpha val="96000"/>
            </a:srgbClr>
          </a:solidFill>
          <a:ln w="12700">
            <a:solidFill>
              <a:srgbClr val="FF5A6E"/>
            </a:solidFill>
            <a:prstDash val="solid"/>
          </a:ln>
        </p:spPr>
      </p:sp>
      <p:sp>
        <p:nvSpPr>
          <p:cNvPr id="7" name="Text 4">
            <a:extLst>
              <a:ext uri="{FF2B5EF4-FFF2-40B4-BE49-F238E27FC236}">
                <a16:creationId xmlns:a16="http://schemas.microsoft.com/office/drawing/2014/main" id="{CE37CA98-AA11-4EE1-9F46-D1EA9F9BEBC7}"/>
              </a:ext>
            </a:extLst>
          </p:cNvPr>
          <p:cNvSpPr>
            <a:spLocks noGrp="1"/>
          </p:cNvSpPr>
          <p:nvPr/>
        </p:nvSpPr>
        <p:spPr>
          <a:xfrm>
            <a:off x="950976" y="2441448"/>
            <a:ext cx="174650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LoginFailure</a:t>
            </a:r>
          </a:p>
        </p:txBody>
      </p:sp>
      <p:sp>
        <p:nvSpPr>
          <p:cNvPr id="8" name="Text 5">
            <a:extLst>
              <a:ext uri="{FF2B5EF4-FFF2-40B4-BE49-F238E27FC236}">
                <a16:creationId xmlns:a16="http://schemas.microsoft.com/office/drawing/2014/main" id="{6CE29E97-3C88-4879-A240-797E90C1EA8C}"/>
              </a:ext>
            </a:extLst>
          </p:cNvPr>
          <p:cNvSpPr>
            <a:spLocks noGrp="1"/>
          </p:cNvSpPr>
          <p:nvPr/>
        </p:nvSpPr>
        <p:spPr>
          <a:xfrm>
            <a:off x="950976" y="2761488"/>
            <a:ext cx="1746504" cy="182880"/>
          </a:xfrm>
          <a:prstGeom prst="rect">
            <a:avLst/>
          </a:prstGeom>
          <a:noFill/>
        </p:spPr>
        <p:txBody>
          <a:bodyPr wrap="square" lIns="0" tIns="0" rIns="0" bIns="0" anchor="ctr">
            <a:normAutofit/>
          </a:bodyPr>
          <a:lstStyle/>
          <a:p>
            <a:pPr marL="0" indent="0" algn="ctr">
              <a:buNone/>
            </a:pPr>
            <a:r>
              <a:rPr sz="850">
                <a:solidFill>
                  <a:srgbClr val="A9A4B7"/>
                </a:solidFill>
                <a:latin typeface="Arial"/>
                <a:ea typeface="Arial"/>
                <a:cs typeface="Arial"/>
              </a:rPr>
              <a:t>custom metric</a:t>
            </a:r>
          </a:p>
        </p:txBody>
      </p:sp>
      <p:sp>
        <p:nvSpPr>
          <p:cNvPr id="9" name="Shape 6">
            <a:extLst>
              <a:ext uri="{FF2B5EF4-FFF2-40B4-BE49-F238E27FC236}">
                <a16:creationId xmlns:a16="http://schemas.microsoft.com/office/drawing/2014/main" id="{22D79FB6-0CD7-41C3-91A8-ABF9DF9C26F1}"/>
              </a:ext>
            </a:extLst>
          </p:cNvPr>
          <p:cNvSpPr>
            <a:spLocks noGrp="1"/>
          </p:cNvSpPr>
          <p:nvPr/>
        </p:nvSpPr>
        <p:spPr>
          <a:xfrm>
            <a:off x="2834640" y="2798064"/>
            <a:ext cx="338328" cy="0"/>
          </a:xfrm>
          <a:prstGeom prst="line">
            <a:avLst/>
          </a:prstGeom>
          <a:noFill/>
          <a:ln w="22860">
            <a:solidFill>
              <a:srgbClr val="A9A4B7"/>
            </a:solidFill>
            <a:prstDash val="solid"/>
            <a:headEnd type="none"/>
            <a:tailEnd type="triangle"/>
          </a:ln>
        </p:spPr>
      </p:sp>
      <p:sp>
        <p:nvSpPr>
          <p:cNvPr id="10" name="Shape 7">
            <a:extLst>
              <a:ext uri="{FF2B5EF4-FFF2-40B4-BE49-F238E27FC236}">
                <a16:creationId xmlns:a16="http://schemas.microsoft.com/office/drawing/2014/main" id="{889EFD8E-D04B-4668-83B0-80798D10EC4D}"/>
              </a:ext>
            </a:extLst>
          </p:cNvPr>
          <p:cNvSpPr>
            <a:spLocks noGrp="1"/>
          </p:cNvSpPr>
          <p:nvPr/>
        </p:nvSpPr>
        <p:spPr>
          <a:xfrm>
            <a:off x="3337560" y="2304288"/>
            <a:ext cx="1965960" cy="987552"/>
          </a:xfrm>
          <a:prstGeom prst="roundRect">
            <a:avLst>
              <a:gd name="adj" fmla="val 9259"/>
            </a:avLst>
          </a:prstGeom>
          <a:solidFill>
            <a:srgbClr val="110B22">
              <a:alpha val="96000"/>
            </a:srgbClr>
          </a:solidFill>
          <a:ln w="12700">
            <a:solidFill>
              <a:srgbClr val="FF9900"/>
            </a:solidFill>
            <a:prstDash val="solid"/>
          </a:ln>
        </p:spPr>
      </p:sp>
      <p:sp>
        <p:nvSpPr>
          <p:cNvPr id="11" name="Text 8">
            <a:extLst>
              <a:ext uri="{FF2B5EF4-FFF2-40B4-BE49-F238E27FC236}">
                <a16:creationId xmlns:a16="http://schemas.microsoft.com/office/drawing/2014/main" id="{425D19B2-89D2-436B-A7D2-EEC193E0B045}"/>
              </a:ext>
            </a:extLst>
          </p:cNvPr>
          <p:cNvSpPr>
            <a:spLocks noGrp="1"/>
          </p:cNvSpPr>
          <p:nvPr/>
        </p:nvSpPr>
        <p:spPr>
          <a:xfrm>
            <a:off x="3447288" y="2441448"/>
            <a:ext cx="174650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CloudWatch Alarm</a:t>
            </a:r>
          </a:p>
        </p:txBody>
      </p:sp>
      <p:sp>
        <p:nvSpPr>
          <p:cNvPr id="12" name="Text 9">
            <a:extLst>
              <a:ext uri="{FF2B5EF4-FFF2-40B4-BE49-F238E27FC236}">
                <a16:creationId xmlns:a16="http://schemas.microsoft.com/office/drawing/2014/main" id="{A86A979A-B3F6-4569-93AF-AFFC3D1CEC7B}"/>
              </a:ext>
            </a:extLst>
          </p:cNvPr>
          <p:cNvSpPr>
            <a:spLocks noGrp="1"/>
          </p:cNvSpPr>
          <p:nvPr/>
        </p:nvSpPr>
        <p:spPr>
          <a:xfrm>
            <a:off x="3447288" y="2761488"/>
            <a:ext cx="1746504" cy="182880"/>
          </a:xfrm>
          <a:prstGeom prst="rect">
            <a:avLst/>
          </a:prstGeom>
          <a:noFill/>
        </p:spPr>
        <p:txBody>
          <a:bodyPr wrap="square" lIns="0" tIns="0" rIns="0" bIns="0" anchor="ctr">
            <a:normAutofit/>
          </a:bodyPr>
          <a:lstStyle/>
          <a:p>
            <a:pPr marL="0" indent="0" algn="ctr">
              <a:buNone/>
            </a:pPr>
            <a:r>
              <a:rPr sz="850">
                <a:solidFill>
                  <a:srgbClr val="A9A4B7"/>
                </a:solidFill>
                <a:latin typeface="Arial"/>
                <a:ea typeface="Arial"/>
                <a:cs typeface="Arial"/>
              </a:rPr>
              <a:t>&gt; threshold</a:t>
            </a:r>
          </a:p>
        </p:txBody>
      </p:sp>
      <p:sp>
        <p:nvSpPr>
          <p:cNvPr id="13" name="Shape 10">
            <a:extLst>
              <a:ext uri="{FF2B5EF4-FFF2-40B4-BE49-F238E27FC236}">
                <a16:creationId xmlns:a16="http://schemas.microsoft.com/office/drawing/2014/main" id="{2D96A602-A353-49AB-87B5-6B9F160D331B}"/>
              </a:ext>
            </a:extLst>
          </p:cNvPr>
          <p:cNvSpPr>
            <a:spLocks noGrp="1"/>
          </p:cNvSpPr>
          <p:nvPr/>
        </p:nvSpPr>
        <p:spPr>
          <a:xfrm>
            <a:off x="5330952" y="2798064"/>
            <a:ext cx="502920" cy="0"/>
          </a:xfrm>
          <a:prstGeom prst="line">
            <a:avLst/>
          </a:prstGeom>
          <a:noFill/>
          <a:ln w="22860">
            <a:solidFill>
              <a:srgbClr val="A9A4B7"/>
            </a:solidFill>
            <a:prstDash val="solid"/>
            <a:headEnd type="none"/>
            <a:tailEnd type="triangle"/>
          </a:ln>
        </p:spPr>
      </p:sp>
      <p:sp>
        <p:nvSpPr>
          <p:cNvPr id="14" name="Shape 11">
            <a:extLst>
              <a:ext uri="{FF2B5EF4-FFF2-40B4-BE49-F238E27FC236}">
                <a16:creationId xmlns:a16="http://schemas.microsoft.com/office/drawing/2014/main" id="{D4352D1D-512E-4A4D-B298-D602BF648C11}"/>
              </a:ext>
            </a:extLst>
          </p:cNvPr>
          <p:cNvSpPr>
            <a:spLocks noGrp="1"/>
          </p:cNvSpPr>
          <p:nvPr/>
        </p:nvSpPr>
        <p:spPr>
          <a:xfrm>
            <a:off x="5998464" y="2304288"/>
            <a:ext cx="1965960" cy="987552"/>
          </a:xfrm>
          <a:prstGeom prst="roundRect">
            <a:avLst>
              <a:gd name="adj" fmla="val 9259"/>
            </a:avLst>
          </a:prstGeom>
          <a:solidFill>
            <a:srgbClr val="110B22">
              <a:alpha val="96000"/>
            </a:srgbClr>
          </a:solidFill>
          <a:ln w="12700">
            <a:solidFill>
              <a:srgbClr val="8D5CF6"/>
            </a:solidFill>
            <a:prstDash val="solid"/>
          </a:ln>
        </p:spPr>
      </p:sp>
      <p:sp>
        <p:nvSpPr>
          <p:cNvPr id="15" name="Text 12">
            <a:extLst>
              <a:ext uri="{FF2B5EF4-FFF2-40B4-BE49-F238E27FC236}">
                <a16:creationId xmlns:a16="http://schemas.microsoft.com/office/drawing/2014/main" id="{8AA31346-274D-4190-8178-C1D8DAC547E6}"/>
              </a:ext>
            </a:extLst>
          </p:cNvPr>
          <p:cNvSpPr>
            <a:spLocks noGrp="1"/>
          </p:cNvSpPr>
          <p:nvPr/>
        </p:nvSpPr>
        <p:spPr>
          <a:xfrm>
            <a:off x="6108192" y="2441448"/>
            <a:ext cx="174650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SNS Topic</a:t>
            </a:r>
          </a:p>
        </p:txBody>
      </p:sp>
      <p:sp>
        <p:nvSpPr>
          <p:cNvPr id="16" name="Text 13">
            <a:extLst>
              <a:ext uri="{FF2B5EF4-FFF2-40B4-BE49-F238E27FC236}">
                <a16:creationId xmlns:a16="http://schemas.microsoft.com/office/drawing/2014/main" id="{AD297881-16C6-45C5-84CA-2FB60AC85F0C}"/>
              </a:ext>
            </a:extLst>
          </p:cNvPr>
          <p:cNvSpPr>
            <a:spLocks noGrp="1"/>
          </p:cNvSpPr>
          <p:nvPr/>
        </p:nvSpPr>
        <p:spPr>
          <a:xfrm>
            <a:off x="6108192" y="2761488"/>
            <a:ext cx="1746504" cy="182880"/>
          </a:xfrm>
          <a:prstGeom prst="rect">
            <a:avLst/>
          </a:prstGeom>
          <a:noFill/>
        </p:spPr>
        <p:txBody>
          <a:bodyPr wrap="square" lIns="0" tIns="0" rIns="0" bIns="0" anchor="ctr">
            <a:normAutofit/>
          </a:bodyPr>
          <a:lstStyle/>
          <a:p>
            <a:pPr marL="0" indent="0" algn="ctr">
              <a:buNone/>
            </a:pPr>
            <a:r>
              <a:rPr sz="850">
                <a:solidFill>
                  <a:srgbClr val="A9A4B7"/>
                </a:solidFill>
                <a:latin typeface="Arial"/>
                <a:ea typeface="Arial"/>
                <a:cs typeface="Arial"/>
              </a:rPr>
              <a:t>fan-out</a:t>
            </a:r>
          </a:p>
        </p:txBody>
      </p:sp>
      <p:sp>
        <p:nvSpPr>
          <p:cNvPr id="17" name="Shape 14">
            <a:extLst>
              <a:ext uri="{FF2B5EF4-FFF2-40B4-BE49-F238E27FC236}">
                <a16:creationId xmlns:a16="http://schemas.microsoft.com/office/drawing/2014/main" id="{E6E8F46A-68EA-4A8B-893D-0540173356EC}"/>
              </a:ext>
            </a:extLst>
          </p:cNvPr>
          <p:cNvSpPr>
            <a:spLocks noGrp="1"/>
          </p:cNvSpPr>
          <p:nvPr/>
        </p:nvSpPr>
        <p:spPr>
          <a:xfrm>
            <a:off x="7991856" y="2798064"/>
            <a:ext cx="320040" cy="0"/>
          </a:xfrm>
          <a:prstGeom prst="line">
            <a:avLst/>
          </a:prstGeom>
          <a:noFill/>
          <a:ln w="22860">
            <a:solidFill>
              <a:srgbClr val="A9A4B7"/>
            </a:solidFill>
            <a:prstDash val="solid"/>
            <a:headEnd type="none"/>
            <a:tailEnd type="triangle"/>
          </a:ln>
        </p:spPr>
      </p:sp>
      <p:sp>
        <p:nvSpPr>
          <p:cNvPr id="18" name="Shape 15">
            <a:extLst>
              <a:ext uri="{FF2B5EF4-FFF2-40B4-BE49-F238E27FC236}">
                <a16:creationId xmlns:a16="http://schemas.microsoft.com/office/drawing/2014/main" id="{F7F06107-D49A-41DA-95AF-C0DF3E722303}"/>
              </a:ext>
            </a:extLst>
          </p:cNvPr>
          <p:cNvSpPr>
            <a:spLocks noGrp="1"/>
          </p:cNvSpPr>
          <p:nvPr/>
        </p:nvSpPr>
        <p:spPr>
          <a:xfrm>
            <a:off x="8476488" y="2304288"/>
            <a:ext cx="1965960" cy="987552"/>
          </a:xfrm>
          <a:prstGeom prst="roundRect">
            <a:avLst>
              <a:gd name="adj" fmla="val 9259"/>
            </a:avLst>
          </a:prstGeom>
          <a:solidFill>
            <a:srgbClr val="110B22">
              <a:alpha val="96000"/>
            </a:srgbClr>
          </a:solidFill>
          <a:ln w="12700">
            <a:solidFill>
              <a:srgbClr val="42D392"/>
            </a:solidFill>
            <a:prstDash val="solid"/>
          </a:ln>
        </p:spPr>
      </p:sp>
      <p:sp>
        <p:nvSpPr>
          <p:cNvPr id="19" name="Text 16">
            <a:extLst>
              <a:ext uri="{FF2B5EF4-FFF2-40B4-BE49-F238E27FC236}">
                <a16:creationId xmlns:a16="http://schemas.microsoft.com/office/drawing/2014/main" id="{0FF1C0E7-66F6-4F47-A4E6-52D9A3F417D1}"/>
              </a:ext>
            </a:extLst>
          </p:cNvPr>
          <p:cNvSpPr>
            <a:spLocks noGrp="1"/>
          </p:cNvSpPr>
          <p:nvPr/>
        </p:nvSpPr>
        <p:spPr>
          <a:xfrm>
            <a:off x="8586216" y="2441448"/>
            <a:ext cx="1746504" cy="219456"/>
          </a:xfrm>
          <a:prstGeom prst="rect">
            <a:avLst/>
          </a:prstGeom>
          <a:noFill/>
        </p:spPr>
        <p:txBody>
          <a:bodyPr wrap="square" lIns="0" tIns="0" rIns="0" bIns="0" anchor="ctr">
            <a:normAutofit/>
          </a:bodyPr>
          <a:lstStyle/>
          <a:p>
            <a:pPr marL="0" indent="0" algn="ctr">
              <a:buNone/>
            </a:pPr>
            <a:r>
              <a:rPr sz="1200" b="1">
                <a:solidFill>
                  <a:srgbClr val="FFFFFF"/>
                </a:solidFill>
                <a:latin typeface="Arial"/>
                <a:ea typeface="Arial"/>
                <a:cs typeface="Arial"/>
              </a:rPr>
              <a:t>Email / Slack</a:t>
            </a:r>
          </a:p>
        </p:txBody>
      </p:sp>
      <p:sp>
        <p:nvSpPr>
          <p:cNvPr id="20" name="Text 17">
            <a:extLst>
              <a:ext uri="{FF2B5EF4-FFF2-40B4-BE49-F238E27FC236}">
                <a16:creationId xmlns:a16="http://schemas.microsoft.com/office/drawing/2014/main" id="{34D49D16-8ECE-4FB9-BC5B-0F5C6E11EB07}"/>
              </a:ext>
            </a:extLst>
          </p:cNvPr>
          <p:cNvSpPr>
            <a:spLocks noGrp="1"/>
          </p:cNvSpPr>
          <p:nvPr/>
        </p:nvSpPr>
        <p:spPr>
          <a:xfrm>
            <a:off x="8586216" y="2761488"/>
            <a:ext cx="1746504" cy="182880"/>
          </a:xfrm>
          <a:prstGeom prst="rect">
            <a:avLst/>
          </a:prstGeom>
          <a:noFill/>
        </p:spPr>
        <p:txBody>
          <a:bodyPr wrap="square" lIns="0" tIns="0" rIns="0" bIns="0" anchor="ctr">
            <a:normAutofit/>
          </a:bodyPr>
          <a:lstStyle/>
          <a:p>
            <a:pPr marL="0" indent="0" algn="ctr">
              <a:buNone/>
            </a:pPr>
            <a:r>
              <a:rPr sz="850">
                <a:solidFill>
                  <a:srgbClr val="A9A4B7"/>
                </a:solidFill>
                <a:latin typeface="Arial"/>
                <a:ea typeface="Arial"/>
                <a:cs typeface="Arial"/>
              </a:rPr>
              <a:t>notify team</a:t>
            </a:r>
          </a:p>
        </p:txBody>
      </p:sp>
      <p:sp>
        <p:nvSpPr>
          <p:cNvPr id="23" name="Text 20">
            <a:extLst>
              <a:ext uri="{FF2B5EF4-FFF2-40B4-BE49-F238E27FC236}">
                <a16:creationId xmlns:a16="http://schemas.microsoft.com/office/drawing/2014/main" id="{A9072264-85D3-4A2D-AB3E-A4E9A558DC05}"/>
              </a:ext>
            </a:extLst>
          </p:cNvPr>
          <p:cNvSpPr>
            <a:spLocks noGrp="1"/>
          </p:cNvSpPr>
          <p:nvPr/>
        </p:nvSpPr>
        <p:spPr>
          <a:xfrm>
            <a:off x="8321040" y="6327648"/>
            <a:ext cx="3566160" cy="228600"/>
          </a:xfrm>
          <a:prstGeom prst="rect">
            <a:avLst/>
          </a:prstGeom>
          <a:noFill/>
        </p:spPr>
        <p:txBody>
          <a:bodyPr wrap="square" lIns="0" tIns="0" rIns="0" bIns="0" anchor="ctr"/>
          <a:lstStyle/>
          <a:p>
            <a:pPr marL="0" indent="0" algn="r">
              <a:buNone/>
            </a:pPr>
            <a:r>
              <a:rPr sz="550">
                <a:solidFill>
                  <a:srgbClr val="7B758C"/>
                </a:solidFill>
                <a:latin typeface="Arial"/>
                <a:ea typeface="Arial"/>
                <a:cs typeface="Arial"/>
              </a:rPr>
              <a:t>Source: CloudWatch Alarms / SNS docs</a:t>
            </a:r>
          </a:p>
        </p:txBody>
      </p:sp>
    </p:spTree>
    <p:extLst>
      <p:ext uri="{BB962C8B-B14F-4D97-AF65-F5344CB8AC3E}">
        <p14:creationId xmlns:p14="http://schemas.microsoft.com/office/powerpoint/2010/main" val="1459889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0"/>
          <p:cNvPicPr>
            <a:picLocks noChangeAspect="1"/>
          </p:cNvPicPr>
          <p:nvPr/>
        </p:nvPicPr>
        <p:blipFill>
          <a:blip r:embed="rId3"/>
          <a:stretch>
            <a:fillRect/>
          </a:stretch>
        </p:blipFill>
        <p:spPr>
          <a:xfrm>
            <a:off x="305" y="0"/>
            <a:ext cx="12191695" cy="6858000"/>
          </a:xfrm>
          <a:prstGeom prst="rect">
            <a:avLst/>
          </a:prstGeom>
        </p:spPr>
      </p:pic>
      <p:sp>
        <p:nvSpPr>
          <p:cNvPr id="4" name="Text 1">
            <a:extLst>
              <a:ext uri="{FF2B5EF4-FFF2-40B4-BE49-F238E27FC236}">
                <a16:creationId xmlns:a16="http://schemas.microsoft.com/office/drawing/2014/main" id="{8ECD3E0E-E80F-4E4F-9AF2-3AAABF6CBB9D}"/>
              </a:ext>
            </a:extLst>
          </p:cNvPr>
          <p:cNvSpPr>
            <a:spLocks noGrp="1"/>
          </p:cNvSpPr>
          <p:nvPr/>
        </p:nvSpPr>
        <p:spPr>
          <a:xfrm>
            <a:off x="658368" y="530352"/>
            <a:ext cx="10881360" cy="457200"/>
          </a:xfrm>
          <a:prstGeom prst="rect">
            <a:avLst/>
          </a:prstGeom>
          <a:noFill/>
        </p:spPr>
        <p:txBody>
          <a:bodyPr wrap="square" lIns="0" tIns="0" rIns="0" bIns="0" anchor="ctr">
            <a:normAutofit lnSpcReduction="10000"/>
          </a:bodyPr>
          <a:lstStyle/>
          <a:p>
            <a:pPr marL="0" indent="0">
              <a:buNone/>
            </a:pPr>
            <a:r>
              <a:rPr sz="3100" b="1">
                <a:solidFill>
                  <a:srgbClr val="FFFFFF"/>
                </a:solidFill>
                <a:latin typeface="Arial"/>
                <a:ea typeface="Arial"/>
                <a:cs typeface="Arial"/>
              </a:rPr>
              <a:t>What really matters ?</a:t>
            </a:r>
          </a:p>
        </p:txBody>
      </p:sp>
      <p:sp>
        <p:nvSpPr>
          <p:cNvPr id="6" name="Shape 3">
            <a:extLst>
              <a:ext uri="{FF2B5EF4-FFF2-40B4-BE49-F238E27FC236}">
                <a16:creationId xmlns:a16="http://schemas.microsoft.com/office/drawing/2014/main" id="{136D3B09-16B1-454A-8D23-FB1E674D2D5C}"/>
              </a:ext>
            </a:extLst>
          </p:cNvPr>
          <p:cNvSpPr>
            <a:spLocks noGrp="1"/>
          </p:cNvSpPr>
          <p:nvPr/>
        </p:nvSpPr>
        <p:spPr>
          <a:xfrm>
            <a:off x="658368" y="1352236"/>
            <a:ext cx="5760361" cy="1570258"/>
          </a:xfrm>
          <a:prstGeom prst="roundRect">
            <a:avLst>
              <a:gd name="adj" fmla="val 10417"/>
            </a:avLst>
          </a:prstGeom>
          <a:solidFill>
            <a:srgbClr val="110B22">
              <a:alpha val="96000"/>
            </a:srgbClr>
          </a:solidFill>
          <a:ln w="12700">
            <a:solidFill>
              <a:srgbClr val="FF9900"/>
            </a:solidFill>
            <a:prstDash val="solid"/>
          </a:ln>
        </p:spPr>
        <p:txBody>
          <a:bodyPr/>
          <a:lstStyle/>
          <a:p>
            <a:endParaRPr/>
          </a:p>
        </p:txBody>
      </p:sp>
      <p:sp>
        <p:nvSpPr>
          <p:cNvPr id="7" name="Text 4">
            <a:extLst>
              <a:ext uri="{FF2B5EF4-FFF2-40B4-BE49-F238E27FC236}">
                <a16:creationId xmlns:a16="http://schemas.microsoft.com/office/drawing/2014/main" id="{974249BD-5AA9-483E-9AC5-7196F11CBCD9}"/>
              </a:ext>
            </a:extLst>
          </p:cNvPr>
          <p:cNvSpPr>
            <a:spLocks noGrp="1"/>
          </p:cNvSpPr>
          <p:nvPr/>
        </p:nvSpPr>
        <p:spPr>
          <a:xfrm>
            <a:off x="1143000" y="1600200"/>
            <a:ext cx="3429000" cy="256032"/>
          </a:xfrm>
          <a:prstGeom prst="rect">
            <a:avLst/>
          </a:prstGeom>
          <a:noFill/>
        </p:spPr>
        <p:txBody>
          <a:bodyPr wrap="square" lIns="0" tIns="0" rIns="0" bIns="0" anchor="ctr"/>
          <a:lstStyle/>
          <a:p>
            <a:pPr marL="0" indent="0">
              <a:buNone/>
            </a:pPr>
            <a:endParaRPr/>
          </a:p>
        </p:txBody>
      </p:sp>
      <p:sp>
        <p:nvSpPr>
          <p:cNvPr id="9" name="Shape 6">
            <a:extLst>
              <a:ext uri="{FF2B5EF4-FFF2-40B4-BE49-F238E27FC236}">
                <a16:creationId xmlns:a16="http://schemas.microsoft.com/office/drawing/2014/main" id="{F819E9E4-54A1-4A43-A233-EA366F08DBBA}"/>
              </a:ext>
            </a:extLst>
          </p:cNvPr>
          <p:cNvSpPr>
            <a:spLocks noGrp="1"/>
          </p:cNvSpPr>
          <p:nvPr/>
        </p:nvSpPr>
        <p:spPr>
          <a:xfrm>
            <a:off x="658368" y="3170458"/>
            <a:ext cx="5760360" cy="1390919"/>
          </a:xfrm>
          <a:prstGeom prst="roundRect">
            <a:avLst>
              <a:gd name="adj" fmla="val 10417"/>
            </a:avLst>
          </a:prstGeom>
          <a:solidFill>
            <a:srgbClr val="110B22">
              <a:alpha val="96000"/>
            </a:srgbClr>
          </a:solidFill>
          <a:ln w="12700">
            <a:solidFill>
              <a:srgbClr val="FF5A6E"/>
            </a:solidFill>
            <a:prstDash val="solid"/>
          </a:ln>
        </p:spPr>
      </p:sp>
      <p:sp>
        <p:nvSpPr>
          <p:cNvPr id="10" name="Text 7">
            <a:extLst>
              <a:ext uri="{FF2B5EF4-FFF2-40B4-BE49-F238E27FC236}">
                <a16:creationId xmlns:a16="http://schemas.microsoft.com/office/drawing/2014/main" id="{C547FE16-A89F-4FA6-97C2-13900E9B3F9E}"/>
              </a:ext>
            </a:extLst>
          </p:cNvPr>
          <p:cNvSpPr>
            <a:spLocks noGrp="1"/>
          </p:cNvSpPr>
          <p:nvPr/>
        </p:nvSpPr>
        <p:spPr>
          <a:xfrm>
            <a:off x="896470" y="3714773"/>
            <a:ext cx="4903695" cy="256032"/>
          </a:xfrm>
          <a:prstGeom prst="rect">
            <a:avLst/>
          </a:prstGeom>
          <a:noFill/>
        </p:spPr>
        <p:txBody>
          <a:bodyPr wrap="square" lIns="0" tIns="0" rIns="0" bIns="0" anchor="ctr"/>
          <a:lstStyle/>
          <a:p>
            <a:r>
              <a:rPr sz="1600">
                <a:solidFill>
                  <a:srgbClr val="C00000"/>
                </a:solidFill>
              </a:rPr>
              <a:t>🟥 </a:t>
            </a:r>
            <a:r>
              <a:rPr sz="1600" b="1">
                <a:solidFill>
                  <a:srgbClr val="C00000"/>
                </a:solidFill>
              </a:rPr>
              <a:t>Healthy infrastructure ≠ Happy users ❤️</a:t>
            </a:r>
          </a:p>
          <a:p>
            <a:endParaRPr sz="1600" b="1">
              <a:solidFill>
                <a:srgbClr val="C00000"/>
              </a:solidFill>
            </a:endParaRPr>
          </a:p>
          <a:p>
            <a:r>
              <a:rPr sz="1600">
                <a:solidFill>
                  <a:srgbClr val="C00000"/>
                </a:solidFill>
              </a:rPr>
              <a:t>Infrastructure metrics alone don't tell the whole story.</a:t>
            </a:r>
          </a:p>
        </p:txBody>
      </p:sp>
      <p:sp>
        <p:nvSpPr>
          <p:cNvPr id="12" name="Shape 9">
            <a:extLst>
              <a:ext uri="{FF2B5EF4-FFF2-40B4-BE49-F238E27FC236}">
                <a16:creationId xmlns:a16="http://schemas.microsoft.com/office/drawing/2014/main" id="{F32DC6BB-5D8E-40D6-BD5A-1E46BCB5060C}"/>
              </a:ext>
            </a:extLst>
          </p:cNvPr>
          <p:cNvSpPr>
            <a:spLocks noGrp="1"/>
          </p:cNvSpPr>
          <p:nvPr/>
        </p:nvSpPr>
        <p:spPr>
          <a:xfrm>
            <a:off x="658368" y="4809341"/>
            <a:ext cx="5760360" cy="1322517"/>
          </a:xfrm>
          <a:prstGeom prst="roundRect">
            <a:avLst>
              <a:gd name="adj" fmla="val 10417"/>
            </a:avLst>
          </a:prstGeom>
          <a:solidFill>
            <a:srgbClr val="110B22">
              <a:alpha val="96000"/>
            </a:srgbClr>
          </a:solidFill>
          <a:ln w="12700">
            <a:solidFill>
              <a:srgbClr val="42D392"/>
            </a:solidFill>
            <a:prstDash val="solid"/>
          </a:ln>
        </p:spPr>
      </p:sp>
      <p:sp>
        <p:nvSpPr>
          <p:cNvPr id="13" name="Text 10">
            <a:extLst>
              <a:ext uri="{FF2B5EF4-FFF2-40B4-BE49-F238E27FC236}">
                <a16:creationId xmlns:a16="http://schemas.microsoft.com/office/drawing/2014/main" id="{D407FB22-DD7A-4981-A9B7-F212A2D28651}"/>
              </a:ext>
            </a:extLst>
          </p:cNvPr>
          <p:cNvSpPr>
            <a:spLocks noGrp="1"/>
          </p:cNvSpPr>
          <p:nvPr/>
        </p:nvSpPr>
        <p:spPr>
          <a:xfrm>
            <a:off x="896470" y="5257800"/>
            <a:ext cx="5682102" cy="256032"/>
          </a:xfrm>
          <a:prstGeom prst="rect">
            <a:avLst/>
          </a:prstGeom>
          <a:noFill/>
        </p:spPr>
        <p:txBody>
          <a:bodyPr wrap="square" lIns="0" tIns="0" rIns="0" bIns="0" anchor="ctr"/>
          <a:lstStyle/>
          <a:p>
            <a:r>
              <a:rPr sz="1600">
                <a:solidFill>
                  <a:srgbClr val="00B050"/>
                </a:solidFill>
              </a:rPr>
              <a:t>🟩 </a:t>
            </a:r>
            <a:r>
              <a:rPr sz="1600" b="1">
                <a:solidFill>
                  <a:srgbClr val="00B050"/>
                </a:solidFill>
              </a:rPr>
              <a:t>Knowing what users do, not just what servers do</a:t>
            </a:r>
          </a:p>
          <a:p>
            <a:endParaRPr sz="1600" b="1">
              <a:solidFill>
                <a:srgbClr val="00B050"/>
              </a:solidFill>
            </a:endParaRPr>
          </a:p>
          <a:p>
            <a:r>
              <a:rPr sz="1600">
                <a:solidFill>
                  <a:srgbClr val="00B050"/>
                </a:solidFill>
              </a:rPr>
              <a:t>Login • Checkout • Payment • Search</a:t>
            </a:r>
          </a:p>
        </p:txBody>
      </p:sp>
      <p:sp>
        <p:nvSpPr>
          <p:cNvPr id="15" name="takeaway-journey-sla">
            <a:extLst>
              <a:ext uri="{FF2B5EF4-FFF2-40B4-BE49-F238E27FC236}">
                <a16:creationId xmlns:a16="http://schemas.microsoft.com/office/drawing/2014/main" id="{561C0D57-CED6-4EC5-BE85-64B68255A662}"/>
              </a:ext>
            </a:extLst>
          </p:cNvPr>
          <p:cNvSpPr>
            <a:spLocks noGrp="1"/>
          </p:cNvSpPr>
          <p:nvPr/>
        </p:nvSpPr>
        <p:spPr>
          <a:xfrm>
            <a:off x="770964" y="1584915"/>
            <a:ext cx="5325036" cy="552450"/>
          </a:xfrm>
          <a:prstGeom prst="rect">
            <a:avLst/>
          </a:prstGeom>
          <a:noFill/>
          <a:ln w="0">
            <a:noFill/>
            <a:prstDash val="solid"/>
          </a:ln>
        </p:spPr>
        <p:txBody>
          <a:bodyPr/>
          <a:lstStyle/>
          <a:p>
            <a:r>
              <a:rPr sz="1600">
                <a:solidFill>
                  <a:schemeClr val="accent2"/>
                </a:solidFill>
              </a:rPr>
              <a:t>🟨 </a:t>
            </a:r>
            <a:r>
              <a:rPr sz="1600" b="1">
                <a:solidFill>
                  <a:schemeClr val="accent2"/>
                </a:solidFill>
              </a:rPr>
              <a:t>Understand what your SLA really covers</a:t>
            </a:r>
          </a:p>
          <a:p>
            <a:endParaRPr sz="1600" b="1">
              <a:solidFill>
                <a:schemeClr val="accent2"/>
              </a:solidFill>
            </a:endParaRPr>
          </a:p>
          <a:p>
            <a:r>
              <a:rPr sz="1600">
                <a:solidFill>
                  <a:schemeClr val="accent2"/>
                </a:solidFill>
              </a:rPr>
              <a:t>AWS guarantees the cloud.</a:t>
            </a:r>
            <a:br/>
            <a:r>
              <a:rPr sz="1600">
                <a:solidFill>
                  <a:schemeClr val="accent2"/>
                </a:solidFill>
              </a:rPr>
              <a:t>You are responsible for the customer experience.</a:t>
            </a:r>
          </a:p>
          <a:p>
            <a:pPr algn="ctr">
              <a:buNone/>
              <a:defRPr sz="1650" b="1">
                <a:solidFill>
                  <a:srgbClr val="FF9900"/>
                </a:solidFill>
              </a:defRPr>
            </a:pPr>
            <a:r>
              <a:rPr sz="1650" b="1">
                <a:solidFill>
                  <a:schemeClr val="accent2"/>
                </a:solidFill>
              </a:rPr>
              <a:t> </a:t>
            </a:r>
          </a:p>
        </p:txBody>
      </p:sp>
    </p:spTree>
    <p:extLst>
      <p:ext uri="{BB962C8B-B14F-4D97-AF65-F5344CB8AC3E}">
        <p14:creationId xmlns:p14="http://schemas.microsoft.com/office/powerpoint/2010/main" val="757723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760670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p:cNvPicPr>
            <a:picLocks noChangeAspect="1"/>
          </p:cNvPicPr>
          <p:nvPr/>
        </p:nvPicPr>
        <p:blipFill>
          <a:blip r:embed="rId3"/>
          <a:stretch>
            <a:fillRect/>
          </a:stretch>
        </p:blipFill>
        <p:spPr>
          <a:xfrm>
            <a:off x="0" y="0"/>
            <a:ext cx="12191695" cy="6858000"/>
          </a:xfrm>
          <a:prstGeom prst="rect">
            <a:avLst/>
          </a:prstGeom>
        </p:spPr>
      </p:pic>
      <p:sp>
        <p:nvSpPr>
          <p:cNvPr id="5" name="Text 2">
            <a:extLst>
              <a:ext uri="{FF2B5EF4-FFF2-40B4-BE49-F238E27FC236}">
                <a16:creationId xmlns:a16="http://schemas.microsoft.com/office/drawing/2014/main" id="{4CB6FC97-24C8-4C71-8F79-91DB4BF3DBC4}"/>
              </a:ext>
            </a:extLst>
          </p:cNvPr>
          <p:cNvSpPr>
            <a:spLocks noGrp="1"/>
          </p:cNvSpPr>
          <p:nvPr/>
        </p:nvSpPr>
        <p:spPr>
          <a:xfrm>
            <a:off x="749807" y="1468059"/>
            <a:ext cx="4826239" cy="1284105"/>
          </a:xfrm>
          <a:prstGeom prst="rect">
            <a:avLst/>
          </a:prstGeom>
          <a:noFill/>
        </p:spPr>
        <p:txBody>
          <a:bodyPr wrap="square" lIns="0" tIns="0" rIns="0" bIns="0" anchor="ctr"/>
          <a:lstStyle/>
          <a:p>
            <a:pPr marL="0" indent="0">
              <a:buNone/>
            </a:pPr>
            <a:r>
              <a:rPr sz="3600" b="1">
                <a:solidFill>
                  <a:srgbClr val="FFFFFF"/>
                </a:solidFill>
                <a:latin typeface="Arial"/>
                <a:ea typeface="Arial"/>
                <a:cs typeface="Arial"/>
              </a:rPr>
              <a:t>Thank you !</a:t>
            </a:r>
          </a:p>
        </p:txBody>
      </p:sp>
      <p:sp>
        <p:nvSpPr>
          <p:cNvPr id="6" name="Text 3">
            <a:extLst>
              <a:ext uri="{FF2B5EF4-FFF2-40B4-BE49-F238E27FC236}">
                <a16:creationId xmlns:a16="http://schemas.microsoft.com/office/drawing/2014/main" id="{D29EAC13-98FC-4E05-993A-3445912343A0}"/>
              </a:ext>
            </a:extLst>
          </p:cNvPr>
          <p:cNvSpPr>
            <a:spLocks noGrp="1"/>
          </p:cNvSpPr>
          <p:nvPr/>
        </p:nvSpPr>
        <p:spPr>
          <a:xfrm>
            <a:off x="749807" y="4428565"/>
            <a:ext cx="1670663" cy="390323"/>
          </a:xfrm>
          <a:prstGeom prst="rect">
            <a:avLst/>
          </a:prstGeom>
          <a:noFill/>
        </p:spPr>
        <p:txBody>
          <a:bodyPr wrap="square" lIns="0" tIns="0" rIns="0" bIns="0" anchor="ctr"/>
          <a:lstStyle/>
          <a:p>
            <a:pPr marL="0" indent="0">
              <a:buNone/>
            </a:pPr>
            <a:r>
              <a:rPr sz="4400">
                <a:solidFill>
                  <a:srgbClr val="A9A4B7"/>
                </a:solidFill>
                <a:latin typeface="Arial"/>
                <a:ea typeface="Arial"/>
                <a:cs typeface="Arial"/>
              </a:rPr>
              <a:t>Q&amp;A</a:t>
            </a:r>
          </a:p>
        </p:txBody>
      </p:sp>
    </p:spTree>
    <p:extLst>
      <p:ext uri="{BB962C8B-B14F-4D97-AF65-F5344CB8AC3E}">
        <p14:creationId xmlns:p14="http://schemas.microsoft.com/office/powerpoint/2010/main" val="496226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63de93b7-8949-4e3d-a08b-0d778f7f5cab}" enabled="1" method="Standard" siteId="{0b3fc178-b730-4e8b-9843-e81259237b77}" contentBits="0" removed="0"/>
</clbl:labelList>
</file>

<file path=docProps/app.xml><?xml version="1.0" encoding="utf-8"?>
<Properties xmlns="http://schemas.openxmlformats.org/officeDocument/2006/extended-properties" xmlns:vt="http://schemas.openxmlformats.org/officeDocument/2006/docPropsVTypes">
  <TotalTime>0</TotalTime>
  <Words>1092</Words>
  <Application>Microsoft Office PowerPoint</Application>
  <DocSecurity>0</DocSecurity>
  <PresentationFormat>Widescreen</PresentationFormat>
  <Paragraphs>139</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Son Nguyen</cp:lastModifiedBy>
  <cp:revision>1</cp:revision>
  <dcterms:created xsi:type="dcterms:W3CDTF">2026-07-11T00:24:21Z</dcterms:created>
  <dcterms:modified xsi:type="dcterms:W3CDTF">2026-07-11T00:32:13Z</dcterms:modified>
</cp:coreProperties>
</file>