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7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Arimo" charset="1" panose="020B0604020202020204"/>
      <p:regular r:id="rId20"/>
    </p:embeddedFont>
    <p:embeddedFont>
      <p:font typeface="Arimo Bold" charset="1" panose="020B0704020202020204"/>
      <p:regular r:id="rId21"/>
    </p:embeddedFont>
    <p:embeddedFont>
      <p:font typeface="Arimo Bold Italics" charset="1" panose="020B0704020202090204"/>
      <p:regular r:id="rId2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notesMasters/notesMaster1.xml" Type="http://schemas.openxmlformats.org/officeDocument/2006/relationships/notesMaster"/><Relationship Id="rId18" Target="theme/theme2.xml" Type="http://schemas.openxmlformats.org/officeDocument/2006/relationships/theme"/><Relationship Id="rId19" Target="notesSlides/notesSlide1.xml" Type="http://schemas.openxmlformats.org/officeDocument/2006/relationships/notesSlide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notesSlides/notesSlide3.xml" Type="http://schemas.openxmlformats.org/officeDocument/2006/relationships/notesSlide"/><Relationship Id="rId24" Target="notesSlides/notesSlide4.xml" Type="http://schemas.openxmlformats.org/officeDocument/2006/relationships/notesSlide"/><Relationship Id="rId25" Target="notesSlides/notesSlide5.xml" Type="http://schemas.openxmlformats.org/officeDocument/2006/relationships/notesSlide"/><Relationship Id="rId26" Target="notesSlides/notesSlide6.xml" Type="http://schemas.openxmlformats.org/officeDocument/2006/relationships/notesSlide"/><Relationship Id="rId27" Target="notesSlides/notesSlide7.xml" Type="http://schemas.openxmlformats.org/officeDocument/2006/relationships/notesSlide"/><Relationship Id="rId28" Target="notesSlides/notesSlide8.xml" Type="http://schemas.openxmlformats.org/officeDocument/2006/relationships/notesSlide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notesSlides/notesSlide9.xml" Type="http://schemas.openxmlformats.org/officeDocument/2006/relationships/notesSlide"/><Relationship Id="rId31" Target="notesSlides/notesSlide10.xml" Type="http://schemas.openxmlformats.org/officeDocument/2006/relationships/notesSlide"/><Relationship Id="rId32" Target="notesSlides/notesSlide11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/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3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4.jpeg" Type="http://schemas.openxmlformats.org/officeDocument/2006/relationships/image"/><Relationship Id="rId4" Target="../media/image2.png" Type="http://schemas.openxmlformats.org/officeDocument/2006/relationships/image"/><Relationship Id="rId5" Target="../media/image5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0.png" Type="http://schemas.openxmlformats.org/officeDocument/2006/relationships/image"/><Relationship Id="rId2" Target="../notesSlides/notesSlide11.xml" Type="http://schemas.openxmlformats.org/officeDocument/2006/relationships/notesSlide"/><Relationship Id="rId3" Target="../media/image1.jpeg" Type="http://schemas.openxmlformats.org/officeDocument/2006/relationships/image"/><Relationship Id="rId4" Target="../media/image2.png" Type="http://schemas.openxmlformats.org/officeDocument/2006/relationships/image"/><Relationship Id="rId5" Target="../media/image6.jpeg" Type="http://schemas.openxmlformats.org/officeDocument/2006/relationships/image"/><Relationship Id="rId6" Target="../media/image7.png" Type="http://schemas.openxmlformats.org/officeDocument/2006/relationships/image"/><Relationship Id="rId7" Target="../media/image8.svg" Type="http://schemas.openxmlformats.org/officeDocument/2006/relationships/image"/><Relationship Id="rId8" Target="../media/image9.png" Type="http://schemas.openxmlformats.org/officeDocument/2006/relationships/image"/><Relationship Id="rId9" Target="../media/image5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86100" y="9470955"/>
            <a:ext cx="5943600" cy="171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2025, Amazon Web Services, Inc. or its affiliates. All rights reserved.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6" id="6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11" id="11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grpSp>
        <p:nvGrpSpPr>
          <p:cNvPr name="Group 12" id="12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13" id="13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484375" y="3061050"/>
            <a:ext cx="13613463" cy="18722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4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</a:t>
            </a:r>
            <a:r>
              <a:rPr lang="en-US" b="true" sz="6600" spc="-145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ecuring Your Web Apps With </a:t>
            </a:r>
            <a:r>
              <a:rPr lang="en-US" b="true" sz="6600" spc="-145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AWS Security Agent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84375" y="6542139"/>
            <a:ext cx="2539835" cy="43627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3000" b="tru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Thinh Nguyen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84375" y="7188246"/>
            <a:ext cx="5573525" cy="9890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92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DevOps/DevSecOps/Cloud Engineer</a:t>
            </a:r>
          </a:p>
          <a:p>
            <a:pPr algn="l">
              <a:lnSpc>
                <a:spcPts val="2592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Styl Solutions</a:t>
            </a:r>
          </a:p>
          <a:p>
            <a:pPr algn="l">
              <a:lnSpc>
                <a:spcPts val="2592"/>
              </a:lnSpc>
            </a:pPr>
            <a:r>
              <a:rPr lang="en-US" sz="24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First Cloud AI Journey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9027253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Security Bottleneck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49123"/>
            <a:ext cx="15276747" cy="40068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e-consuming:</a:t>
            </a:r>
            <a:r>
              <a:rPr lang="en-US" sz="3999" strike="noStrike" u="none">
                <a:gradFill>
                  <a:gsLst>
                    <a:gs pos="0">
                      <a:srgbClr val="EE7674">
                        <a:alpha val="100000"/>
                      </a:srgbClr>
                    </a:gs>
                    <a:gs pos="100000">
                      <a:srgbClr val="AA87F0">
                        <a:alpha val="100000"/>
                      </a:srgbClr>
                    </a:gs>
                  </a:gsLst>
                  <a:lin ang="2700000"/>
                </a:gra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Manual pentests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ak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weeks.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Expensive:</a:t>
            </a:r>
            <a:r>
              <a:rPr lang="en-US" sz="3999" strike="noStrike" u="none">
                <a:gradFill>
                  <a:gsLst>
                    <a:gs pos="0">
                      <a:srgbClr val="EE7674">
                        <a:alpha val="100000"/>
                      </a:srgbClr>
                    </a:gs>
                    <a:gs pos="100000">
                      <a:srgbClr val="AA87F0">
                        <a:alpha val="100000"/>
                      </a:srgbClr>
                    </a:gs>
                  </a:gsLst>
                  <a:lin ang="2700000"/>
                </a:gra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High daily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 f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 specialized humans.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Inconsistent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:</a:t>
            </a:r>
            <a:r>
              <a:rPr lang="en-US" sz="3999" strike="noStrike" u="none">
                <a:gradFill>
                  <a:gsLst>
                    <a:gs pos="0">
                      <a:srgbClr val="EE7674">
                        <a:alpha val="100000"/>
                      </a:srgbClr>
                    </a:gs>
                    <a:gs pos="100000">
                      <a:srgbClr val="AA87F0">
                        <a:alpha val="100000"/>
                      </a:srgbClr>
                    </a:gs>
                  </a:gsLst>
                  <a:lin ang="2700000"/>
                </a:gra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Coverage depends on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 pentester's mood/skill.</a:t>
            </a:r>
          </a:p>
          <a:p>
            <a:pPr algn="l" marL="914278" indent="-304759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High Operational Costs: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Third-party audits cost $5k - $20k per engagement.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8885205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Meet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the 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Frontier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87" y="3695712"/>
            <a:ext cx="5199439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Autonomous Reasoning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987" y="4645051"/>
            <a:ext cx="5199439" cy="20175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Powered by Amazon Bedrock, it plans and executes security tasks without human intervention.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157618" y="3695712"/>
            <a:ext cx="5087487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Full Lifecycle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157618" y="4645051"/>
            <a:ext cx="4179436" cy="151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overs Design Review, Code Security, and Active Penetration Testing.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14510" y="3695712"/>
            <a:ext cx="5087487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Verifiable Findings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14510" y="4645051"/>
            <a:ext cx="4826267" cy="151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Unlik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 LLM chatbots, it verifies vulnerabilities by attempting real exploitation.</a:t>
            </a:r>
          </a:p>
        </p:txBody>
      </p:sp>
    </p:spTree>
  </p:cSld>
  <p:clrMapOvr>
    <a:masterClrMapping/>
  </p:clrMapOvr>
  <p:transition spd="fast">
    <p:fade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8885205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Meet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the 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Frontier Agent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87" y="3695712"/>
            <a:ext cx="5199439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Design Review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987" y="4645051"/>
            <a:ext cx="5199439" cy="100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Analyzes architecture docs before any code is written.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9724" y="3695712"/>
            <a:ext cx="5087487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Code Review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9724" y="4645051"/>
            <a:ext cx="4826267" cy="100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Scan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 PRs automatically for vulnerabilities and secrets.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2417761" y="3695712"/>
            <a:ext cx="5087487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Pentesting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2417761" y="4645051"/>
            <a:ext cx="4826267" cy="100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Autonomous ag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ent attacking your running application.</a:t>
            </a:r>
          </a:p>
        </p:txBody>
      </p:sp>
    </p:spTree>
  </p:cSld>
  <p:clrMapOvr>
    <a:masterClrMapping/>
  </p:clrMapOvr>
  <p:transition spd="fast">
    <p:fade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8957965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Design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Security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49123"/>
            <a:ext cx="15276747" cy="4006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Upl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oad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Markdown docs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or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rafor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od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V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erify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against Managed Packs (PCI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DSS, NI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ST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CSF, AWS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Well-Archi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ected).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he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cks if design mee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ts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securi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ty 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"Requiremen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ts"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Free Tier: 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200 reviews/month.</a:t>
            </a:r>
          </a:p>
        </p:txBody>
      </p:sp>
    </p:spTree>
  </p:cSld>
  <p:clrMapOvr>
    <a:masterClrMapping/>
  </p:clrMapOvr>
  <p:transition spd="fast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8304113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Code 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Security Review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49123"/>
            <a:ext cx="15276747" cy="31972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b="true" sz="3999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Integ</a:t>
            </a:r>
            <a:r>
              <a:rPr lang="en-US" b="true" sz="3999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rated 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directly</a:t>
            </a:r>
            <a:r>
              <a:rPr lang="en-US" b="true" sz="3999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int</a:t>
            </a:r>
            <a:r>
              <a:rPr lang="en-US" b="true" sz="3999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o</a:t>
            </a:r>
            <a:r>
              <a:rPr lang="en-US" b="true" sz="3999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your GitHub/GitLa</a:t>
            </a:r>
            <a:r>
              <a:rPr lang="en-US" b="true" sz="3999" strike="noStrike" u="none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b 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Pu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ll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 Requests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.</a:t>
            </a:r>
          </a:p>
          <a:p>
            <a:pPr algn="l" marL="863384" indent="-431692" lvl="1">
              <a:lnSpc>
                <a:spcPts val="6398"/>
              </a:lnSpc>
              <a:buFont typeface="Arial"/>
              <a:buChar char="•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Comments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directly on lines of code.</a:t>
            </a:r>
          </a:p>
          <a:p>
            <a:pPr algn="l" marL="863384" indent="-431692" lvl="1">
              <a:lnSpc>
                <a:spcPts val="6398"/>
              </a:lnSpc>
              <a:buFont typeface="Arial"/>
              <a:buChar char="•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Auto-PR Fixes: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Suggests valid code patches.</a:t>
            </a:r>
          </a:p>
          <a:p>
            <a:pPr algn="l" marL="863384" indent="-431692" lvl="1">
              <a:lnSpc>
                <a:spcPts val="6398"/>
              </a:lnSpc>
              <a:buFont typeface="Arial"/>
              <a:buChar char="•"/>
            </a:pP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Free Tier: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1,000 PR reviews/month.</a:t>
            </a:r>
          </a:p>
        </p:txBody>
      </p:sp>
    </p:spTree>
  </p:cSld>
  <p:clrMapOvr>
    <a:masterClrMapping/>
  </p:clrMapOvr>
  <p:transition spd="fast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8441366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Automated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 Pent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esting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2949123"/>
            <a:ext cx="15276747" cy="23876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b="true" sz="39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Multi-step </a:t>
            </a:r>
            <a:r>
              <a:rPr lang="en-US" sz="3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expl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oit chains (IDOR -&gt; XSS).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Auth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enticates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like a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 rea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 user.</a:t>
            </a:r>
          </a:p>
          <a:p>
            <a:pPr algn="l" marL="914171" indent="-304724" lvl="2">
              <a:lnSpc>
                <a:spcPts val="6398"/>
              </a:lnSpc>
              <a:spcBef>
                <a:spcPct val="0"/>
              </a:spcBef>
              <a:buFont typeface="Arial"/>
              <a:buChar char="⚬"/>
            </a:pP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De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il</a:t>
            </a:r>
            <a:r>
              <a:rPr lang="en-US" sz="3999" strike="noStrike" u="none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ed </a:t>
            </a:r>
            <a:r>
              <a:rPr lang="en-US" b="true" sz="3999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attack graph &amp; verifiable proof.</a:t>
            </a:r>
          </a:p>
        </p:txBody>
      </p:sp>
    </p:spTree>
  </p:cSld>
  <p:clrMapOvr>
    <a:masterClrMapping/>
  </p:clrMapOvr>
  <p:transition spd="fast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7115308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The 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Pric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ing</a:t>
            </a: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 Reality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669353" y="1953998"/>
            <a:ext cx="10263809" cy="1994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b="true" sz="39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Free Trial:</a:t>
            </a:r>
          </a:p>
          <a:p>
            <a:pPr algn="l">
              <a:lnSpc>
                <a:spcPts val="4798"/>
              </a:lnSpc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✔ 2 Months Trial</a:t>
            </a:r>
          </a:p>
          <a:p>
            <a:pPr algn="l">
              <a:lnSpc>
                <a:spcPts val="4798"/>
              </a:lnSpc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✔ 400 Task-Hours / Month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07660" y="1590019"/>
            <a:ext cx="4237964" cy="38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2000"/>
              </a:lnSpc>
              <a:spcBef>
                <a:spcPct val="0"/>
              </a:spcBef>
            </a:pPr>
            <a:r>
              <a:rPr lang="en-US" b="true" sz="20000" strike="noStrike" u="non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$50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648682" y="1801793"/>
            <a:ext cx="4237964" cy="38703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1">
              <a:lnSpc>
                <a:spcPts val="32000"/>
              </a:lnSpc>
              <a:spcBef>
                <a:spcPct val="0"/>
              </a:spcBef>
            </a:pPr>
            <a:r>
              <a:rPr lang="en-US" b="true" sz="20000" strike="noStrike" u="none">
                <a:gradFill>
                  <a:gsLst>
                    <a:gs pos="0">
                      <a:srgbClr val="CDFFD8">
                        <a:alpha val="25000"/>
                      </a:srgbClr>
                    </a:gs>
                    <a:gs pos="100000">
                      <a:srgbClr val="94B9FF">
                        <a:alpha val="25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$50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2184379" y="5510258"/>
            <a:ext cx="3484525" cy="7684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b="true" sz="39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Per Task-Hour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25336" y="6478684"/>
            <a:ext cx="4402611" cy="625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498"/>
              </a:lnSpc>
            </a:pPr>
            <a:r>
              <a:rPr lang="en-US" sz="1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Pay-as-you-go based on agent execution time.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669353" y="4171281"/>
            <a:ext cx="10263809" cy="2594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8"/>
              </a:lnSpc>
            </a:pPr>
            <a:r>
              <a:rPr lang="en-US" sz="3999" b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Real World Case Study</a:t>
            </a:r>
          </a:p>
          <a:p>
            <a:pPr algn="l" marL="647489" indent="-323745" lvl="1">
              <a:lnSpc>
                <a:spcPts val="4798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Project Duration: 6 - 10</a:t>
            </a: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Hours of setup.</a:t>
            </a:r>
          </a:p>
          <a:p>
            <a:pPr algn="l" marL="647489" indent="-323745" lvl="1">
              <a:lnSpc>
                <a:spcPts val="4798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Agent Work: 30 - 50 Task-Hours.</a:t>
            </a:r>
          </a:p>
          <a:p>
            <a:pPr algn="l" marL="647489" indent="-323745" lvl="1">
              <a:lnSpc>
                <a:spcPts val="4798"/>
              </a:lnSpc>
              <a:buFont typeface="Arial"/>
              <a:buChar char="•"/>
            </a:pPr>
            <a:r>
              <a:rPr lang="en-US" sz="29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Total Cost: $1,500 - $2,500.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049202" y="7854866"/>
            <a:ext cx="9799610" cy="7746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98"/>
              </a:lnSpc>
              <a:spcBef>
                <a:spcPct val="0"/>
              </a:spcBef>
            </a:pPr>
            <a:r>
              <a:rPr lang="en-US" b="true" sz="1999" i="true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 Italics"/>
                <a:ea typeface="Arimo Bold Italics"/>
                <a:cs typeface="Arimo Bold Italics"/>
                <a:sym typeface="Arimo Bold Italics"/>
              </a:rPr>
              <a:t>"Is it expensive? Compared to a free scanner, yes. Compared to a $10,000 Pentest team, it's a bargain."</a:t>
            </a:r>
          </a:p>
        </p:txBody>
      </p:sp>
    </p:spTree>
  </p:cSld>
  <p:clrMapOvr>
    <a:masterClrMapping/>
  </p:clrMapOvr>
  <p:transition spd="fast">
    <p:fade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5" id="5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20491" cy="10287000"/>
            <a:chOff x="0" y="0"/>
            <a:chExt cx="160655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60655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160655">
                  <a:moveTo>
                    <a:pt x="0" y="0"/>
                  </a:moveTo>
                  <a:lnTo>
                    <a:pt x="160655" y="0"/>
                  </a:lnTo>
                  <a:lnTo>
                    <a:pt x="160655" y="13716000"/>
                  </a:lnTo>
                  <a:lnTo>
                    <a:pt x="0" y="13716000"/>
                  </a:lnTo>
                  <a:close/>
                </a:path>
              </a:pathLst>
            </a:custGeom>
            <a:gradFill rotWithShape="true">
              <a:gsLst>
                <a:gs pos="0">
                  <a:srgbClr val="F66C02">
                    <a:alpha val="100000"/>
                  </a:srgbClr>
                </a:gs>
                <a:gs pos="17000">
                  <a:srgbClr val="E1381E">
                    <a:alpha val="100000"/>
                  </a:srgbClr>
                </a:gs>
                <a:gs pos="34000">
                  <a:srgbClr val="B20F87">
                    <a:alpha val="100000"/>
                  </a:srgbClr>
                </a:gs>
                <a:gs pos="51000">
                  <a:srgbClr val="5600C2">
                    <a:alpha val="100000"/>
                  </a:srgbClr>
                </a:gs>
                <a:gs pos="70000">
                  <a:srgbClr val="7A14A1">
                    <a:alpha val="100000"/>
                  </a:srgbClr>
                </a:gs>
                <a:gs pos="86000">
                  <a:srgbClr val="3F1EE9">
                    <a:alpha val="100000"/>
                  </a:srgbClr>
                </a:gs>
                <a:gs pos="100000">
                  <a:srgbClr val="0F65F9">
                    <a:alpha val="100000"/>
                  </a:srgbClr>
                </a:gs>
              </a:gsLst>
              <a:lin ang="5400000"/>
            </a:gra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16157" y="564070"/>
            <a:ext cx="7091661" cy="967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128"/>
              </a:lnSpc>
            </a:pPr>
            <a:r>
              <a:rPr lang="en-US" b="true" sz="6600" spc="-178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Critical 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Limi</a:t>
            </a:r>
            <a:r>
              <a:rPr lang="en-US" b="true" sz="6600" spc="-178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tations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952987" y="3695712"/>
            <a:ext cx="5199439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Auth Blocks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52987" y="4645051"/>
            <a:ext cx="4527730" cy="100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MF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A, Biometrics, mTLS will stop the agent in its tracks.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6739724" y="3695712"/>
            <a:ext cx="5087487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Logic Flaws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6739724" y="4645051"/>
            <a:ext cx="4826267" cy="15126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Difficult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 to detect business-logic fraud without deep context.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898154" y="3695712"/>
            <a:ext cx="5361146" cy="6793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598"/>
              </a:lnSpc>
            </a:pPr>
            <a:r>
              <a:rPr lang="en-US" b="true" sz="3499">
                <a:gradFill>
                  <a:gsLst>
                    <a:gs pos="0">
                      <a:srgbClr val="CDFFD8">
                        <a:alpha val="100000"/>
                      </a:srgbClr>
                    </a:gs>
                    <a:gs pos="100000">
                      <a:srgbClr val="94B9FF">
                        <a:alpha val="100000"/>
                      </a:srgbClr>
                    </a:gs>
                  </a:gsLst>
                  <a:lin ang="0"/>
                </a:gradFill>
                <a:latin typeface="Arimo Bold"/>
                <a:ea typeface="Arimo Bold"/>
                <a:cs typeface="Arimo Bold"/>
                <a:sym typeface="Arimo Bold"/>
              </a:rPr>
              <a:t>Task-Hour Accumulation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898154" y="4645051"/>
            <a:ext cx="4826267" cy="10078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Compl</a:t>
            </a:r>
            <a:r>
              <a:rPr lang="en-US" sz="3000" spc="-81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ex apps burn hours fast. Monitoring is mandatory.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6" id="6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613065" y="3779058"/>
            <a:ext cx="12611633" cy="2134958"/>
            <a:chOff x="0" y="0"/>
            <a:chExt cx="16815511" cy="284661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16815508" cy="2846605"/>
            </a:xfrm>
            <a:custGeom>
              <a:avLst/>
              <a:gdLst/>
              <a:ahLst/>
              <a:cxnLst/>
              <a:rect r="r" b="b" t="t" l="l"/>
              <a:pathLst>
                <a:path h="2846605" w="16815508">
                  <a:moveTo>
                    <a:pt x="0" y="0"/>
                  </a:moveTo>
                  <a:lnTo>
                    <a:pt x="16815508" y="0"/>
                  </a:lnTo>
                  <a:lnTo>
                    <a:pt x="16815508" y="2846605"/>
                  </a:lnTo>
                  <a:lnTo>
                    <a:pt x="0" y="2846605"/>
                  </a:lnTo>
                  <a:close/>
                </a:path>
              </a:pathLst>
            </a:custGeom>
            <a:blipFill>
              <a:blip r:embed="rId5">
                <a:alphaModFix amt="0"/>
              </a:blip>
              <a:stretch>
                <a:fillRect l="0" t="-94135" r="-25223" b="-94135"/>
              </a:stretch>
            </a:blipFill>
          </p:spPr>
        </p:sp>
        <p:sp>
          <p:nvSpPr>
            <p:cNvPr name="TextBox 9" id="9"/>
            <p:cNvSpPr txBox="true"/>
            <p:nvPr/>
          </p:nvSpPr>
          <p:spPr>
            <a:xfrm>
              <a:off x="0" y="57150"/>
              <a:ext cx="16815511" cy="2789461"/>
            </a:xfrm>
            <a:prstGeom prst="rect">
              <a:avLst/>
            </a:prstGeom>
          </p:spPr>
          <p:txBody>
            <a:bodyPr anchor="ctr" rtlCol="false" tIns="0" lIns="0" bIns="0" rIns="0"/>
            <a:lstStyle/>
            <a:p>
              <a:pPr algn="l">
                <a:lnSpc>
                  <a:spcPts val="8639"/>
                </a:lnSpc>
              </a:pPr>
              <a:r>
                <a:rPr lang="en-US" b="true" sz="7999" spc="-175">
                  <a:solidFill>
                    <a:srgbClr val="FFFFFF"/>
                  </a:solidFill>
                  <a:latin typeface="Arimo Bold"/>
                  <a:ea typeface="Arimo Bold"/>
                  <a:cs typeface="Arimo Bold"/>
                  <a:sym typeface="Arimo Bold"/>
                </a:rPr>
                <a:t>AWS Security Agent </a:t>
              </a:r>
              <a:r>
                <a:rPr lang="en-US" b="true" sz="7999" spc="-175">
                  <a:gradFill>
                    <a:gsLst>
                      <a:gs pos="0">
                        <a:srgbClr val="EE7674">
                          <a:alpha val="100000"/>
                        </a:srgbClr>
                      </a:gs>
                      <a:gs pos="100000">
                        <a:srgbClr val="AA87F0">
                          <a:alpha val="100000"/>
                        </a:srgbClr>
                      </a:gs>
                    </a:gsLst>
                    <a:lin ang="2700000"/>
                  </a:gradFill>
                  <a:latin typeface="Arimo Bold"/>
                  <a:ea typeface="Arimo Bold"/>
                  <a:cs typeface="Arimo Bold"/>
                  <a:sym typeface="Arimo Bold"/>
                </a:rPr>
                <a:t>Demo</a:t>
              </a:r>
            </a:p>
          </p:txBody>
        </p:sp>
      </p:grp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-20" r="0" b="-2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086100" y="9470955"/>
            <a:ext cx="5943600" cy="18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2025, Amazon Web Services, Inc. or its affiliates. All rights reserved.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6" id="6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382905" y="2832402"/>
            <a:ext cx="12291441" cy="13030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2"/>
              </a:lnSpc>
            </a:pPr>
            <a:r>
              <a:rPr lang="en-US" b="true" sz="9900" spc="-4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52311" y="9696231"/>
            <a:ext cx="5943600" cy="1806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2023, Amazon Web Services, Inc. or its affiliates. All rights reserved.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848975" y="2809123"/>
            <a:ext cx="1249299" cy="1249299"/>
            <a:chOff x="0" y="0"/>
            <a:chExt cx="1665732" cy="1665732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665732" cy="1665732"/>
            </a:xfrm>
            <a:custGeom>
              <a:avLst/>
              <a:gdLst/>
              <a:ahLst/>
              <a:cxnLst/>
              <a:rect r="r" b="b" t="t" l="l"/>
              <a:pathLst>
                <a:path h="1665732" w="1665732">
                  <a:moveTo>
                    <a:pt x="0" y="832866"/>
                  </a:moveTo>
                  <a:cubicBezTo>
                    <a:pt x="0" y="372872"/>
                    <a:pt x="372872" y="0"/>
                    <a:pt x="832866" y="0"/>
                  </a:cubicBezTo>
                  <a:cubicBezTo>
                    <a:pt x="1292860" y="0"/>
                    <a:pt x="1665732" y="372872"/>
                    <a:pt x="1665732" y="832866"/>
                  </a:cubicBezTo>
                  <a:cubicBezTo>
                    <a:pt x="1665732" y="1292860"/>
                    <a:pt x="1292860" y="1665732"/>
                    <a:pt x="832866" y="1665732"/>
                  </a:cubicBezTo>
                  <a:cubicBezTo>
                    <a:pt x="372872" y="1665732"/>
                    <a:pt x="0" y="1292860"/>
                    <a:pt x="0" y="832866"/>
                  </a:cubicBezTo>
                  <a:close/>
                </a:path>
              </a:pathLst>
            </a:custGeom>
            <a:solidFill>
              <a:srgbClr val="5600C2"/>
            </a:solid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11456470" y="2809123"/>
            <a:ext cx="6834188" cy="1249299"/>
            <a:chOff x="0" y="0"/>
            <a:chExt cx="9112250" cy="1665732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9112250" cy="1665732"/>
            </a:xfrm>
            <a:custGeom>
              <a:avLst/>
              <a:gdLst/>
              <a:ahLst/>
              <a:cxnLst/>
              <a:rect r="r" b="b" t="t" l="l"/>
              <a:pathLst>
                <a:path h="1665732" w="9112250">
                  <a:moveTo>
                    <a:pt x="0" y="0"/>
                  </a:moveTo>
                  <a:lnTo>
                    <a:pt x="9112250" y="0"/>
                  </a:lnTo>
                  <a:lnTo>
                    <a:pt x="9112250" y="1665732"/>
                  </a:lnTo>
                  <a:lnTo>
                    <a:pt x="0" y="1665732"/>
                  </a:lnTo>
                  <a:close/>
                </a:path>
              </a:pathLst>
            </a:custGeom>
            <a:gradFill rotWithShape="true">
              <a:gsLst>
                <a:gs pos="17000">
                  <a:srgbClr val="F66C02">
                    <a:alpha val="100000"/>
                  </a:srgbClr>
                </a:gs>
                <a:gs pos="57000">
                  <a:srgbClr val="5600C2">
                    <a:alpha val="100000"/>
                  </a:srgbClr>
                </a:gs>
                <a:gs pos="100000">
                  <a:srgbClr val="D42994">
                    <a:alpha val="100000"/>
                  </a:srgbClr>
                </a:gs>
              </a:gsLst>
              <a:lin ang="1440000"/>
            </a:gradFill>
          </p:spPr>
        </p:sp>
      </p:grpSp>
      <p:sp>
        <p:nvSpPr>
          <p:cNvPr name="TextBox 15" id="15"/>
          <p:cNvSpPr txBox="true"/>
          <p:nvPr/>
        </p:nvSpPr>
        <p:spPr>
          <a:xfrm rot="0">
            <a:off x="13074968" y="3016548"/>
            <a:ext cx="4725514" cy="879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16"/>
              </a:lnSpc>
            </a:pPr>
            <a:r>
              <a:rPr lang="en-US" sz="270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Please complete the session survey in the mobile app</a:t>
            </a:r>
          </a:p>
        </p:txBody>
      </p:sp>
      <p:sp>
        <p:nvSpPr>
          <p:cNvPr name="Freeform 16" id="16"/>
          <p:cNvSpPr/>
          <p:nvPr/>
        </p:nvSpPr>
        <p:spPr>
          <a:xfrm flipH="false" flipV="false" rot="0">
            <a:off x="11267713" y="2654265"/>
            <a:ext cx="1559004" cy="1559004"/>
          </a:xfrm>
          <a:custGeom>
            <a:avLst/>
            <a:gdLst/>
            <a:ahLst/>
            <a:cxnLst/>
            <a:rect r="r" b="b" t="t" l="l"/>
            <a:pathLst>
              <a:path h="1559004" w="1559004">
                <a:moveTo>
                  <a:pt x="0" y="0"/>
                </a:moveTo>
                <a:lnTo>
                  <a:pt x="1559004" y="0"/>
                </a:lnTo>
                <a:lnTo>
                  <a:pt x="1559004" y="1559004"/>
                </a:lnTo>
                <a:lnTo>
                  <a:pt x="0" y="1559004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0" r="0" b="0"/>
              </a:stretch>
            </a:blipFill>
          </p:spPr>
        </p:sp>
      </p:grpSp>
      <p:grpSp>
        <p:nvGrpSpPr>
          <p:cNvPr name="Group 19" id="19"/>
          <p:cNvGrpSpPr/>
          <p:nvPr/>
        </p:nvGrpSpPr>
        <p:grpSpPr>
          <a:xfrm rot="0">
            <a:off x="457200" y="9358694"/>
            <a:ext cx="2382964" cy="585788"/>
            <a:chOff x="0" y="0"/>
            <a:chExt cx="3177286" cy="781050"/>
          </a:xfrm>
        </p:grpSpPr>
        <p:sp>
          <p:nvSpPr>
            <p:cNvPr name="Freeform 20" id="20" descr="A black and white sign with white text  AI-generated content may be incorrect."/>
            <p:cNvSpPr/>
            <p:nvPr/>
          </p:nvSpPr>
          <p:spPr>
            <a:xfrm flipH="false" flipV="false" rot="0">
              <a:off x="0" y="0"/>
              <a:ext cx="3177286" cy="781050"/>
            </a:xfrm>
            <a:custGeom>
              <a:avLst/>
              <a:gdLst/>
              <a:ahLst/>
              <a:cxnLst/>
              <a:rect r="r" b="b" t="t" l="l"/>
              <a:pathLst>
                <a:path h="781050" w="3177286">
                  <a:moveTo>
                    <a:pt x="0" y="0"/>
                  </a:moveTo>
                  <a:lnTo>
                    <a:pt x="3177286" y="0"/>
                  </a:lnTo>
                  <a:lnTo>
                    <a:pt x="3177286" y="781050"/>
                  </a:lnTo>
                  <a:lnTo>
                    <a:pt x="0" y="7810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156" r="0" b="-156"/>
              </a:stretch>
            </a:blipFill>
          </p:spPr>
        </p:sp>
      </p:grpSp>
      <p:sp>
        <p:nvSpPr>
          <p:cNvPr name="TextBox 21" id="21"/>
          <p:cNvSpPr txBox="true"/>
          <p:nvPr/>
        </p:nvSpPr>
        <p:spPr>
          <a:xfrm rot="0">
            <a:off x="3903869" y="6909938"/>
            <a:ext cx="3185636" cy="838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Nguyen Tuan Thinh</a:t>
            </a:r>
          </a:p>
          <a:p>
            <a:pPr algn="ctr">
              <a:lnSpc>
                <a:spcPts val="3238"/>
              </a:lnSpc>
            </a:pPr>
            <a:r>
              <a:rPr lang="en-US" sz="26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LinkedIn Profile</a:t>
            </a:r>
          </a:p>
        </p:txBody>
      </p:sp>
      <p:grpSp>
        <p:nvGrpSpPr>
          <p:cNvPr name="Group 22" id="22"/>
          <p:cNvGrpSpPr/>
          <p:nvPr/>
        </p:nvGrpSpPr>
        <p:grpSpPr>
          <a:xfrm rot="0">
            <a:off x="3487864" y="2654265"/>
            <a:ext cx="4017645" cy="4017645"/>
            <a:chOff x="0" y="0"/>
            <a:chExt cx="5356860" cy="535686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356860" cy="5356860"/>
            </a:xfrm>
            <a:custGeom>
              <a:avLst/>
              <a:gdLst/>
              <a:ahLst/>
              <a:cxnLst/>
              <a:rect r="r" b="b" t="t" l="l"/>
              <a:pathLst>
                <a:path h="5356860" w="5356860">
                  <a:moveTo>
                    <a:pt x="0" y="0"/>
                  </a:moveTo>
                  <a:lnTo>
                    <a:pt x="5356860" y="0"/>
                  </a:lnTo>
                  <a:lnTo>
                    <a:pt x="5356860" y="5356860"/>
                  </a:lnTo>
                  <a:lnTo>
                    <a:pt x="0" y="5356860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grpSp>
        <p:nvGrpSpPr>
          <p:cNvPr name="Group 24" id="24"/>
          <p:cNvGrpSpPr/>
          <p:nvPr/>
        </p:nvGrpSpPr>
        <p:grpSpPr>
          <a:xfrm rot="0">
            <a:off x="3086100" y="2402410"/>
            <a:ext cx="4821174" cy="4821174"/>
            <a:chOff x="0" y="0"/>
            <a:chExt cx="6428232" cy="642823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6428232" cy="6428232"/>
            </a:xfrm>
            <a:custGeom>
              <a:avLst/>
              <a:gdLst/>
              <a:ahLst/>
              <a:cxnLst/>
              <a:rect r="r" b="b" t="t" l="l"/>
              <a:pathLst>
                <a:path h="6428232" w="6428232">
                  <a:moveTo>
                    <a:pt x="0" y="0"/>
                  </a:moveTo>
                  <a:lnTo>
                    <a:pt x="6428232" y="0"/>
                  </a:lnTo>
                  <a:lnTo>
                    <a:pt x="6428232" y="6428232"/>
                  </a:lnTo>
                  <a:lnTo>
                    <a:pt x="0" y="642823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0" t="0" r="0" b="0"/>
              </a:stretch>
            </a:blipFill>
          </p:spPr>
        </p:sp>
      </p:grpSp>
      <p:grpSp>
        <p:nvGrpSpPr>
          <p:cNvPr name="Group 26" id="26"/>
          <p:cNvGrpSpPr/>
          <p:nvPr/>
        </p:nvGrpSpPr>
        <p:grpSpPr>
          <a:xfrm rot="0">
            <a:off x="10329892" y="2724769"/>
            <a:ext cx="4017645" cy="4017645"/>
            <a:chOff x="0" y="0"/>
            <a:chExt cx="5356860" cy="5356860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5356860" cy="5356860"/>
            </a:xfrm>
            <a:custGeom>
              <a:avLst/>
              <a:gdLst/>
              <a:ahLst/>
              <a:cxnLst/>
              <a:rect r="r" b="b" t="t" l="l"/>
              <a:pathLst>
                <a:path h="5356860" w="5356860">
                  <a:moveTo>
                    <a:pt x="0" y="0"/>
                  </a:moveTo>
                  <a:lnTo>
                    <a:pt x="5356860" y="0"/>
                  </a:lnTo>
                  <a:lnTo>
                    <a:pt x="5356860" y="5356860"/>
                  </a:lnTo>
                  <a:lnTo>
                    <a:pt x="0" y="5356860"/>
                  </a:lnTo>
                  <a:close/>
                </a:path>
              </a:pathLst>
            </a:custGeom>
            <a:blipFill>
              <a:blip r:embed="rId9"/>
              <a:stretch>
                <a:fillRect l="-78303" t="0" r="-78303" b="0"/>
              </a:stretch>
            </a:blipFill>
          </p:spPr>
        </p:sp>
      </p:grpSp>
      <p:sp>
        <p:nvSpPr>
          <p:cNvPr name="TextBox 28" id="28"/>
          <p:cNvSpPr txBox="true"/>
          <p:nvPr/>
        </p:nvSpPr>
        <p:spPr>
          <a:xfrm rot="0">
            <a:off x="6302111" y="668893"/>
            <a:ext cx="6772856" cy="13700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692"/>
              </a:lnSpc>
            </a:pPr>
            <a:r>
              <a:rPr lang="en-US" b="true" sz="9900" spc="-450">
                <a:solidFill>
                  <a:srgbClr val="FFFFFF"/>
                </a:solidFill>
                <a:latin typeface="Arimo Bold"/>
                <a:ea typeface="Arimo Bold"/>
                <a:cs typeface="Arimo Bold"/>
                <a:sym typeface="Arimo Bold"/>
              </a:rPr>
              <a:t>Thank you!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3086100" y="9470955"/>
            <a:ext cx="4174480" cy="161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60"/>
              </a:lnSpc>
            </a:pPr>
            <a:r>
              <a:rPr lang="en-US" sz="1050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© 2026, Amazon Web Services, Inc. or its affiliates. All rights reserved.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0" y="-850335"/>
            <a:ext cx="18288000" cy="7705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6000" spc="-150">
                <a:solidFill>
                  <a:srgbClr val="595959"/>
                </a:solidFill>
                <a:latin typeface="Arimo Bold"/>
                <a:ea typeface="Arimo Bold"/>
                <a:cs typeface="Arimo Bold"/>
                <a:sym typeface="Arimo Bold"/>
              </a:rPr>
              <a:t>Thank you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745896" y="6909938"/>
            <a:ext cx="3185636" cy="4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38"/>
              </a:lnSpc>
            </a:pPr>
            <a:r>
              <a:rPr lang="en-US" sz="2699">
                <a:solidFill>
                  <a:srgbClr val="FFFFFF"/>
                </a:solidFill>
                <a:latin typeface="Arimo"/>
                <a:ea typeface="Arimo"/>
                <a:cs typeface="Arimo"/>
                <a:sym typeface="Arimo"/>
              </a:rPr>
              <a:t>Resources</a:t>
            </a:r>
          </a:p>
        </p:txBody>
      </p:sp>
      <p:pic>
        <p:nvPicPr>
          <p:cNvPr name="Picture 32" id="3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918412" y="2242785"/>
            <a:ext cx="4937760" cy="4937760"/>
          </a:xfrm>
          <a:prstGeom prst="rect">
            <a:avLst/>
          </a:prstGeom>
        </p:spPr>
      </p:pic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DAHO-4VIsqs</dc:identifier>
  <dcterms:modified xsi:type="dcterms:W3CDTF">2011-08-01T06:04:30Z</dcterms:modified>
  <cp:revision>1</cp:revision>
  <dc:title>Securing Your Web Apps With AWS Security Agent.pptx</dc:title>
</cp:coreProperties>
</file>